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ce51562cc0348a9" /><Relationship Type="http://schemas.openxmlformats.org/officeDocument/2006/relationships/extended-properties" Target="/docProps/app.xml" Id="R62f8eb153de54f20" /><Relationship Type="http://schemas.openxmlformats.org/officeDocument/2006/relationships/officeDocument" Target="/ppt/presentation.xml" Id="R0ad54ba17a414c9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0a4ec3181424212"/>
  </p:sldMasterIdLst>
  <p:notesMasterIdLst>
    <p:notesMasterId xmlns:r="http://schemas.openxmlformats.org/officeDocument/2006/relationships" r:id="R2a97e59cdbcf45e7"/>
  </p:notesMasterIdLst>
  <p:sldIdLst>
    <p:sldId xmlns:r="http://schemas.openxmlformats.org/officeDocument/2006/relationships" id="256" r:id="Racd6c2b31fc9457c"/>
    <p:sldId xmlns:r="http://schemas.openxmlformats.org/officeDocument/2006/relationships" id="257" r:id="R736f22e45d5d4414"/>
    <p:sldId xmlns:r="http://schemas.openxmlformats.org/officeDocument/2006/relationships" id="258" r:id="R579c3420aef247b1"/>
    <p:sldId xmlns:r="http://schemas.openxmlformats.org/officeDocument/2006/relationships" id="259" r:id="R05dc7d81401f4f1d"/>
    <p:sldId xmlns:r="http://schemas.openxmlformats.org/officeDocument/2006/relationships" id="260" r:id="R61ec7cf52a674e05"/>
    <p:sldId xmlns:r="http://schemas.openxmlformats.org/officeDocument/2006/relationships" id="261" r:id="R4e8fe4e580894049"/>
    <p:sldId xmlns:r="http://schemas.openxmlformats.org/officeDocument/2006/relationships" id="262" r:id="Ra2f36ebb62e9404d"/>
    <p:sldId xmlns:r="http://schemas.openxmlformats.org/officeDocument/2006/relationships" id="263" r:id="R9718dabc91bc4985"/>
    <p:sldId xmlns:r="http://schemas.openxmlformats.org/officeDocument/2006/relationships" id="264" r:id="Rf3e92167661f4bad"/>
    <p:sldId xmlns:r="http://schemas.openxmlformats.org/officeDocument/2006/relationships" id="265" r:id="R29c6351a02e1416d"/>
    <p:sldId xmlns:r="http://schemas.openxmlformats.org/officeDocument/2006/relationships" id="266" r:id="Rdaa9bfe68d7e49fd"/>
    <p:sldId xmlns:r="http://schemas.openxmlformats.org/officeDocument/2006/relationships" id="267" r:id="Rf4b2013d9a074986"/>
    <p:sldId xmlns:r="http://schemas.openxmlformats.org/officeDocument/2006/relationships" id="268" r:id="R4eaac579cac847b8"/>
    <p:sldId xmlns:r="http://schemas.openxmlformats.org/officeDocument/2006/relationships" id="269" r:id="Rda3559c842584401"/>
    <p:sldId xmlns:r="http://schemas.openxmlformats.org/officeDocument/2006/relationships" id="270" r:id="R45e11e2cedbf4711"/>
    <p:sldId xmlns:r="http://schemas.openxmlformats.org/officeDocument/2006/relationships" id="271" r:id="Re13113828b224b82"/>
    <p:sldId xmlns:r="http://schemas.openxmlformats.org/officeDocument/2006/relationships" id="272" r:id="R472cd455806644c0"/>
    <p:sldId xmlns:r="http://schemas.openxmlformats.org/officeDocument/2006/relationships" id="273" r:id="Rb884938753744f56"/>
    <p:sldId xmlns:r="http://schemas.openxmlformats.org/officeDocument/2006/relationships" id="274" r:id="Redd6edee595e4231"/>
    <p:sldId xmlns:r="http://schemas.openxmlformats.org/officeDocument/2006/relationships" id="275" r:id="Reab9997491e240dc"/>
    <p:sldId xmlns:r="http://schemas.openxmlformats.org/officeDocument/2006/relationships" id="276" r:id="R4a35df01bd694b26"/>
    <p:sldId xmlns:r="http://schemas.openxmlformats.org/officeDocument/2006/relationships" id="277" r:id="Refaf12ac4afa423f"/>
    <p:sldId xmlns:r="http://schemas.openxmlformats.org/officeDocument/2006/relationships" id="278" r:id="R1235382bb3264fda"/>
    <p:sldId xmlns:r="http://schemas.openxmlformats.org/officeDocument/2006/relationships" id="279" r:id="R45cc86a30e154464"/>
    <p:sldId xmlns:r="http://schemas.openxmlformats.org/officeDocument/2006/relationships" id="280" r:id="Rad058612469d4ed0"/>
    <p:sldId xmlns:r="http://schemas.openxmlformats.org/officeDocument/2006/relationships" id="281" r:id="R2eeedb6b471d464c"/>
    <p:sldId xmlns:r="http://schemas.openxmlformats.org/officeDocument/2006/relationships" id="282" r:id="Rfeaeb471dd6e4378"/>
    <p:sldId xmlns:r="http://schemas.openxmlformats.org/officeDocument/2006/relationships" id="283" r:id="Raaeb2da283fd493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642193a1cbb4cd0" /><Relationship Type="http://schemas.openxmlformats.org/officeDocument/2006/relationships/slideMaster" Target="/ppt/slideMasters/slideMaster1.xml" Id="Re0a4ec3181424212" /><Relationship Type="http://schemas.openxmlformats.org/officeDocument/2006/relationships/notesMaster" Target="/ppt/notesMasters/notesMaster1.xml" Id="R2a97e59cdbcf45e7" /><Relationship Type="http://schemas.openxmlformats.org/officeDocument/2006/relationships/presProps" Target="/ppt/presProps.xml" Id="R6c8887b99167415d" /><Relationship Type="http://schemas.openxmlformats.org/officeDocument/2006/relationships/tableStyles" Target="/ppt/tableStyles.xml" Id="R2fa30a3c7fb04736" /><Relationship Type="http://schemas.openxmlformats.org/officeDocument/2006/relationships/slide" Target="/ppt/slides/slide1.xml" Id="Racd6c2b31fc9457c" /><Relationship Type="http://schemas.openxmlformats.org/officeDocument/2006/relationships/slide" Target="/ppt/slides/slide2.xml" Id="R736f22e45d5d4414" /><Relationship Type="http://schemas.openxmlformats.org/officeDocument/2006/relationships/slide" Target="/ppt/slides/slide3.xml" Id="R579c3420aef247b1" /><Relationship Type="http://schemas.openxmlformats.org/officeDocument/2006/relationships/slide" Target="/ppt/slides/slide4.xml" Id="R05dc7d81401f4f1d" /><Relationship Type="http://schemas.openxmlformats.org/officeDocument/2006/relationships/slide" Target="/ppt/slides/slide5.xml" Id="R61ec7cf52a674e05" /><Relationship Type="http://schemas.openxmlformats.org/officeDocument/2006/relationships/slide" Target="/ppt/slides/slide6.xml" Id="R4e8fe4e580894049" /><Relationship Type="http://schemas.openxmlformats.org/officeDocument/2006/relationships/slide" Target="/ppt/slides/slide7.xml" Id="Ra2f36ebb62e9404d" /><Relationship Type="http://schemas.openxmlformats.org/officeDocument/2006/relationships/slide" Target="/ppt/slides/slide8.xml" Id="R9718dabc91bc4985" /><Relationship Type="http://schemas.openxmlformats.org/officeDocument/2006/relationships/slide" Target="/ppt/slides/slide9.xml" Id="Rf3e92167661f4bad" /><Relationship Type="http://schemas.openxmlformats.org/officeDocument/2006/relationships/slide" Target="/ppt/slides/slide10.xml" Id="R29c6351a02e1416d" /><Relationship Type="http://schemas.openxmlformats.org/officeDocument/2006/relationships/slide" Target="/ppt/slides/slide11.xml" Id="Rdaa9bfe68d7e49fd" /><Relationship Type="http://schemas.openxmlformats.org/officeDocument/2006/relationships/slide" Target="/ppt/slides/slide12.xml" Id="Rf4b2013d9a074986" /><Relationship Type="http://schemas.openxmlformats.org/officeDocument/2006/relationships/slide" Target="/ppt/slides/slide13.xml" Id="R4eaac579cac847b8" /><Relationship Type="http://schemas.openxmlformats.org/officeDocument/2006/relationships/slide" Target="/ppt/slides/slide14.xml" Id="Rda3559c842584401" /><Relationship Type="http://schemas.openxmlformats.org/officeDocument/2006/relationships/slide" Target="/ppt/slides/slide15.xml" Id="R45e11e2cedbf4711" /><Relationship Type="http://schemas.openxmlformats.org/officeDocument/2006/relationships/slide" Target="/ppt/slides/slide16.xml" Id="Re13113828b224b82" /><Relationship Type="http://schemas.openxmlformats.org/officeDocument/2006/relationships/slide" Target="/ppt/slides/slide17.xml" Id="R472cd455806644c0" /><Relationship Type="http://schemas.openxmlformats.org/officeDocument/2006/relationships/slide" Target="/ppt/slides/slide18.xml" Id="Rb884938753744f56" /><Relationship Type="http://schemas.openxmlformats.org/officeDocument/2006/relationships/slide" Target="/ppt/slides/slide19.xml" Id="Redd6edee595e4231" /><Relationship Type="http://schemas.openxmlformats.org/officeDocument/2006/relationships/slide" Target="/ppt/slides/slide20.xml" Id="Reab9997491e240dc" /><Relationship Type="http://schemas.openxmlformats.org/officeDocument/2006/relationships/slide" Target="/ppt/slides/slide21.xml" Id="R4a35df01bd694b26" /><Relationship Type="http://schemas.openxmlformats.org/officeDocument/2006/relationships/slide" Target="/ppt/slides/slide22.xml" Id="Refaf12ac4afa423f" /><Relationship Type="http://schemas.openxmlformats.org/officeDocument/2006/relationships/slide" Target="/ppt/slides/slide23.xml" Id="R1235382bb3264fda" /><Relationship Type="http://schemas.openxmlformats.org/officeDocument/2006/relationships/slide" Target="/ppt/slides/slide24.xml" Id="R45cc86a30e154464" /><Relationship Type="http://schemas.openxmlformats.org/officeDocument/2006/relationships/slide" Target="/ppt/slides/slide25.xml" Id="Rad058612469d4ed0" /><Relationship Type="http://schemas.openxmlformats.org/officeDocument/2006/relationships/slide" Target="/ppt/slides/slide26.xml" Id="R2eeedb6b471d464c" /><Relationship Type="http://schemas.openxmlformats.org/officeDocument/2006/relationships/slide" Target="/ppt/slides/slide27.xml" Id="Rfeaeb471dd6e4378" /><Relationship Type="http://schemas.openxmlformats.org/officeDocument/2006/relationships/slide" Target="/ppt/slides/slide28.xml" Id="Raaeb2da283fd493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c6907f580f4452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8064e8a84034a58" /><Relationship Type="http://schemas.openxmlformats.org/officeDocument/2006/relationships/notesMaster" Target="/ppt/notesMasters/notesMaster1.xml" Id="Rdbf5dc107ce6479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56e9fb60ee04f13" /><Relationship Type="http://schemas.openxmlformats.org/officeDocument/2006/relationships/notesMaster" Target="/ppt/notesMasters/notesMaster1.xml" Id="R81c005838cd44b2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fdd1d106a6648da" /><Relationship Type="http://schemas.openxmlformats.org/officeDocument/2006/relationships/notesMaster" Target="/ppt/notesMasters/notesMaster1.xml" Id="R3d7a5c694954484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b2be7802d5d4478" /><Relationship Type="http://schemas.openxmlformats.org/officeDocument/2006/relationships/notesMaster" Target="/ppt/notesMasters/notesMaster1.xml" Id="R1e69b2973af243b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48528df8c1c48e9" /><Relationship Type="http://schemas.openxmlformats.org/officeDocument/2006/relationships/notesMaster" Target="/ppt/notesMasters/notesMaster1.xml" Id="R0c9d7c2e342742f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ff19c7700614219" /><Relationship Type="http://schemas.openxmlformats.org/officeDocument/2006/relationships/notesMaster" Target="/ppt/notesMasters/notesMaster1.xml" Id="R4c66c70860cc4e5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3c2c603db4742ce" /><Relationship Type="http://schemas.openxmlformats.org/officeDocument/2006/relationships/notesMaster" Target="/ppt/notesMasters/notesMaster1.xml" Id="R051332adbcc04d5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a7c1338dc384a7c" /><Relationship Type="http://schemas.openxmlformats.org/officeDocument/2006/relationships/notesMaster" Target="/ppt/notesMasters/notesMaster1.xml" Id="Rcf68e336257842a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9a028e2cc3a46db" /><Relationship Type="http://schemas.openxmlformats.org/officeDocument/2006/relationships/notesMaster" Target="/ppt/notesMasters/notesMaster1.xml" Id="R27b43f4496194ac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fa3163416d542c3" /><Relationship Type="http://schemas.openxmlformats.org/officeDocument/2006/relationships/notesMaster" Target="/ppt/notesMasters/notesMaster1.xml" Id="R15e33a33bd73485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adb75eb22674e18" /><Relationship Type="http://schemas.openxmlformats.org/officeDocument/2006/relationships/notesMaster" Target="/ppt/notesMasters/notesMaster1.xml" Id="R878471e944ce4cd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96864b357d34302" /><Relationship Type="http://schemas.openxmlformats.org/officeDocument/2006/relationships/notesMaster" Target="/ppt/notesMasters/notesMaster1.xml" Id="R5da3a5eeef6c40e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519913ba99b442e" /><Relationship Type="http://schemas.openxmlformats.org/officeDocument/2006/relationships/notesMaster" Target="/ppt/notesMasters/notesMaster1.xml" Id="Rf63b17c3969d4cf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ad2068e6df34c21" /><Relationship Type="http://schemas.openxmlformats.org/officeDocument/2006/relationships/notesMaster" Target="/ppt/notesMasters/notesMaster1.xml" Id="R2d6dd565a8664f0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f298fe1f80b43f0" /><Relationship Type="http://schemas.openxmlformats.org/officeDocument/2006/relationships/notesMaster" Target="/ppt/notesMasters/notesMaster1.xml" Id="Rd0068c7166084e0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1c7866b21404e4a" /><Relationship Type="http://schemas.openxmlformats.org/officeDocument/2006/relationships/notesMaster" Target="/ppt/notesMasters/notesMaster1.xml" Id="R12929496422d4d3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3569184bad14ccf" /><Relationship Type="http://schemas.openxmlformats.org/officeDocument/2006/relationships/notesMaster" Target="/ppt/notesMasters/notesMaster1.xml" Id="Rf24c719f81e0483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7ff857a1b8e443d" /><Relationship Type="http://schemas.openxmlformats.org/officeDocument/2006/relationships/notesMaster" Target="/ppt/notesMasters/notesMaster1.xml" Id="Rf0da5380551b465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2a3f44a72bb34d2b" /><Relationship Type="http://schemas.openxmlformats.org/officeDocument/2006/relationships/notesMaster" Target="/ppt/notesMasters/notesMaster1.xml" Id="R6bfdbc21d7b440fa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f83a410ef194496" /><Relationship Type="http://schemas.openxmlformats.org/officeDocument/2006/relationships/notesMaster" Target="/ppt/notesMasters/notesMaster1.xml" Id="R5e705bebfe2f45c8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ace956dae4084238" /><Relationship Type="http://schemas.openxmlformats.org/officeDocument/2006/relationships/notesMaster" Target="/ppt/notesMasters/notesMaster1.xml" Id="R5b1ff1f9fc2946fc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7ccba665ea004e7a" /><Relationship Type="http://schemas.openxmlformats.org/officeDocument/2006/relationships/notesMaster" Target="/ppt/notesMasters/notesMaster1.xml" Id="R3cab28f459d54c25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e93573c37a7f4bfc" /><Relationship Type="http://schemas.openxmlformats.org/officeDocument/2006/relationships/notesMaster" Target="/ppt/notesMasters/notesMaster1.xml" Id="R968d563645d44de8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8c06b5340dfe4ae5" /><Relationship Type="http://schemas.openxmlformats.org/officeDocument/2006/relationships/notesMaster" Target="/ppt/notesMasters/notesMaster1.xml" Id="R3e693df804234264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b417e9a8170e4a4d" /><Relationship Type="http://schemas.openxmlformats.org/officeDocument/2006/relationships/notesMaster" Target="/ppt/notesMasters/notesMaster1.xml" Id="R74a8feff41834881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a08e30eb976542ca" /><Relationship Type="http://schemas.openxmlformats.org/officeDocument/2006/relationships/notesMaster" Target="/ppt/notesMasters/notesMaster1.xml" Id="Rf7ce5bca5ffd4c11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9cd8003bb4fe4666" /><Relationship Type="http://schemas.openxmlformats.org/officeDocument/2006/relationships/notesMaster" Target="/ppt/notesMasters/notesMaster1.xml" Id="R1ce183ded6584a2e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7d7f153865f44875" /><Relationship Type="http://schemas.openxmlformats.org/officeDocument/2006/relationships/notesMaster" Target="/ppt/notesMasters/notesMaster1.xml" Id="Rcef0e3c749ca4e7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README.md; progress/E.1/cicd-walkthrough.md</a:t>
            </a:r>
          </a:p>
          <a:p xmlns:a="http://schemas.openxmlformats.org/drawingml/2006/main">
            <a:r>
              <a:t>E.1 handover snapshot, 18 October 2026. PLAN: Progress; PROGRESS_BOARD: under_construction. No sprint closure or full quality-gate acceptance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progress/E.1/cicd-walkthrough.md</a:t>
            </a:r>
          </a:p>
          <a:p xmlns:a="http://schemas.openxmlformats.org/drawingml/2006/main">
            <a:r>
              <a:t>E.1 handover snapshot, 18 October 2026. PLAN: Progress; PROGRESS_BOARD: under_construction. No sprint closure or full quality-gate acceptance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progress/E.1/sprint_E.1_design.md; config/areas.json</a:t>
            </a:r>
          </a:p>
          <a:p xmlns:a="http://schemas.openxmlformats.org/drawingml/2006/main">
            <a:r>
              <a:t>E.1 handover snapshot, 18 October 2026. PLAN: Progress; PROGRESS_BOARD: under_construction. No sprint closure or full quality-gate acceptance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progress/E.1/model.drawio; progress/E.1/repo_layout.md</a:t>
            </a:r>
          </a:p>
          <a:p xmlns:a="http://schemas.openxmlformats.org/drawingml/2006/main">
            <a:r>
              <a:t>E.1 handover snapshot, 18 October 2026. PLAN: Progress; PROGRESS_BOARD: under_construction. No sprint closure or full quality-gate acceptance is implied.</a:t>
            </a:r>
          </a:p>
          <a:p xmlns:a="http://schemas.openxmlformats.org/drawingml/2006/main">
            <a:r>
              <a:t>Editable presentation adaptation of model.drawio page 'lifecycle', cells dev, git, q, t, packager, build, qarchive, same. Source SHA256 317050eb8f9705de970d64cf1f3f81a1b58a8cdf976ef7239e7c66b2087c0ffe. Full cell labels: dev: Development — A/B/C</a:t>
            </a:r>
          </a:p>
          <a:p xmlns:a="http://schemas.openxmlformats.org/drawingml/2006/main">
            <a:r>
              <a:t>git: Shared source and package</a:t>
            </a:r>
          </a:p>
          <a:p xmlns:a="http://schemas.openxmlformats.org/drawingml/2006/main">
            <a:r>
              <a:t>q: D — integration_test · 810004</a:t>
            </a:r>
          </a:p>
          <a:p xmlns:a="http://schemas.openxmlformats.org/drawingml/2006/main">
            <a:r>
              <a:t>t: E — user_acceptance_test · 810005</a:t>
            </a:r>
          </a:p>
          <a:p xmlns:a="http://schemas.openxmlformats.org/drawingml/2006/main">
            <a:r>
              <a:t>build: Development team releases package</a:t>
            </a:r>
          </a:p>
          <a:p xmlns:a="http://schemas.openxmlformats.org/drawingml/2006/main">
            <a:r>
              <a:t>Accepted Git + candidate evidence</a:t>
            </a:r>
          </a:p>
          <a:p xmlns:a="http://schemas.openxmlformats.org/drawingml/2006/main">
            <a:r>
              <a:t>Build once: archive, manifest, SHA-256</a:t>
            </a:r>
          </a:p>
          <a:p xmlns:a="http://schemas.openxmlformats.org/drawingml/2006/main">
            <a:r>
              <a:t>qarchive: Install and qualify this exact archive</a:t>
            </a:r>
          </a:p>
          <a:p xmlns:a="http://schemas.openxmlformats.org/drawingml/2006/main">
            <a:r>
              <a:t>No developer business data copied</a:t>
            </a:r>
          </a:p>
          <a:p xmlns:a="http://schemas.openxmlformats.org/drawingml/2006/main">
            <a:r>
              <a:t>same: Promote the SAME qualified archive</a:t>
            </a:r>
          </a:p>
          <a:p xmlns:a="http://schemas.openxmlformats.org/drawingml/2006/main">
            <a:r>
              <a:t>Require its successful integration_test receipt</a:t>
            </a:r>
          </a:p>
          <a:p xmlns:a="http://schemas.openxmlformats.org/drawingml/2006/main">
            <a:r>
              <a:t>packager: Packager / verifier — A-02</a:t>
            </a:r>
          </a:p>
          <a:p xmlns:a="http://schemas.openxmlformats.org/drawingml/2006/main">
            <a:r>
              <a:t>Development team</a:t>
            </a:r>
          </a:p>
          <a:p xmlns:a="http://schemas.openxmlformats.org/drawingml/2006/main">
            <a:r>
              <a:t>Smoke-check C → release reviewed package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progress/E.1/model.drawio; docs/architecture.md</a:t>
            </a:r>
          </a:p>
          <a:p xmlns:a="http://schemas.openxmlformats.org/drawingml/2006/main">
            <a:r>
              <a:t>E.1 handover snapshot, 18 October 2026. PLAN: Progress; PROGRESS_BOARD: under_construction. No sprint closure or full quality-gate acceptance is implied.</a:t>
            </a:r>
          </a:p>
          <a:p xmlns:a="http://schemas.openxmlformats.org/drawingml/2006/main">
            <a:r>
              <a:t>Editable presentation adaptation of model.drawio page 'lifecycle', cells f, h, w, hf, wf. Source SHA256 317050eb8f9705de970d64cf1f3f81a1b58a8cdf976ef7239e7c66b2087c0ffe. Full cell labels: f: Foundation</a:t>
            </a:r>
          </a:p>
          <a:p xmlns:a="http://schemas.openxmlformats.org/drawingml/2006/main">
            <a:r>
              <a:t>h: Hello</a:t>
            </a:r>
          </a:p>
          <a:p xmlns:a="http://schemas.openxmlformats.org/drawingml/2006/main">
            <a:r>
              <a:t>w: World</a:t>
            </a:r>
          </a:p>
          <a:p xmlns:a="http://schemas.openxmlformats.org/drawingml/2006/main">
            <a:r>
              <a:t>hf: </a:t>
            </a:r>
          </a:p>
          <a:p xmlns:a="http://schemas.openxmlformats.org/drawingml/2006/main">
            <a:r>
              <a:t>wf: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docs/architecture.md; progress/E.1/cicd-walkthrough.md</a:t>
            </a:r>
          </a:p>
          <a:p xmlns:a="http://schemas.openxmlformats.org/drawingml/2006/main">
            <a:r>
              <a:t>E.1 handover snapshot, 18 October 2026. PLAN: Progress; PROGRESS_BOARD: under_construction. No sprint closure or full quality-gate acceptance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deploy/operator/capture.sql; deploy/operator/import.sql; docs/architecture.md; scripts/cicd-drift-diff.py</a:t>
            </a:r>
          </a:p>
          <a:p xmlns:a="http://schemas.openxmlformats.org/drawingml/2006/main">
            <a:r>
              <a:t>E.1 handover snapshot, 18 October 2026. PLAN: Progress; PROGRESS_BOARD: under_construction. No sprint closure or full quality-gate acceptance is implied.</a:t>
            </a:r>
          </a:p>
          <a:p xmlns:a="http://schemas.openxmlformats.org/drawingml/2006/main">
            <a:r>
              <a:t>Capture uses apex export -applicationid with -split -skipExportDate -expOriginalIds -expSupportingObjects N and a staging -dir. Import sets workspace, application ID, schema, alias and supported offset context before executing native exported install.sql. APEX_EXPORT.GET_APPLICATION with CHECKSUM-SH256 fingerprints live APEX metadata. ORDS serves runtime HTTP; it is not the release deployment API. APEX export is application metadata, not business data or a database schema migration. Working Copies remain a candidate break-glass option in the architecture; this prototype does not validate their compare/merge workflow. Team Development is not the CI/CD engine.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progress/E.1/repo_layout.md; release/manifest.json</a:t>
            </a:r>
          </a:p>
          <a:p xmlns:a="http://schemas.openxmlformats.org/drawingml/2006/main">
            <a:r>
              <a:t>E.1 handover snapshot, 18 October 2026. PLAN: Progress; PROGRESS_BOARD: under_construction. No sprint closure or full quality-gate acceptance is implied.</a:t>
            </a:r>
          </a:p>
          <a:p xmlns:a="http://schemas.openxmlformats.org/drawingml/2006/main">
            <a:r>
              <a:t>The repository is the current APEX_CICD checkout. The sprint guide progress/E.1/repo_layout.md is the detailed draft reference. A–C replay existing reviewed Git revisions; there are no separate component repositories or per-environment canonical export trees.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progress/E.1/repo_layout.md; docs/architecture.md</a:t>
            </a:r>
          </a:p>
          <a:p xmlns:a="http://schemas.openxmlformats.org/drawingml/2006/main">
            <a:r>
              <a:t>E.1 handover snapshot, 18 October 2026. PLAN: Progress; PROGRESS_BOARD: under_construction. No sprint closure or full quality-gate acceptance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progress/E.1/repo_layout.md; https://docs.oracle.com/en/database/oracle/apex/24.2/aeadm/exporting-one-or-more-applications.html</a:t>
            </a:r>
          </a:p>
          <a:p xmlns:a="http://schemas.openxmlformats.org/drawingml/2006/main">
            <a:r>
              <a:t>E.1 handover snapshot, 18 October 2026. PLAN: Progress; PROGRESS_BOARD: under_construction. No sprint closure or full quality-gate acceptance is implied.</a:t>
            </a:r>
          </a:p>
          <a:p xmlns:a="http://schemas.openxmlformats.org/drawingml/2006/main">
            <a:r>
              <a:t>Oracle APEX 24.2 Administration Guide, section 3.12.11.1.6.4, recommends split exports for granular source-control review and notes install.sql/create_application.sql change when a page is added. Git merging is a text operation, not an APEX semantic merge. Stable capture options (-skipExportDate/-expOriginalIds) reduce noise but do not guarantee portable identity or semantic safety. Actual parallel capture/merge proof remains unfinished. Binary assets may be managed separately; this slide refers to the generated SQL source.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progress/E.1/repo_layout.md; progress/E.1/sprint_E.1_assessment.md</a:t>
            </a:r>
          </a:p>
          <a:p xmlns:a="http://schemas.openxmlformats.org/drawingml/2006/main">
            <a:r>
              <a:t>E.1 handover snapshot, 18 October 2026. PLAN: Progress; PROGRESS_BOARD: under_construction. No sprint closure or full quality-gate acceptance is implied.</a:t>
            </a:r>
          </a:p>
          <a:p xmlns:a="http://schemas.openxmlformats.org/drawingml/2006/main">
            <a:r>
              <a:t>No CI provider, repository server or production target is selected. Existing local scripts establish the delivery path; this slide proposes automation around it rather than claiming hosted CI exists. Candidate checks run against the candidate/base; accepted-source packaging and integration testing precede same-artifact UAT promotion.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progress/E.1/cicd-walkthrough.md</a:t>
            </a:r>
          </a:p>
          <a:p xmlns:a="http://schemas.openxmlformats.org/drawingml/2006/main">
            <a:r>
              <a:t>E.1 handover snapshot, 18 October 2026. PLAN: Progress; PROGRESS_BOARD: under_construction. No sprint closure or full quality-gate acceptance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docs/deploy.md; progress/E.1/cicd-walkthrough.md</a:t>
            </a:r>
          </a:p>
          <a:p xmlns:a="http://schemas.openxmlformats.org/drawingml/2006/main">
            <a:r>
              <a:t>E.1 handover snapshot, 18 October 2026. PLAN: Progress; PROGRESS_BOARD: under_construction. No sprint closure or full quality-gate acceptance is implied.</a:t>
            </a:r>
          </a:p>
          <a:p xmlns:a="http://schemas.openxmlformats.org/drawingml/2006/main">
            <a:r>
              <a:t>Full commands, credentials, separate area provisioning and developer login setup are in companion Markdown stage 2. Infrastructure initialization cannot create project schemas. This is a previously rehearsed destructive fresh-start path, not a new run performed for this handover.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progress/E.1/cicd-walkthrough.md; progress/E.1/model.drawio</a:t>
            </a:r>
          </a:p>
          <a:p xmlns:a="http://schemas.openxmlformats.org/drawingml/2006/main">
            <a:r>
              <a:t>E.1 handover snapshot, 18 October 2026. PLAN: Progress; PROGRESS_BOARD: under_construction. No sprint closure or full quality-gate acceptance is implied.</a:t>
            </a:r>
          </a:p>
          <a:p xmlns:a="http://schemas.openxmlformats.org/drawingml/2006/main">
            <a:r>
              <a:t>Editable presentation adaptation of model.drawio page 'lifecycle', cells devnote, a, b, c, f, h, w, devcheck. Source SHA256 317050eb8f9705de970d64cf1f3f81a1b58a8cdf976ef7239e7c66b2087c0ffe. Full cell labels: devnote: Private schemas/workspaces/apps on one host.</a:t>
            </a:r>
          </a:p>
          <a:p xmlns:a="http://schemas.openxmlformats.org/drawingml/2006/main">
            <a:r>
              <a:t>A: Foundation · B: + Hello · C: complete assembly.</a:t>
            </a:r>
          </a:p>
          <a:p xmlns:a="http://schemas.openxmlformats.org/drawingml/2006/main">
            <a:r>
              <a:t>Hello and World both depend on Foundation.</a:t>
            </a:r>
          </a:p>
          <a:p xmlns:a="http://schemas.openxmlformats.org/drawingml/2006/main">
            <a:r>
              <a:t>No World → Hello dependency; no shared editing area.</a:t>
            </a:r>
          </a:p>
          <a:p xmlns:a="http://schemas.openxmlformats.org/drawingml/2006/main">
            <a:r>
              <a:t>a: A</a:t>
            </a:r>
          </a:p>
          <a:p xmlns:a="http://schemas.openxmlformats.org/drawingml/2006/main">
            <a:r>
              <a:t>b: B</a:t>
            </a:r>
          </a:p>
          <a:p xmlns:a="http://schemas.openxmlformats.org/drawingml/2006/main">
            <a:r>
              <a:t>c: C</a:t>
            </a:r>
          </a:p>
          <a:p xmlns:a="http://schemas.openxmlformats.org/drawingml/2006/main">
            <a:r>
              <a:t>f: Foundation</a:t>
            </a:r>
          </a:p>
          <a:p xmlns:a="http://schemas.openxmlformats.org/drawingml/2006/main">
            <a:r>
              <a:t>h: Hello</a:t>
            </a:r>
          </a:p>
          <a:p xmlns:a="http://schemas.openxmlformats.org/drawingml/2006/main">
            <a:r>
              <a:t>w: World</a:t>
            </a:r>
          </a:p>
          <a:p xmlns:a="http://schemas.openxmlformats.org/drawingml/2006/main">
            <a:r>
              <a:t>devcheck: Development team / Packager smoke check</a:t>
            </a:r>
          </a:p>
          <a:p xmlns:a="http://schemas.openxmlformats.org/drawingml/2006/main">
            <a:r>
              <a:t>Uses VERIFIER in C application 810003</a:t>
            </a:r>
          </a:p>
          <a:p xmlns:a="http://schemas.openxmlformats.org/drawingml/2006/main">
            <a:r>
              <a:t>Passing opens C to LAB_USER, not user_acceptance_test</a:t>
            </a:r>
          </a:p>
          <a:p xmlns:a="http://schemas.openxmlformats.org/drawingml/2006/main">
            <a:r>
              <a:t>This walkthrough replays reviewed sequential source checkpoints. Real concurrent Hello/World development is not proved by A–C. C uses independent Hello/World selectors; configure defaults when using the default greeting path.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progress/E.1/model.drawio; scripts/cicd-walkthrough-D_integration_test.sh</a:t>
            </a:r>
          </a:p>
          <a:p xmlns:a="http://schemas.openxmlformats.org/drawingml/2006/main">
            <a:r>
              <a:t>E.1 handover snapshot, 18 October 2026. PLAN: Progress; PROGRESS_BOARD: under_construction. No sprint closure or full quality-gate acceptance is implied.</a:t>
            </a:r>
          </a:p>
          <a:p xmlns:a="http://schemas.openxmlformats.org/drawingml/2006/main">
            <a:r>
              <a:t>Editable presentation adaptation of model.drawio page 'D integration_test', cells step2, step3, step4, step5, step6. Source SHA256 317050eb8f9705de970d64cf1f3f81a1b58a8cdf976ef7239e7c66b2087c0ffe. Full cell labels: step2: 2. Select + inspect archive</a:t>
            </a:r>
          </a:p>
          <a:p xmlns:a="http://schemas.openxmlformats.org/drawingml/2006/main">
            <a:r>
              <a:t>initial-selected.txt → immutable reviewed 1.0.0 archive.</a:t>
            </a:r>
          </a:p>
          <a:p xmlns:a="http://schemas.openxmlformats.org/drawingml/2006/main">
            <a:r>
              <a:t>Check SHA-256, members, manifest and source/candidate identity.</a:t>
            </a:r>
          </a:p>
          <a:p xmlns:a="http://schemas.openxmlformats.org/drawingml/2006/main">
            <a:r>
              <a:t>step3: 3. Read status</a:t>
            </a:r>
          </a:p>
          <a:p xmlns:a="http://schemas.openxmlformats.org/drawingml/2006/main">
            <a:r>
              <a:t>Archive controller: status. Read current integration_test epoch.</a:t>
            </a:r>
          </a:p>
          <a:p xmlns:a="http://schemas.openxmlformats.org/drawingml/2006/main">
            <a:r>
              <a:t>step4: 4. Admit empty target</a:t>
            </a:r>
          </a:p>
          <a:p xmlns:a="http://schemas.openxmlformats.org/drawingml/2006/main">
            <a:r>
              <a:t>Prompt → admit with expected epoch.</a:t>
            </a:r>
          </a:p>
          <a:p xmlns:a="http://schemas.openxmlformats.org/drawingml/2006/main">
            <a:r>
              <a:t>Record ownership/attempt; advance epoch; runtime remains gated.</a:t>
            </a:r>
          </a:p>
          <a:p xmlns:a="http://schemas.openxmlformats.org/drawingml/2006/main">
            <a:r>
              <a:t>step5: 5. Migrate</a:t>
            </a:r>
          </a:p>
          <a:p xmlns:a="http://schemas.openxmlformats.org/drawingml/2006/main">
            <a:r>
              <a:t>Prompt → migrate. SQLcl Liquibase validate → update → status.</a:t>
            </a:r>
          </a:p>
          <a:p xmlns:a="http://schemas.openxmlformats.org/drawingml/2006/main">
            <a:r>
              <a:t>Initial archive migrations 001–004, not checkout patch migrations.</a:t>
            </a:r>
          </a:p>
          <a:p xmlns:a="http://schemas.openxmlformats.org/drawingml/2006/main">
            <a:r>
              <a:t>step6: 6. Import</a:t>
            </a:r>
          </a:p>
          <a:p xmlns:a="http://schemas.openxmlformats.org/drawingml/2006/main">
            <a:r>
              <a:t>Prompt → import native split source into app 810004.</a:t>
            </a:r>
          </a:p>
          <a:p xmlns:a="http://schemas.openxmlformats.org/drawingml/2006/main">
            <a:r>
              <a:t>Map E1_INTEGRATION; assert ordinary runtime is still blocked.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progress/E.1/model.drawio; deploy/operator/publish_initial.sql</a:t>
            </a:r>
          </a:p>
          <a:p xmlns:a="http://schemas.openxmlformats.org/drawingml/2006/main">
            <a:r>
              <a:t>E.1 handover snapshot, 18 October 2026. PLAN: Progress; PROGRESS_BOARD: under_construction. No sprint closure or full quality-gate acceptance is implied.</a:t>
            </a:r>
          </a:p>
          <a:p xmlns:a="http://schemas.openxmlformats.org/drawingml/2006/main">
            <a:r>
              <a:t>Editable presentation adaptation of model.drawio page 'D integration_test', cells step7, step8, step9, step10, step11, step12, step14. Source SHA256 317050eb8f9705de970d64cf1f3f81a1b58a8cdf976ef7239e7c66b2087c0ffe. Full cell labels: step7: 7. Units + integrity</a:t>
            </a:r>
          </a:p>
          <a:p xmlns:a="http://schemas.openxmlformats.org/drawingml/2006/main">
            <a:r>
              <a:t>Prompt → units. Versions/pages/compilation, composition/history.</a:t>
            </a:r>
          </a:p>
          <a:p xmlns:a="http://schemas.openxmlformats.org/drawingml/2006/main">
            <a:r>
              <a:t>Transactional unit fixtures roll back.</a:t>
            </a:r>
          </a:p>
          <a:p xmlns:a="http://schemas.openxmlformats.org/drawingml/2006/main">
            <a:r>
              <a:t>step8: 8. Enable verification</a:t>
            </a:r>
          </a:p>
          <a:p xmlns:a="http://schemas.openxmlformats.org/drawingml/2006/main">
            <a:r>
              <a:t>Prompt → verify. Integrity + no packaged business data.</a:t>
            </a:r>
          </a:p>
          <a:p xmlns:a="http://schemas.openxmlformats.org/drawingml/2006/main">
            <a:r>
              <a:t>Allow VERIFIER; mark attempt verifying. Browser test is next.</a:t>
            </a:r>
          </a:p>
          <a:p xmlns:a="http://schemas.openxmlformats.org/drawingml/2006/main">
            <a:r>
              <a:t>step9: 9. Retrieve VERIFIER password</a:t>
            </a:r>
          </a:p>
          <a:p xmlns:a="http://schemas.openxmlformats.org/drawingml/2006/main">
            <a:r>
              <a:t>Second terminal: python3 scripts/cicd-password.py VERIFIER</a:t>
            </a:r>
          </a:p>
          <a:p xmlns:a="http://schemas.openxmlformats.org/drawingml/2006/main">
            <a:r>
              <a:t>step10: 10. Browser as VERIFIER</a:t>
            </a:r>
          </a:p>
          <a:p xmlns:a="http://schemas.openxmlformats.org/drawingml/2006/main">
            <a:r>
              <a:t>integration_test URL: create Hello/World, configure defaults,</a:t>
            </a:r>
          </a:p>
          <a:p xmlns:a="http://schemas.openxmlformats.org/drawingml/2006/main">
            <a:r>
              <a:t>save Hello World and refresh history. Leave CLI waiting.</a:t>
            </a:r>
          </a:p>
          <a:p xmlns:a="http://schemas.openxmlformats.org/drawingml/2006/main">
            <a:r>
              <a:t>step11: 11. Publish integration_test</a:t>
            </a:r>
          </a:p>
          <a:p xmlns:a="http://schemas.openxmlformats.org/drawingml/2006/main">
            <a:r>
              <a:t>Continue CLI. Require saved VERIFIER snapshot; prepare native</a:t>
            </a:r>
          </a:p>
          <a:p xmlns:a="http://schemas.openxmlformats.org/drawingml/2006/main">
            <a:r>
              <a:t>availability; fingerprint; commit ready gate + success receipt.</a:t>
            </a:r>
          </a:p>
          <a:p xmlns:a="http://schemas.openxmlformats.org/drawingml/2006/main">
            <a:r>
              <a:t>step12: 12. Check result</a:t>
            </a:r>
          </a:p>
          <a:p xmlns:a="http://schemas.openxmlformats.org/drawingml/2006/main">
            <a:r>
              <a:t>Ready state, versions, same archive hash and matching live</a:t>
            </a:r>
          </a:p>
          <a:p xmlns:a="http://schemas.openxmlformats.org/drawingml/2006/main">
            <a:r>
              <a:t>fingerprint. Mark D complete only after result succeeds.</a:t>
            </a:r>
          </a:p>
          <a:p xmlns:a="http://schemas.openxmlformats.org/drawingml/2006/main">
            <a:r>
              <a:t>step14: 14. Browser as LAB_USER</a:t>
            </a:r>
          </a:p>
          <a:p xmlns:a="http://schemas.openxmlformats.org/drawingml/2006/main">
            <a:r>
              <a:t>Sign out of VERIFIER; use integration_test app; create a greeting</a:t>
            </a:r>
          </a:p>
          <a:p xmlns:a="http://schemas.openxmlformats.org/drawingml/2006/main">
            <a:r>
              <a:t>and refresh history. Confirm ordinary access after publication.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scripts/cicd-walkthrough-E_promotion.sh; progress/E.1/tests/environment_rename_20261018.txt</a:t>
            </a:r>
          </a:p>
          <a:p xmlns:a="http://schemas.openxmlformats.org/drawingml/2006/main">
            <a:r>
              <a:t>E.1 handover snapshot, 18 October 2026. PLAN: Progress; PROGRESS_BOARD: under_construction. No sprint closure or full quality-gate acceptance is implied.</a:t>
            </a:r>
          </a:p>
          <a:p xmlns:a="http://schemas.openxmlformats.org/drawingml/2006/main">
            <a:r>
              <a:t>Editable presentation adaptation of model.drawio page 'lifecycle', cells qarchive, same, retain. Source SHA256 317050eb8f9705de970d64cf1f3f81a1b58a8cdf976ef7239e7c66b2087c0ffe. Full cell labels: qarchive: Install and qualify this exact archive</a:t>
            </a:r>
          </a:p>
          <a:p xmlns:a="http://schemas.openxmlformats.org/drawingml/2006/main">
            <a:r>
              <a:t>No developer business data copied</a:t>
            </a:r>
          </a:p>
          <a:p xmlns:a="http://schemas.openxmlformats.org/drawingml/2006/main">
            <a:r>
              <a:t>retain: Normal upgrades preserve</a:t>
            </a:r>
          </a:p>
          <a:p xmlns:a="http://schemas.openxmlformats.org/drawingml/2006/main">
            <a:r>
              <a:t>user_acceptance_test settings and greeting history.</a:t>
            </a:r>
          </a:p>
          <a:p xmlns:a="http://schemas.openxmlformats.org/drawingml/2006/main">
            <a:r>
              <a:t>Whole-lab destruction is separate.</a:t>
            </a:r>
          </a:p>
          <a:p xmlns:a="http://schemas.openxmlformats.org/drawingml/2006/main">
            <a:r>
              <a:t>same: Promote the SAME qualified archive</a:t>
            </a:r>
          </a:p>
          <a:p xmlns:a="http://schemas.openxmlformats.org/drawingml/2006/main">
            <a:r>
              <a:t>Require its successful integration_test receipt</a:t>
            </a:r>
          </a:p>
          <a:p xmlns:a="http://schemas.openxmlformats.org/drawingml/2006/main">
            <a:r>
              <a:t>Initial archive SHA256 d99fe83ec3d149739a12ec0cf2f01081ae027d1ec015e16d5a971ff3c602ab45. Source 08a5cf27e8a31ff7b77b6fd694f673847726eda1. E and F passed in the Product Owner walkthrough. The initial runtime is historical after F; do not downgrade UAT to replay it. A successful UAT deployment is not Product Owner acceptance of the full product.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scripts/cicd-walkthrough-F_hello_patch.sh; release/manifest.json</a:t>
            </a:r>
          </a:p>
          <a:p xmlns:a="http://schemas.openxmlformats.org/drawingml/2006/main">
            <a:r>
              <a:t>E.1 handover snapshot, 18 October 2026. PLAN: Progress; PROGRESS_BOARD: under_construction. No sprint closure or full quality-gate acceptance is implied.</a:t>
            </a:r>
          </a:p>
          <a:p xmlns:a="http://schemas.openxmlformats.org/drawingml/2006/main">
            <a:r>
              <a:t>Current handover read-only comparison: PASS all fields of 21 prior history rows, old entries and complete configuration unchanged. New rows may append. Patch SHA256 4ba3abb8709f256c7a47e3e9294d3e7303f742145a95cb58d808ca6c6bcf7200, source ee8f1af8e35f81bb3b75051243df2ab9c6e4c0e5. Complete application archive contains the Hello-only version change and additive migration; Foundation and World versions remain unchanged.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release/proposals/foundation-major.json; scripts/cicd-compatibility.py</a:t>
            </a:r>
          </a:p>
          <a:p xmlns:a="http://schemas.openxmlformats.org/drawingml/2006/main">
            <a:r>
              <a:t>E.1 handover snapshot, 18 October 2026. PLAN: Progress; PROGRESS_BOARD: under_construction. No sprint closure or full quality-gate acceptance is implied.</a:t>
            </a:r>
          </a:p>
          <a:p xmlns:a="http://schemas.openxmlformats.org/drawingml/2006/main">
            <a:r>
              <a:t>Dependency rules live in release/manifest.json and the breaking proposal. Controller executes the archived checker before its deployment connection. Explicit exact versions and supported triples are prototype policy, not SQL semantic inference. G passed in the Product Owner walkthrough.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scripts/cicd-protection-check.sh; progress/E.1/cicd-walkthrough.md</a:t>
            </a:r>
          </a:p>
          <a:p xmlns:a="http://schemas.openxmlformats.org/drawingml/2006/main">
            <a:r>
              <a:t>E.1 handover snapshot, 18 October 2026. PLAN: Progress; PROGRESS_BOARD: under_construction. No sprint closure or full quality-gate acceptance is implied.</a:t>
            </a:r>
          </a:p>
          <a:p xmlns:a="http://schemas.openxmlformats.org/drawingml/2006/main">
            <a:r>
              <a:t>The checker exits successfully after a recognized clean/protected outcome and unchanged snapshots. DETECTED DRIFT is a blocked deployment, not permission to deploy. Unexpected errors fail. Manual detection is observed in current E1_UAT. Synthetic fixture remains optional repeatable test setup.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scripts/cicd-drift-diff.py; progress/E.1/tests/handover_live_drift_20261018.txt</a:t>
            </a:r>
          </a:p>
          <a:p xmlns:a="http://schemas.openxmlformats.org/drawingml/2006/main">
            <a:r>
              <a:t>E.1 handover snapshot, 18 October 2026. PLAN: Progress; PROGRESS_BOARD: under_construction. No sprint closure or full quality-gate acceptance is implied.</a:t>
            </a:r>
          </a:p>
          <a:p xmlns:a="http://schemas.openxmlformats.org/drawingml/2006/main">
            <a:r>
              <a:t>Observed on 18 October 2026 in the current retained UAT. Source comparison validates exact successful archive/source/configuration receipt. review.diff omits import offset lines and generated Manifest comments only; raw.diff retains every exported difference. Other source/export differences remain in the report.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progress/E.1/cicd-walkthrough.md; docs/srs.md</a:t>
            </a:r>
          </a:p>
          <a:p xmlns:a="http://schemas.openxmlformats.org/drawingml/2006/main">
            <a:r>
              <a:t>E.1 handover snapshot, 18 October 2026. PLAN: Progress; PROGRESS_BOARD: under_construction. No sprint closure or full quality-gate acceptance is implied.</a:t>
            </a:r>
          </a:p>
          <a:p xmlns:a="http://schemas.openxmlformats.org/drawingml/2006/main">
            <a:r>
              <a:t>Current manual restoration is pending the Product Owner decision. Do not report it complete. Synthetic H has its own saved-definition restoration and must not be interleaved with the manual edit. No automatic adoption or overwrite of unexpected edits.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progress/E.1/sprint_E.1_tests.md; scripts/cicd-walkthrough-E_promotion.sh</a:t>
            </a:r>
          </a:p>
          <a:p xmlns:a="http://schemas.openxmlformats.org/drawingml/2006/main">
            <a:r>
              <a:t>E.1 handover snapshot, 18 October 2026. PLAN: Progress; PROGRESS_BOARD: under_construction. No sprint closure or full quality-gate acceptance is implied.</a:t>
            </a:r>
          </a:p>
          <a:p xmlns:a="http://schemas.openxmlformats.org/drawingml/2006/main">
            <a:r>
              <a:t>Observed E failures were ORA-20619 missing runtime snapshot and ORA-20304 fixture relying on an unset World default. Fixes: checkpoint-bound verification resume/missing-data retry, and explicit active-entry selections with post-publication example continuation. No new application release or general recovery contract was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PROGRESS_BOARD.md; progress/E.1/sprint_E.1_tests.md</a:t>
            </a:r>
          </a:p>
          <a:p xmlns:a="http://schemas.openxmlformats.org/drawingml/2006/main">
            <a:r>
              <a:t>E.1 handover snapshot, 18 October 2026. PLAN: Progress; PROGRESS_BOARD: under_construction. No sprint closure or full quality-gate acceptance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PROGRESS_BOARD.md; progress/E.1/sprint_E.1_assessment.md</a:t>
            </a:r>
          </a:p>
          <a:p xmlns:a="http://schemas.openxmlformats.org/drawingml/2006/main">
            <a:r>
              <a:t>E.1 handover snapshot, 18 October 2026. PLAN: Progress; PROGRESS_BOARD: under_construction. No sprint closure or full quality-gate acceptance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progress/E.1/sprint_E.1_design.md; docs/test-profile.md</a:t>
            </a:r>
          </a:p>
          <a:p xmlns:a="http://schemas.openxmlformats.org/drawingml/2006/main">
            <a:r>
              <a:t>E.1 handover snapshot, 18 October 2026. PLAN: Progress; PROGRESS_BOARD: under_construction. No sprint closure or full quality-gate acceptance is implied.</a:t>
            </a:r>
          </a:p>
          <a:p xmlns:a="http://schemas.openxmlformats.org/drawingml/2006/main">
            <a:r>
              <a:t>Existing scope: PBI-011.2/.5/.7/.8, validation under PBI-012; original IT-6/7/8/9/12. These are registered child definitions, not newly scheduled sprints. Dedicated measurements and all full-suite gates remain incomplete.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progress/E.1/sprint_E.1_assessment.md; ROADMAP.md</a:t>
            </a:r>
          </a:p>
          <a:p xmlns:a="http://schemas.openxmlformats.org/drawingml/2006/main">
            <a:r>
              <a:t>E.1 handover snapshot, 18 October 2026. PLAN: Progress; PROGRESS_BOARD: under_construction. No sprint closure or full quality-gate acceptance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progress/E.1/sprint_E.1_handover.md</a:t>
            </a:r>
          </a:p>
          <a:p xmlns:a="http://schemas.openxmlformats.org/drawingml/2006/main">
            <a:r>
              <a:t>E.1 handover snapshot, 18 October 2026. PLAN: Progress; PROGRESS_BOARD: under_construction. No sprint closure or full quality-gate acceptance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e0f423ad534f6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a7ba857c0643a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8a44ffddf649e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a2f9099b154be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7296c197f54bc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c3a4e4f6524b0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DB05F9A-FA88-4E03-BC9B-71948956B47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97953BB-D4ED-48C9-B65B-7199DEA457D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AE307FE-75E2-43F9-9AF3-D08865B90D2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4B317AA-78DB-416E-857A-E85C56D00E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45A2558-E0CE-4D8C-AF5C-668FB8D06FA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7F2C22E5-D261-463F-8C3D-E519350754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726C602-88E9-45DF-A934-C24BA39C9F2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E9DB20B-6588-49D2-A63B-E9AFE995D89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7387682-2F58-4123-847E-11ED82DCA8A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866BA53-554E-4BAC-9498-60A19017052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0eae5a0d20c4255" /><Relationship Type="http://schemas.openxmlformats.org/officeDocument/2006/relationships/slideLayout" Target="/ppt/slideLayouts/slideLayout1.xml" Id="R0791b98bdbab4d1a" /><Relationship Type="http://schemas.openxmlformats.org/officeDocument/2006/relationships/slideLayout" Target="/ppt/slideLayouts/slideLayout2.xml" Id="R9e458f20082c4241" /><Relationship Type="http://schemas.openxmlformats.org/officeDocument/2006/relationships/slideLayout" Target="/ppt/slideLayouts/slideLayout3.xml" Id="R40df21aa0fe940cc" /><Relationship Type="http://schemas.openxmlformats.org/officeDocument/2006/relationships/slideLayout" Target="/ppt/slideLayouts/slideLayout4.xml" Id="Re0efc1f59d7c4920" /><Relationship Type="http://schemas.openxmlformats.org/officeDocument/2006/relationships/slideLayout" Target="/ppt/slideLayouts/slideLayout5.xml" Id="R3b4bfd77d380443b" /><Relationship Type="http://schemas.openxmlformats.org/officeDocument/2006/relationships/slideLayout" Target="/ppt/slideLayouts/slideLayout6.xml" Id="R2e66ccc9919b4d2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791b98bdbab4d1a"/>
    <p:sldLayoutId xmlns:r="http://schemas.openxmlformats.org/officeDocument/2006/relationships" id="2147483650" r:id="R9e458f20082c4241"/>
    <p:sldLayoutId xmlns:r="http://schemas.openxmlformats.org/officeDocument/2006/relationships" id="2147483651" r:id="R40df21aa0fe940cc"/>
    <p:sldLayoutId xmlns:r="http://schemas.openxmlformats.org/officeDocument/2006/relationships" id="2147483652" r:id="Re0efc1f59d7c4920"/>
    <p:sldLayoutId xmlns:r="http://schemas.openxmlformats.org/officeDocument/2006/relationships" id="2147483653" r:id="R3b4bfd77d380443b"/>
    <p:sldLayoutId xmlns:r="http://schemas.openxmlformats.org/officeDocument/2006/relationships" id="2147483654" r:id="R2e66ccc9919b4d2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d23a70ec2544ac2" /><Relationship Type="http://schemas.openxmlformats.org/officeDocument/2006/relationships/notesSlide" Target="/ppt/notesSlides/notesSlide1.xml" Id="Rd0814cde8a06449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1826277ff7f4e0a" /><Relationship Type="http://schemas.openxmlformats.org/officeDocument/2006/relationships/notesSlide" Target="/ppt/notesSlides/notesSlide2.xml" Id="Rbb410bf079954e8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122ed6155204f08" /><Relationship Type="http://schemas.openxmlformats.org/officeDocument/2006/relationships/notesSlide" Target="/ppt/notesSlides/notesSlide3.xml" Id="R4bf75995142a46c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ec0a1fd70324d18" /><Relationship Type="http://schemas.openxmlformats.org/officeDocument/2006/relationships/notesSlide" Target="/ppt/notesSlides/notesSlide4.xml" Id="Ref47344451d145a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e122aab66a24109" /><Relationship Type="http://schemas.openxmlformats.org/officeDocument/2006/relationships/notesSlide" Target="/ppt/notesSlides/notesSlide5.xml" Id="Rf31a72d230f84bb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d01944e53f74e7c" /><Relationship Type="http://schemas.openxmlformats.org/officeDocument/2006/relationships/notesSlide" Target="/ppt/notesSlides/notesSlide6.xml" Id="Rba003eb7d0764b3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c8658215e084e20" /><Relationship Type="http://schemas.openxmlformats.org/officeDocument/2006/relationships/notesSlide" Target="/ppt/notesSlides/notesSlide7.xml" Id="R20c6280d8122499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3abedc0d6994fd3" /><Relationship Type="http://schemas.openxmlformats.org/officeDocument/2006/relationships/notesSlide" Target="/ppt/notesSlides/notesSlide8.xml" Id="R0748a00b9c41483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6b45fbdb0084445" /><Relationship Type="http://schemas.openxmlformats.org/officeDocument/2006/relationships/notesSlide" Target="/ppt/notesSlides/notesSlide9.xml" Id="Rb58e968de9f3437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77e6dc1628743da" /><Relationship Type="http://schemas.openxmlformats.org/officeDocument/2006/relationships/notesSlide" Target="/ppt/notesSlides/notesSlide10.xml" Id="Red4476a9393d491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32c1dd4c16445e7" /><Relationship Type="http://schemas.openxmlformats.org/officeDocument/2006/relationships/notesSlide" Target="/ppt/notesSlides/notesSlide11.xml" Id="Rdda7df3a1c4f475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0d0360bbc2f46a6" /><Relationship Type="http://schemas.openxmlformats.org/officeDocument/2006/relationships/notesSlide" Target="/ppt/notesSlides/notesSlide12.xml" Id="R25c0d1d3ff5448f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6c54e2166034b41" /><Relationship Type="http://schemas.openxmlformats.org/officeDocument/2006/relationships/notesSlide" Target="/ppt/notesSlides/notesSlide13.xml" Id="R17f9f8f72207489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e2297a8d3ba4e26" /><Relationship Type="http://schemas.openxmlformats.org/officeDocument/2006/relationships/notesSlide" Target="/ppt/notesSlides/notesSlide14.xml" Id="R36180a8ce2b941f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9113f40a7db4be9" /><Relationship Type="http://schemas.openxmlformats.org/officeDocument/2006/relationships/notesSlide" Target="/ppt/notesSlides/notesSlide15.xml" Id="R90974fd08234482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67e306d40214d03" /><Relationship Type="http://schemas.openxmlformats.org/officeDocument/2006/relationships/notesSlide" Target="/ppt/notesSlides/notesSlide16.xml" Id="Red3e03575a524ee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8265d72f5eb46b5" /><Relationship Type="http://schemas.openxmlformats.org/officeDocument/2006/relationships/notesSlide" Target="/ppt/notesSlides/notesSlide17.xml" Id="Rc15a407285fe48e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20b24a8776d4d8b" /><Relationship Type="http://schemas.openxmlformats.org/officeDocument/2006/relationships/notesSlide" Target="/ppt/notesSlides/notesSlide18.xml" Id="R9ba0c7b22cad4c8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a67382c3a9b4da4" /><Relationship Type="http://schemas.openxmlformats.org/officeDocument/2006/relationships/notesSlide" Target="/ppt/notesSlides/notesSlide19.xml" Id="R87b09ee10c6c423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931bd334ce2488b" /><Relationship Type="http://schemas.openxmlformats.org/officeDocument/2006/relationships/notesSlide" Target="/ppt/notesSlides/notesSlide20.xml" Id="R237b2f27954744a7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7fccea23c2d459a" /><Relationship Type="http://schemas.openxmlformats.org/officeDocument/2006/relationships/notesSlide" Target="/ppt/notesSlides/notesSlide21.xml" Id="R2bd238d1dd3641d3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b4804b07fd3482b" /><Relationship Type="http://schemas.openxmlformats.org/officeDocument/2006/relationships/notesSlide" Target="/ppt/notesSlides/notesSlide22.xml" Id="R1713fc36523a4694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1a16a4aab064f31" /><Relationship Type="http://schemas.openxmlformats.org/officeDocument/2006/relationships/notesSlide" Target="/ppt/notesSlides/notesSlide23.xml" Id="R83eb21d8334d4d39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887f67a87894159" /><Relationship Type="http://schemas.openxmlformats.org/officeDocument/2006/relationships/notesSlide" Target="/ppt/notesSlides/notesSlide24.xml" Id="Rf7c98536d65c4375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6c78cbf4c0249f7" /><Relationship Type="http://schemas.openxmlformats.org/officeDocument/2006/relationships/notesSlide" Target="/ppt/notesSlides/notesSlide25.xml" Id="R8e46bdf60dcb49b1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7fe59fb68b47cf" /><Relationship Type="http://schemas.openxmlformats.org/officeDocument/2006/relationships/notesSlide" Target="/ppt/notesSlides/notesSlide26.xml" Id="R6021d77b377f4d0c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a447f8398bf4cf6" /><Relationship Type="http://schemas.openxmlformats.org/officeDocument/2006/relationships/notesSlide" Target="/ppt/notesSlides/notesSlide27.xml" Id="Rd6a5ce43e0a04148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0135ce83b804776" /><Relationship Type="http://schemas.openxmlformats.org/officeDocument/2006/relationships/notesSlide" Target="/ppt/notesSlides/notesSlide28.xml" Id="Rc3e6b92d061a484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2F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009604-5407-40AF-A313-E191449F7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From Git to APEX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B3EE82-7DC9-438D-A16E-C46511CEE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428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C8D7D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C8D7D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C8D7DC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8E8B7B-24E6-492C-B994-7F4CBBF05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00250"/>
            <a:ext cx="104775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Traceable releases. Safe upgrades.</a:t>
            </a:r>
          </a:p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Protected deployments.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B1CA6A-34F7-4496-92F5-5923E9ABF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0"/>
            <a:ext cx="10382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00" b="0">
                <a:solidFill>
                  <a:srgbClr val="DCE7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DCE7EB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DCE7EB"/>
                </a:solidFill>
                <a:latin typeface="Arial"/>
                <a:ea typeface="Arial"/>
                <a:cs typeface="Arial"/>
              </a:rPr>
              <a:t>One application. A repeatable delivery path.</a:t>
            </a:r>
          </a:p>
          <a:p xmlns:a="http://schemas.openxmlformats.org/drawingml/2006/main">
            <a:pPr>
              <a:defRPr sz="2400" b="0">
                <a:solidFill>
                  <a:srgbClr val="DCE7EB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DCE7EB"/>
                </a:solidFill>
                <a:latin typeface="Arial"/>
                <a:ea typeface="Arial"/>
                <a:cs typeface="Arial"/>
              </a:rPr>
              <a:t>Evidence at every gate.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511D61-E33A-4951-AF84-5BCBF3B6D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619750"/>
            <a:ext cx="1000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DCE7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DCE7E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DCE7EB"/>
                </a:solidFill>
                <a:latin typeface="Arial"/>
                <a:ea typeface="Arial"/>
                <a:cs typeface="Arial"/>
              </a:rPr>
              <a:t>Oracle APEX CI/CD Laboratory · 18 October 2026</a:t>
            </a:r>
          </a:p>
        </p:txBody>
      </p:sp>
    </p:spTree>
    <p:extLst>
      <p:ext uri="{BB962C8B-B14F-4D97-AF65-F5344CB8AC3E}">
        <p14:creationId xmlns:p14="http://schemas.microsoft.com/office/powerpoint/2010/main" val="49657947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BF407F-D380-425E-9C3D-11CE17738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F3B"/>
                </a:solidFill>
                <a:latin typeface="Arial"/>
                <a:ea typeface="Arial"/>
                <a:cs typeface="Arial"/>
              </a:rPr>
              <a:t>Review agenda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602C69-E715-4AB9-9604-748772A83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428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36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E2E3C6-8BD8-47ED-894B-5A8F57138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66875"/>
            <a:ext cx="10858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1. The application, source and delivery roles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1A5A30-ACAD-42C0-871B-39F1BBD7B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57475"/>
            <a:ext cx="10858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2. A–F: assembly, release and compatible patch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E3E2B7-C2C4-47E4-A039-15051CEF4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648075"/>
            <a:ext cx="10858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3. G–H: incompatible upgrade and live drift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E7AEBA-2BC8-4850-A331-BFDB8550F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638675"/>
            <a:ext cx="10858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4. Evidence, remaining risks and next decision</a:t>
            </a:r>
          </a:p>
        </p:txBody>
      </p:sp>
    </p:spTree>
    <p:extLst>
      <p:ext uri="{BB962C8B-B14F-4D97-AF65-F5344CB8AC3E}">
        <p14:creationId xmlns:p14="http://schemas.microsoft.com/office/powerpoint/2010/main" val="206072949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BE7F7C-9583-48CB-9494-87B401263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F3B"/>
                </a:solidFill>
                <a:latin typeface="Arial"/>
                <a:ea typeface="Arial"/>
                <a:cs typeface="Arial"/>
              </a:rPr>
              <a:t>The selected prototype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1E2DBE-F692-4307-8578-8696E4E0A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428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36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120ECB-BCA6-4433-A4C7-A252AF519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66875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One APEX application per area on one Oracle host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368505-E3B7-4717-9156-051E31160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24125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Foundation, Hello and World share one Git repository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1FC55C-A7DF-4253-8F19-FCEFBCA44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381375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Private A/B/C areas, disposable integration_test, retained UAT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10F1B6-E0F2-40C0-A6A1-5F9D6811A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238625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Supported Oracle interfaces and small operator scripts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9E1DA5-F221-40B4-9CA0-D7E1896B3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381625"/>
            <a:ext cx="1076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A432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A4322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A43224"/>
                </a:solidFill>
                <a:latin typeface="Arial"/>
                <a:ea typeface="Arial"/>
                <a:cs typeface="Arial"/>
              </a:rPr>
              <a:t>Full concurrency, complete fencing and failed-deployment repair remain open</a:t>
            </a:r>
          </a:p>
        </p:txBody>
      </p:sp>
    </p:spTree>
    <p:extLst>
      <p:ext uri="{BB962C8B-B14F-4D97-AF65-F5344CB8AC3E}">
        <p14:creationId xmlns:p14="http://schemas.microsoft.com/office/powerpoint/2010/main" val="42339353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002B9C-7532-48BD-840A-1A4CA84A49E7}"/>
              </a:ext>
            </a:extLst>
          </p:cNvPr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8715375" y="3714750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35F63"/>
            </a:solidFill>
            <a:tailEnd type="triangle" w="med" len="med"/>
          </a:ln>
        </p:spPr>
      </p:cxnSp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8BF1CC-C977-46B1-8947-5B59382108EE}"/>
              </a:ext>
            </a:extLst>
          </p:cNvPr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5857875" y="3714750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35F63"/>
            </a:solidFill>
            <a:tailEnd type="triangle" w="med" len="med"/>
          </a:ln>
        </p:spPr>
      </p:cxn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ED2E0A-484A-43DA-BDE8-432471BCCC69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000375" y="3714750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35F63"/>
            </a:solidFill>
            <a:tailEnd type="triangle" w="med" len="me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F7E8EA-C453-479C-A631-30CB7E7F7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F3B"/>
                </a:solidFill>
                <a:latin typeface="Arial"/>
                <a:ea typeface="Arial"/>
                <a:cs typeface="Arial"/>
              </a:rPr>
              <a:t>The delivery path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D92D7B-FDAE-4397-A153-4799BEBFD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428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36B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122F67-3F87-4E2C-91D3-57694981A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714500"/>
            <a:ext cx="2428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35F63"/>
                </a:solidFill>
                <a:latin typeface="Arial"/>
                <a:ea typeface="Arial"/>
                <a:cs typeface="Arial"/>
              </a:rPr>
              <a:t>Development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2ED721-B62F-4DCB-BDDA-36D36FA74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19375"/>
            <a:ext cx="2381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14288">
            <a:solidFill>
              <a:srgbClr val="AAB9BE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1875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75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F3B"/>
                </a:solidFill>
                <a:latin typeface="Arial"/>
                <a:ea typeface="Arial"/>
                <a:cs typeface="Arial"/>
              </a:rPr>
              <a:t>Private A / B / C</a:t>
            </a:r>
          </a:p>
          <a:p xmlns:a="http://schemas.openxmlformats.org/drawingml/2006/main">
            <a:pPr algn="ctr">
              <a:defRPr sz="1875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F3B"/>
                </a:solidFill>
                <a:latin typeface="Arial"/>
                <a:ea typeface="Arial"/>
                <a:cs typeface="Arial"/>
              </a:rPr>
              <a:t>Author and capture</a:t>
            </a:r>
          </a:p>
          <a:p xmlns:a="http://schemas.openxmlformats.org/drawingml/2006/main">
            <a:pPr algn="ctr">
              <a:defRPr sz="1875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F3B"/>
                </a:solidFill>
                <a:latin typeface="Arial"/>
                <a:ea typeface="Arial"/>
                <a:cs typeface="Arial"/>
              </a:rPr>
              <a:t>Smoke-check C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6F1174-7B12-4E8D-A91E-742217D74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714500"/>
            <a:ext cx="2428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35F63"/>
                </a:solidFill>
                <a:latin typeface="Arial"/>
                <a:ea typeface="Arial"/>
                <a:cs typeface="Arial"/>
              </a:rPr>
              <a:t>Shared Git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76E709-51C8-4BD8-8A72-B32DECBA1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619375"/>
            <a:ext cx="2381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14288">
            <a:solidFill>
              <a:srgbClr val="AAB9BE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1875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75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F3B"/>
                </a:solidFill>
                <a:latin typeface="Arial"/>
                <a:ea typeface="Arial"/>
                <a:cs typeface="Arial"/>
              </a:rPr>
              <a:t>Reviewed source</a:t>
            </a:r>
          </a:p>
          <a:p xmlns:a="http://schemas.openxmlformats.org/drawingml/2006/main">
            <a:pPr algn="ctr">
              <a:defRPr sz="1875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F3B"/>
                </a:solidFill>
                <a:latin typeface="Arial"/>
                <a:ea typeface="Arial"/>
                <a:cs typeface="Arial"/>
              </a:rPr>
              <a:t>Candidate evidence</a:t>
            </a:r>
          </a:p>
          <a:p xmlns:a="http://schemas.openxmlformats.org/drawingml/2006/main">
            <a:pPr algn="ctr">
              <a:defRPr sz="1875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F3B"/>
                </a:solidFill>
                <a:latin typeface="Arial"/>
                <a:ea typeface="Arial"/>
                <a:cs typeface="Arial"/>
              </a:rPr>
              <a:t>One release archive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FAE511-483C-42A2-B6E9-E7AAEF6B4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714500"/>
            <a:ext cx="2428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35F63"/>
                </a:solidFill>
                <a:latin typeface="Arial"/>
                <a:ea typeface="Arial"/>
                <a:cs typeface="Arial"/>
              </a:rPr>
              <a:t>Integration test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15758A-E11C-4D13-9D78-363EEC1B0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619375"/>
            <a:ext cx="2381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14288">
            <a:solidFill>
              <a:srgbClr val="AAB9BE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1875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75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F3B"/>
                </a:solidFill>
                <a:latin typeface="Arial"/>
                <a:ea typeface="Arial"/>
                <a:cs typeface="Arial"/>
              </a:rPr>
              <a:t>Install that archive</a:t>
            </a:r>
          </a:p>
          <a:p xmlns:a="http://schemas.openxmlformats.org/drawingml/2006/main">
            <a:pPr algn="ctr">
              <a:defRPr sz="1875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F3B"/>
                </a:solidFill>
                <a:latin typeface="Arial"/>
                <a:ea typeface="Arial"/>
                <a:cs typeface="Arial"/>
              </a:rPr>
              <a:t>Verify the application</a:t>
            </a:r>
          </a:p>
          <a:p xmlns:a="http://schemas.openxmlformats.org/drawingml/2006/main">
            <a:pPr algn="ctr">
              <a:defRPr sz="1875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F3B"/>
                </a:solidFill>
                <a:latin typeface="Arial"/>
                <a:ea typeface="Arial"/>
                <a:cs typeface="Arial"/>
              </a:rPr>
              <a:t>Record successful receipt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C1960D-7546-467B-AFBB-90E290CAA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1714500"/>
            <a:ext cx="2428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35F63"/>
                </a:solidFill>
                <a:latin typeface="Arial"/>
                <a:ea typeface="Arial"/>
                <a:cs typeface="Arial"/>
              </a:rPr>
              <a:t>User acceptance test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C114C7-DCF3-4C3B-BD8B-6553DE124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619375"/>
            <a:ext cx="2381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14288">
            <a:solidFill>
              <a:srgbClr val="AAB9BE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1875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75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F3B"/>
                </a:solidFill>
                <a:latin typeface="Arial"/>
                <a:ea typeface="Arial"/>
                <a:cs typeface="Arial"/>
              </a:rPr>
              <a:t>Promote same archive</a:t>
            </a:r>
          </a:p>
          <a:p xmlns:a="http://schemas.openxmlformats.org/drawingml/2006/main">
            <a:pPr algn="ctr">
              <a:defRPr sz="1875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F3B"/>
                </a:solidFill>
                <a:latin typeface="Arial"/>
                <a:ea typeface="Arial"/>
                <a:cs typeface="Arial"/>
              </a:rPr>
              <a:t>Preserve history/settings</a:t>
            </a:r>
          </a:p>
          <a:p xmlns:a="http://schemas.openxmlformats.org/drawingml/2006/main">
            <a:pPr algn="ctr">
              <a:defRPr sz="1875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F3B"/>
                </a:solidFill>
                <a:latin typeface="Arial"/>
                <a:ea typeface="Arial"/>
                <a:cs typeface="Arial"/>
              </a:rPr>
              <a:t>LAB_USER uses release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19BFCB-4C88-4342-881B-35A486BEC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381625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The development team releases the package. The Deployer moves the same bytes through both targets.</a:t>
            </a:r>
          </a:p>
        </p:txBody>
      </p:sp>
    </p:spTree>
    <p:extLst>
      <p:ext uri="{BB962C8B-B14F-4D97-AF65-F5344CB8AC3E}">
        <p14:creationId xmlns:p14="http://schemas.microsoft.com/office/powerpoint/2010/main" val="4493357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6EFE85-A3ED-4A34-BAC7-CF00B22CE578}"/>
              </a:ext>
            </a:extLst>
          </p:cNvPr>
          <p:cNvCxnSpPr>
            <a:stCxn xmlns:a="http://schemas.openxmlformats.org/drawingml/2006/main" id="5" idx="0"/>
            <a:endCxn xmlns:a="http://schemas.openxmlformats.org/drawingml/2006/main" id="3" idx="2"/>
          </p:cNvCxnSpPr>
          <p:nvPr/>
        </p:nvCxnSpPr>
        <p:spPr>
          <a:xfrm xmlns:a="http://schemas.openxmlformats.org/drawingml/2006/main" flipH="1" flipV="1">
            <a:off x="6096000" y="2762250"/>
            <a:ext cx="2571750" cy="9525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235F63"/>
            </a:solidFill>
            <a:tailEnd type="triangle" w="med" len="med"/>
          </a:ln>
        </p:spPr>
      </p:cxnSp>
      <p:cxnSp>
        <p:nvCxn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ED69F1-B442-4376-8AA5-5F085D7998EC}"/>
              </a:ext>
            </a:extLst>
          </p:cNvPr>
          <p:cNvCxnSpPr>
            <a:stCxn xmlns:a="http://schemas.openxmlformats.org/drawingml/2006/main" id="4" idx="0"/>
            <a:endCxn xmlns:a="http://schemas.openxmlformats.org/drawingml/2006/main" id="3" idx="2"/>
          </p:cNvCxnSpPr>
          <p:nvPr/>
        </p:nvCxnSpPr>
        <p:spPr>
          <a:xfrm xmlns:a="http://schemas.openxmlformats.org/drawingml/2006/main" flipV="1">
            <a:off x="3524250" y="2762250"/>
            <a:ext cx="2571750" cy="9525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235F63"/>
            </a:solidFill>
            <a:tailEnd type="triangle" w="med" len="me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70D4A4-5672-4E0E-BDE1-D895275DA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F3B"/>
                </a:solidFill>
                <a:latin typeface="Arial"/>
                <a:ea typeface="Arial"/>
                <a:cs typeface="Arial"/>
              </a:rPr>
              <a:t>Foundation, Hello and World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712091-B346-49DE-A53A-096A96C4D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428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36B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B02685-28FC-4A88-B6E5-155E64EB6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666875"/>
            <a:ext cx="476250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14288">
            <a:solidFill>
              <a:srgbClr val="AAB9BE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2025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025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F3B"/>
                </a:solidFill>
                <a:latin typeface="Arial"/>
                <a:ea typeface="Arial"/>
                <a:cs typeface="Arial"/>
              </a:rPr>
              <a:t>Foundation</a:t>
            </a:r>
          </a:p>
          <a:p xmlns:a="http://schemas.openxmlformats.org/drawingml/2006/main">
            <a:pPr algn="ctr">
              <a:defRPr sz="2025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F3B"/>
                </a:solidFill>
                <a:latin typeface="Arial"/>
                <a:ea typeface="Arial"/>
                <a:cs typeface="Arial"/>
              </a:rPr>
              <a:t>Composition, history and runtime state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A35CB0-9FB2-40A6-A01A-0CF351F0A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714750"/>
            <a:ext cx="3810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14288">
            <a:solidFill>
              <a:srgbClr val="AAB9BE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2025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025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F3B"/>
                </a:solidFill>
                <a:latin typeface="Arial"/>
                <a:ea typeface="Arial"/>
                <a:cs typeface="Arial"/>
              </a:rPr>
              <a:t>Hello</a:t>
            </a:r>
          </a:p>
          <a:p xmlns:a="http://schemas.openxmlformats.org/drawingml/2006/main">
            <a:pPr algn="ctr">
              <a:defRPr sz="2025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F3B"/>
                </a:solidFill>
                <a:latin typeface="Arial"/>
                <a:ea typeface="Arial"/>
                <a:cs typeface="Arial"/>
              </a:rPr>
              <a:t>Entries and configuration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B3CDB4-5406-40F7-BB5A-C5E2F8493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714750"/>
            <a:ext cx="3810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14288">
            <a:solidFill>
              <a:srgbClr val="AAB9BE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2025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025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F3B"/>
                </a:solidFill>
                <a:latin typeface="Arial"/>
                <a:ea typeface="Arial"/>
                <a:cs typeface="Arial"/>
              </a:rPr>
              <a:t>World</a:t>
            </a:r>
          </a:p>
          <a:p xmlns:a="http://schemas.openxmlformats.org/drawingml/2006/main">
            <a:pPr algn="ctr">
              <a:defRPr sz="2025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F3B"/>
                </a:solidFill>
                <a:latin typeface="Arial"/>
                <a:ea typeface="Arial"/>
                <a:cs typeface="Arial"/>
              </a:rPr>
              <a:t>Entries and configuration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AFF378-134C-4ECF-ACC4-EC3827261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340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Both components depend on Foundation. The release installs the complete application.</a:t>
            </a:r>
          </a:p>
        </p:txBody>
      </p:sp>
    </p:spTree>
    <p:extLst>
      <p:ext uri="{BB962C8B-B14F-4D97-AF65-F5344CB8AC3E}">
        <p14:creationId xmlns:p14="http://schemas.microsoft.com/office/powerpoint/2010/main" val="90740668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F4AAB9-D9F3-4439-A914-65F385CB1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F3B"/>
                </a:solidFill>
                <a:latin typeface="Arial"/>
                <a:ea typeface="Arial"/>
                <a:cs typeface="Arial"/>
              </a:rPr>
              <a:t>Oracle toolchain and responsibilities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DF8161-B60F-4092-B438-14DB3F74A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428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36B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FCBA9B-6C9E-4313-9D69-F7A880E36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71625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APEX / ORDS: authoring, application metadata and HTTP runtime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3CB617-E280-4425-A727-D344E72CA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314575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SQLcl + Java: saved connections, SQL checks and native capture/import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57648F-285D-4335-A45F-B6DB99D14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57525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SQLcl Liquibase: ordered migrations and applied-change checksums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A05FA0-B920-4D92-9B0F-1CD73D246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00475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E1_CTRL SQL packages: reservations, deployment epochs and receipts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D574AB-34B9-40D5-942C-7095E2C13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543425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Git + SHA-256: accepted source and immutable release identity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FD7F87-E8B5-41D2-8E38-7736A22BE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286375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Bash / Python: explicit operator steps and focused lab checks</a:t>
            </a:r>
          </a:p>
        </p:txBody>
      </p:sp>
    </p:spTree>
    <p:extLst>
      <p:ext uri="{BB962C8B-B14F-4D97-AF65-F5344CB8AC3E}">
        <p14:creationId xmlns:p14="http://schemas.microsoft.com/office/powerpoint/2010/main" val="211700648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C60ABC-6237-45A8-807B-711091E09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F3B"/>
                </a:solidFill>
                <a:latin typeface="Arial"/>
                <a:ea typeface="Arial"/>
                <a:cs typeface="Arial"/>
              </a:rPr>
              <a:t>APEX interfaces: export, import and fingerprint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19024B-FB94-433F-BF49-7D0C63F4A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428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36B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CD98EA-C59B-4456-BA9E-C000AA1F6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71625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Author: App Builder saves application definitions in a developer area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AF0937-1B8D-4D5A-868B-CB4D14245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314575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Capture: SQLcl apex export writes split SQL files for Git review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3CF2FD-7E03-4206-A44D-68D232250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57525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Deploy: APEX_APPLICATION_INSTALL maps the target; install.sql imports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14C842-4C2C-4C52-81D4-1FEEC4F2E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00475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Guard: APEX_EXPORT.GET_APPLICATION computes the live fingerprint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F0E236-6709-4487-B79C-A6ADFB5FD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543425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Database: separate Liquibase migrations change schema objects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F86652-0C7A-433A-BB04-E7317ED17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476875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235F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35F6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35F63"/>
                </a:solidFill>
                <a:latin typeface="Arial"/>
                <a:ea typeface="Arial"/>
                <a:cs typeface="Arial"/>
              </a:rPr>
              <a:t>Git and immutable archives carry releases. APEX Working Copies and Team Development are not used for release integration or promotion.</a:t>
            </a:r>
          </a:p>
        </p:txBody>
      </p:sp>
    </p:spTree>
    <p:extLst>
      <p:ext uri="{BB962C8B-B14F-4D97-AF65-F5344CB8AC3E}">
        <p14:creationId xmlns:p14="http://schemas.microsoft.com/office/powerpoint/2010/main" val="42651945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49AF73-A13D-47C6-AC20-2E0E3F627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F3B"/>
                </a:solidFill>
                <a:latin typeface="Arial"/>
                <a:ea typeface="Arial"/>
                <a:cs typeface="Arial"/>
              </a:rPr>
              <a:t>Git repository layout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1E913E-C883-4E9F-8EFA-964C82A5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428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36B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E03718-245B-45AF-96AE-A4836130F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24000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00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35F63"/>
                </a:solidFill>
                <a:latin typeface="Arial"/>
                <a:ea typeface="Arial"/>
                <a:cs typeface="Arial"/>
              </a:rPr>
              <a:t>APEX_CICD/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53F9AA-065B-4B52-8401-0624A501C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143125"/>
            <a:ext cx="295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2F3B"/>
                </a:solidFill>
                <a:latin typeface="Arial"/>
                <a:ea typeface="Arial"/>
                <a:cs typeface="Arial"/>
              </a:rPr>
              <a:t>apex/f810001/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9D5B24-DC62-45AB-AD0B-17430F872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143125"/>
            <a:ext cx="7620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Complete split APEX application export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AD19A6-F036-440D-B8EC-7E6D23D86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86050"/>
            <a:ext cx="295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2F3B"/>
                </a:solidFill>
                <a:latin typeface="Arial"/>
                <a:ea typeface="Arial"/>
                <a:cs typeface="Arial"/>
              </a:rPr>
              <a:t>db/changes/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697949-B87D-4CB3-84BF-80B4F3399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686050"/>
            <a:ext cx="7620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Ordered database migrations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9D9BCE-3D65-4ECE-99F7-4D3C835A6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228975"/>
            <a:ext cx="295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2F3B"/>
                </a:solidFill>
                <a:latin typeface="Arial"/>
                <a:ea typeface="Arial"/>
                <a:cs typeface="Arial"/>
              </a:rPr>
              <a:t>release/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A6FC91-4DEB-4D3C-B99F-75578AECF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228975"/>
            <a:ext cx="7620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Versions, dependencies and release proposals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C3BE44-66B4-4E80-A495-CB89DCBB8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771900"/>
            <a:ext cx="295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2F3B"/>
                </a:solidFill>
                <a:latin typeface="Arial"/>
                <a:ea typeface="Arial"/>
                <a:cs typeface="Arial"/>
              </a:rPr>
              <a:t>deploy/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8CC0E9-1D33-4EE7-B6F8-AF531622D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771900"/>
            <a:ext cx="7620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Target guards, import and publication SQL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A95C16-519A-4072-AF74-77C491EEB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314825"/>
            <a:ext cx="295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2F3B"/>
                </a:solidFill>
                <a:latin typeface="Arial"/>
                <a:ea typeface="Arial"/>
                <a:cs typeface="Arial"/>
              </a:rPr>
              <a:t>config/areas.json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032775-7353-4C60-84C9-28C3636F0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314825"/>
            <a:ext cx="7620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Workspace, schema and application mappings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72D72E-5C36-42C0-9BDA-FA091D3D4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857750"/>
            <a:ext cx="295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2F3B"/>
                </a:solidFill>
                <a:latin typeface="Arial"/>
                <a:ea typeface="Arial"/>
                <a:cs typeface="Arial"/>
              </a:rPr>
              <a:t>scripts/ + tests/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0DB7DA-38F7-470E-96C0-61E27652A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857750"/>
            <a:ext cx="7620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Operator steps and executable checks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1D7C14-24A0-4504-AD20-3B95C17F3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15000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35F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35F6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35F63"/>
                </a:solidFill>
                <a:latin typeface="Arial"/>
                <a:ea typeface="Arial"/>
                <a:cs typeface="Arial"/>
              </a:rPr>
              <a:t>Real Git history; one shared application source tree. Private A/B/C schema/workspace areas are separate from Git. Credentials and runtime history stay outside source control.</a:t>
            </a:r>
          </a:p>
        </p:txBody>
      </p:sp>
    </p:spTree>
    <p:extLst>
      <p:ext uri="{BB962C8B-B14F-4D97-AF65-F5344CB8AC3E}">
        <p14:creationId xmlns:p14="http://schemas.microsoft.com/office/powerpoint/2010/main" val="42291865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48AFBB-CA4F-4016-8A98-714324133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F3B"/>
                </a:solidFill>
                <a:latin typeface="Arial"/>
                <a:ea typeface="Arial"/>
                <a:cs typeface="Arial"/>
              </a:rPr>
              <a:t>Developer cooperation: proposed branch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D09F84-4B44-43F6-9798-2D578B759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428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36B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F90ACA-23D8-4121-BB30-6F3197BCA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19250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1. Reserve scope; start a task branch from the accepted Git base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246618-2BFF-4223-B244-8C6B3CF55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352675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2. Author in a private APEX area; export owned changes to that branch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F7E102-91B8-46A6-863D-096DB90DE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86100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3. Review pages, shared files, migrations and dependency metadata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CA1D45-9B4D-4BE1-AF5A-507E38EBA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9525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4. Validate the combined candidate in a disposable area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F537FA-301F-4E72-8900-0DCEEA0C8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552950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5. Accept the source; package one immutable release archive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5C4EFD-B391-4736-94A1-3C36F6CE5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619750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A432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A4322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A43224"/>
                </a:solidFill>
                <a:latin typeface="Arial"/>
                <a:ea typeface="Arial"/>
                <a:cs typeface="Arial"/>
              </a:rPr>
              <a:t>Future validation: concurrent Hello/World branches and competing Hello tasks. Today A–C replay reviewed sequential snapshots; live PR/parallel integration is not demonstrated.</a:t>
            </a:r>
          </a:p>
        </p:txBody>
      </p:sp>
    </p:spTree>
    <p:extLst>
      <p:ext uri="{BB962C8B-B14F-4D97-AF65-F5344CB8AC3E}">
        <p14:creationId xmlns:p14="http://schemas.microsoft.com/office/powerpoint/2010/main" val="87272125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C38EF6-F464-47E7-985E-5C7B9F95D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F3B"/>
                </a:solidFill>
                <a:latin typeface="Arial"/>
                <a:ea typeface="Arial"/>
                <a:cs typeface="Arial"/>
              </a:rPr>
              <a:t>APEX SQL exports can be merged as text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8EBB4C-743B-4CFC-91D9-74B404993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428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36B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A75A05-6EC3-4FAC-AAA4-CF3849311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19250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Split SQL exports belong in Git as text, not as binary application blobs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48D185-E96E-45F5-9D4D-D292B4B75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352675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Different page files usually reduce conflicts; shared definitions still overlap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DB4BB1-3646-4A35-BB3F-F1DBBB838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86100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Review install.sql, IDs, shared components and cross-page dependencies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554A56-BD20-4C26-BD48-5CA221C1A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9525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Resolve conflicts with an APEX-aware reviewer; do not blindly pick a side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A73224-73ED-4D16-AA12-04B324EBC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552950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Import the complete merged tree and test it before accepting the release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B324A2-099D-494B-933E-25E63DC78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619750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235F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35F6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35F63"/>
                </a:solidFill>
                <a:latin typeface="Arial"/>
                <a:ea typeface="Arial"/>
                <a:cs typeface="Arial"/>
              </a:rPr>
              <a:t>A clean Git merge proves only that text combined. It does not prove a valid APEX application. Database migrations need their own order and compatibility review.</a:t>
            </a:r>
          </a:p>
        </p:txBody>
      </p:sp>
    </p:spTree>
    <p:extLst>
      <p:ext uri="{BB962C8B-B14F-4D97-AF65-F5344CB8AC3E}">
        <p14:creationId xmlns:p14="http://schemas.microsoft.com/office/powerpoint/2010/main" val="29675455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5B9CC6-3874-45AF-B9C6-09DBFF806988}"/>
              </a:ext>
            </a:extLst>
          </p:cNvPr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8715375" y="3714750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35F63"/>
            </a:solidFill>
            <a:tailEnd type="triangle" w="med" len="med"/>
          </a:ln>
        </p:spPr>
      </p:cxnSp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FE0FB2-410B-4EE6-8D37-15CF2DE7FB20}"/>
              </a:ext>
            </a:extLst>
          </p:cNvPr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5857875" y="3714750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35F63"/>
            </a:solidFill>
            <a:tailEnd type="triangle" w="med" len="med"/>
          </a:ln>
        </p:spPr>
      </p:cxn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AB3588-53F5-4BD9-888D-DDE13E1BE208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000375" y="3714750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35F63"/>
            </a:solidFill>
            <a:tailEnd type="triangle" w="med" len="me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E0342B-7156-45FF-A971-B95E0BDE0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F3B"/>
                </a:solidFill>
                <a:latin typeface="Arial"/>
                <a:ea typeface="Arial"/>
                <a:cs typeface="Arial"/>
              </a:rPr>
              <a:t>Future CI pipelines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09D84A-5EBD-4BDE-9C49-C0BE9FCF3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428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36B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24BFD7-2DA8-458A-95EE-3ECCDBF32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714500"/>
            <a:ext cx="2524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35F63"/>
                </a:solidFill>
                <a:latin typeface="Arial"/>
                <a:ea typeface="Arial"/>
                <a:cs typeface="Arial"/>
              </a:rPr>
              <a:t>Task / pull request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C1003E-04DE-4BDC-868E-FF48A73AB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19375"/>
            <a:ext cx="2381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14288">
            <a:solidFill>
              <a:srgbClr val="AAB9BE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1875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75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F3B"/>
                </a:solidFill>
                <a:latin typeface="Arial"/>
                <a:ea typeface="Arial"/>
                <a:cs typeface="Arial"/>
              </a:rPr>
              <a:t>Capture + review</a:t>
            </a:r>
          </a:p>
          <a:p xmlns:a="http://schemas.openxmlformats.org/drawingml/2006/main">
            <a:pPr algn="ctr">
              <a:defRPr sz="1875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F3B"/>
                </a:solidFill>
                <a:latin typeface="Arial"/>
                <a:ea typeface="Arial"/>
                <a:cs typeface="Arial"/>
              </a:rPr>
              <a:t>Scope and dependencies</a:t>
            </a:r>
          </a:p>
          <a:p xmlns:a="http://schemas.openxmlformats.org/drawingml/2006/main">
            <a:pPr algn="ctr">
              <a:defRPr sz="1875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F3B"/>
                </a:solidFill>
                <a:latin typeface="Arial"/>
                <a:ea typeface="Arial"/>
                <a:cs typeface="Arial"/>
              </a:rPr>
              <a:t>Candidate validation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4D2787-8C7C-4720-AFEC-80ECE7FA9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714500"/>
            <a:ext cx="2524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35F63"/>
                </a:solidFill>
                <a:latin typeface="Arial"/>
                <a:ea typeface="Arial"/>
                <a:cs typeface="Arial"/>
              </a:rPr>
              <a:t>Accepted Git revision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E07712-05D9-4E3A-99BE-CA7AD5E34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619375"/>
            <a:ext cx="2381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14288">
            <a:solidFill>
              <a:srgbClr val="AAB9BE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1875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75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F3B"/>
                </a:solidFill>
                <a:latin typeface="Arial"/>
                <a:ea typeface="Arial"/>
                <a:cs typeface="Arial"/>
              </a:rPr>
              <a:t>Build once</a:t>
            </a:r>
          </a:p>
          <a:p xmlns:a="http://schemas.openxmlformats.org/drawingml/2006/main">
            <a:pPr algn="ctr">
              <a:defRPr sz="1875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F3B"/>
                </a:solidFill>
                <a:latin typeface="Arial"/>
                <a:ea typeface="Arial"/>
                <a:cs typeface="Arial"/>
              </a:rPr>
              <a:t>Hash the archive</a:t>
            </a:r>
          </a:p>
          <a:p xmlns:a="http://schemas.openxmlformats.org/drawingml/2006/main">
            <a:pPr algn="ctr">
              <a:defRPr sz="1875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F3B"/>
                </a:solidFill>
                <a:latin typeface="Arial"/>
                <a:ea typeface="Arial"/>
                <a:cs typeface="Arial"/>
              </a:rPr>
              <a:t>Retain provenance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AF68B1-2258-4D6B-B5ED-30A1E3052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714500"/>
            <a:ext cx="2524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35F63"/>
                </a:solidFill>
                <a:latin typeface="Arial"/>
                <a:ea typeface="Arial"/>
                <a:cs typeface="Arial"/>
              </a:rPr>
              <a:t>Integration test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B1A8C2-AD2A-48BB-84BE-60BBE99B9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619375"/>
            <a:ext cx="2381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14288">
            <a:solidFill>
              <a:srgbClr val="AAB9BE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1875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75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F3B"/>
                </a:solidFill>
                <a:latin typeface="Arial"/>
                <a:ea typeface="Arial"/>
                <a:cs typeface="Arial"/>
              </a:rPr>
              <a:t>Fresh + upgrade checks</a:t>
            </a:r>
          </a:p>
          <a:p xmlns:a="http://schemas.openxmlformats.org/drawingml/2006/main">
            <a:pPr algn="ctr">
              <a:defRPr sz="1875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F3B"/>
                </a:solidFill>
                <a:latin typeface="Arial"/>
                <a:ea typeface="Arial"/>
                <a:cs typeface="Arial"/>
              </a:rPr>
              <a:t>Runtime verification</a:t>
            </a:r>
          </a:p>
          <a:p xmlns:a="http://schemas.openxmlformats.org/drawingml/2006/main">
            <a:pPr algn="ctr">
              <a:defRPr sz="1875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F3B"/>
                </a:solidFill>
                <a:latin typeface="Arial"/>
                <a:ea typeface="Arial"/>
                <a:cs typeface="Arial"/>
              </a:rPr>
              <a:t>Successful receipt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82F87A-3E85-463D-B866-E054F7857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1714500"/>
            <a:ext cx="2524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35F63"/>
                </a:solidFill>
                <a:latin typeface="Arial"/>
                <a:ea typeface="Arial"/>
                <a:cs typeface="Arial"/>
              </a:rPr>
              <a:t>UAT promotion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6A8A2A-D4D7-429B-8970-A336B8987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619375"/>
            <a:ext cx="2381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14288">
            <a:solidFill>
              <a:srgbClr val="AAB9BE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1875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75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F3B"/>
                </a:solidFill>
                <a:latin typeface="Arial"/>
                <a:ea typeface="Arial"/>
                <a:cs typeface="Arial"/>
              </a:rPr>
              <a:t>Same archive bytes</a:t>
            </a:r>
          </a:p>
          <a:p xmlns:a="http://schemas.openxmlformats.org/drawingml/2006/main">
            <a:pPr algn="ctr">
              <a:defRPr sz="1875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F3B"/>
                </a:solidFill>
                <a:latin typeface="Arial"/>
                <a:ea typeface="Arial"/>
                <a:cs typeface="Arial"/>
              </a:rPr>
              <a:t>Preflight guards</a:t>
            </a:r>
          </a:p>
          <a:p xmlns:a="http://schemas.openxmlformats.org/drawingml/2006/main">
            <a:pPr algn="ctr">
              <a:defRPr sz="1875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F3B"/>
                </a:solidFill>
                <a:latin typeface="Arial"/>
                <a:ea typeface="Arial"/>
                <a:cs typeface="Arial"/>
              </a:rPr>
              <a:t>Preserve user history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F1FC66-B3BF-4CE3-B534-AE6392A40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476875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A432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A43224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43224"/>
                </a:solidFill>
                <a:latin typeface="Arial"/>
                <a:ea typeface="Arial"/>
                <a:cs typeface="Arial"/>
              </a:rPr>
              <a:t>Extension proposal: a CI runner, protected branches and release approvals call these gates. Remote CI/PR automation and concurrent integration remain future work.</a:t>
            </a:r>
          </a:p>
        </p:txBody>
      </p:sp>
    </p:spTree>
    <p:extLst>
      <p:ext uri="{BB962C8B-B14F-4D97-AF65-F5344CB8AC3E}">
        <p14:creationId xmlns:p14="http://schemas.microsoft.com/office/powerpoint/2010/main" val="146739734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72F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077B89-293F-403A-9186-502D46162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Walkthrough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9F0669-1015-4C5C-83B2-5D15A3C88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428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C8D7D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C8D7D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C8D7DC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D3375A-59CC-4281-9518-23691BD69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286000"/>
            <a:ext cx="10572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Product Owner sees</a:t>
            </a:r>
          </a:p>
          <a:p xmlns:a="http://schemas.openxmlformats.org/drawingml/2006/main">
            <a:pPr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results after each operation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BE3FD2-7253-4E9F-90DA-C8E24B5A0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667250"/>
            <a:ext cx="10763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DCE7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DCE7E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DCE7EB"/>
                </a:solidFill>
                <a:latin typeface="Arial"/>
                <a:ea typeface="Arial"/>
                <a:cs typeface="Arial"/>
              </a:rPr>
              <a:t>The following slides follow the implemented A–H journey</a:t>
            </a:r>
          </a:p>
        </p:txBody>
      </p:sp>
    </p:spTree>
    <p:extLst>
      <p:ext uri="{BB962C8B-B14F-4D97-AF65-F5344CB8AC3E}">
        <p14:creationId xmlns:p14="http://schemas.microsoft.com/office/powerpoint/2010/main" val="38817373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96604D-60F6-4473-BCA9-96BAF2FF8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F3B"/>
                </a:solidFill>
                <a:latin typeface="Arial"/>
                <a:ea typeface="Arial"/>
                <a:cs typeface="Arial"/>
              </a:rPr>
              <a:t>Infrastructure and project setup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F4248B-F40D-49FA-84A3-9219BAF59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428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36B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13C158-8D50-417C-A59A-CCDE22B56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2400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A432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A4322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A43224"/>
                </a:solidFill>
                <a:latin typeface="Arial"/>
                <a:ea typeface="Arial"/>
                <a:cs typeface="Arial"/>
              </a:rPr>
              <a:t>Fresh replay only: destruction removes every lab database row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CF5CE6-0720-4E39-B171-24AB9C1A0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333625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5F63"/>
                </a:solidFill>
                <a:latin typeface="Arial"/>
                <a:ea typeface="Arial"/>
                <a:cs typeface="Arial"/>
              </a:rPr>
              <a:t>bash scripts/cicd-walkthrough-prerequisites.sh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A118E9-85CD-4517-9D21-8BB7391AE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05125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5F63"/>
                </a:solidFill>
                <a:latin typeface="Arial"/>
                <a:ea typeface="Arial"/>
                <a:cs typeface="Arial"/>
              </a:rPr>
              <a:t>bash scripts/cicd-walkthrough-host.sh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7737FB-3D51-4C8C-B6FB-270DCD9C2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476625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5F63"/>
                </a:solidFill>
                <a:latin typeface="Arial"/>
                <a:ea typeface="Arial"/>
                <a:cs typeface="Arial"/>
              </a:rPr>
              <a:t>bash scripts/apex-destroy.sh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49564A-602F-4BE5-8AC1-717AC9C3B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48125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5F63"/>
                </a:solidFill>
                <a:latin typeface="Arial"/>
                <a:ea typeface="Arial"/>
                <a:cs typeface="Arial"/>
              </a:rPr>
              <a:t>bash scripts/cicd-walkthrough-apex-init.sh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E1ED0B-6FDD-41D3-BA37-88F6EE096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95875"/>
            <a:ext cx="108585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Then initialize E1_CTRL and provision each named area separately.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C9EC1B-D8C4-4F9A-B5C4-839040982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695950"/>
            <a:ext cx="108585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Expected result: vanilla DB/APEX/ORDS first, then empty isolated project areas.</a:t>
            </a:r>
          </a:p>
        </p:txBody>
      </p:sp>
    </p:spTree>
    <p:extLst>
      <p:ext uri="{BB962C8B-B14F-4D97-AF65-F5344CB8AC3E}">
        <p14:creationId xmlns:p14="http://schemas.microsoft.com/office/powerpoint/2010/main" val="37623134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795FDE-C6EA-4FD9-BA2C-9CB6BCF0F6C0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7667625" y="4524375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35F63"/>
            </a:solidFill>
            <a:tailEnd type="triangle" w="med" len="med"/>
          </a:ln>
        </p:spPr>
      </p:cxn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7CABE4-96BD-4F66-AA05-991C2B2D2425}"/>
              </a:ext>
            </a:extLst>
          </p:cNvPr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810000" y="4524375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35F63"/>
            </a:solidFill>
            <a:tailEnd type="triangle" w="med" len="med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6DCD6F-58F5-4E48-8C0A-E93A70712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F3B"/>
                </a:solidFill>
                <a:latin typeface="Arial"/>
                <a:ea typeface="Arial"/>
                <a:cs typeface="Arial"/>
              </a:rPr>
              <a:t>A–C: assemble the application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042127-9A5E-42F9-A2BD-39069B428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428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36B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D10481-99A7-4B90-892B-612F1E06F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1925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5F63"/>
                </a:solidFill>
                <a:latin typeface="Arial"/>
                <a:ea typeface="Arial"/>
                <a:cs typeface="Arial"/>
              </a:rPr>
              <a:t>bash scripts/cicd-walkthrough-A_foundation.sh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FBA0B5-D94E-4EC5-9635-EBE2FB7C8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238375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5F63"/>
                </a:solidFill>
                <a:latin typeface="Arial"/>
                <a:ea typeface="Arial"/>
                <a:cs typeface="Arial"/>
              </a:rPr>
              <a:t>bash scripts/cicd-walkthrough-B_hello.sh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AA7E6E-7D92-4123-BE73-67F663920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85750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5F63"/>
                </a:solidFill>
                <a:latin typeface="Arial"/>
                <a:ea typeface="Arial"/>
                <a:cs typeface="Arial"/>
              </a:rPr>
              <a:t>bash scripts/cicd-walkthrough-C_world.sh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B07C67-20F1-4629-BB4E-9E47AE1F8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57625"/>
            <a:ext cx="3190875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14288">
            <a:solidFill>
              <a:srgbClr val="AAB9BE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195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95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F3B"/>
                </a:solidFill>
                <a:latin typeface="Arial"/>
                <a:ea typeface="Arial"/>
                <a:cs typeface="Arial"/>
              </a:rPr>
              <a:t>A</a:t>
            </a:r>
          </a:p>
          <a:p xmlns:a="http://schemas.openxmlformats.org/drawingml/2006/main">
            <a:pPr algn="ctr">
              <a:defRPr sz="195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F3B"/>
                </a:solidFill>
                <a:latin typeface="Arial"/>
                <a:ea typeface="Arial"/>
                <a:cs typeface="Arial"/>
              </a:rPr>
              <a:t>Foundation only</a:t>
            </a:r>
          </a:p>
          <a:p xmlns:a="http://schemas.openxmlformats.org/drawingml/2006/main">
            <a:pPr algn="ctr">
              <a:defRPr sz="195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F3B"/>
                </a:solidFill>
                <a:latin typeface="Arial"/>
                <a:ea typeface="Arial"/>
                <a:cs typeface="Arial"/>
              </a:rPr>
              <a:t>810001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F20F33-8941-4068-8E91-2ADA81601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857625"/>
            <a:ext cx="3190875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14288">
            <a:solidFill>
              <a:srgbClr val="AAB9BE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195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95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F3B"/>
                </a:solidFill>
                <a:latin typeface="Arial"/>
                <a:ea typeface="Arial"/>
                <a:cs typeface="Arial"/>
              </a:rPr>
              <a:t>B</a:t>
            </a:r>
          </a:p>
          <a:p xmlns:a="http://schemas.openxmlformats.org/drawingml/2006/main">
            <a:pPr algn="ctr">
              <a:defRPr sz="195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F3B"/>
                </a:solidFill>
                <a:latin typeface="Arial"/>
                <a:ea typeface="Arial"/>
                <a:cs typeface="Arial"/>
              </a:rPr>
              <a:t>Foundation + Hello</a:t>
            </a:r>
          </a:p>
          <a:p xmlns:a="http://schemas.openxmlformats.org/drawingml/2006/main">
            <a:pPr algn="ctr">
              <a:defRPr sz="195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F3B"/>
                </a:solidFill>
                <a:latin typeface="Arial"/>
                <a:ea typeface="Arial"/>
                <a:cs typeface="Arial"/>
              </a:rPr>
              <a:t>810002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F702BE-C54F-4A97-88DE-1691D5A1C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857625"/>
            <a:ext cx="3190875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14288">
            <a:solidFill>
              <a:srgbClr val="AAB9BE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195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95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F3B"/>
                </a:solidFill>
                <a:latin typeface="Arial"/>
                <a:ea typeface="Arial"/>
                <a:cs typeface="Arial"/>
              </a:rPr>
              <a:t>C</a:t>
            </a:r>
          </a:p>
          <a:p xmlns:a="http://schemas.openxmlformats.org/drawingml/2006/main">
            <a:pPr algn="ctr">
              <a:defRPr sz="195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F3B"/>
                </a:solidFill>
                <a:latin typeface="Arial"/>
                <a:ea typeface="Arial"/>
                <a:cs typeface="Arial"/>
              </a:rPr>
              <a:t>Complete 1.0.0</a:t>
            </a:r>
          </a:p>
          <a:p xmlns:a="http://schemas.openxmlformats.org/drawingml/2006/main">
            <a:pPr algn="ctr">
              <a:defRPr sz="195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F3B"/>
                </a:solidFill>
                <a:latin typeface="Arial"/>
                <a:ea typeface="Arial"/>
                <a:cs typeface="Arial"/>
              </a:rPr>
              <a:t>810003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859F85-5464-4C54-93A6-9AD1943DA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524500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A and B remain unavailable. VERIFIER checks C, then LAB_USER can use it.</a:t>
            </a:r>
          </a:p>
        </p:txBody>
      </p:sp>
    </p:spTree>
    <p:extLst>
      <p:ext uri="{BB962C8B-B14F-4D97-AF65-F5344CB8AC3E}">
        <p14:creationId xmlns:p14="http://schemas.microsoft.com/office/powerpoint/2010/main" val="192777443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4B69CC-939E-49AD-8EC3-E60C74F6293E}"/>
              </a:ext>
            </a:extLst>
          </p:cNvPr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572125" y="4619625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35F63"/>
            </a:solidFill>
            <a:tailEnd type="triangle" w="med" len="med"/>
          </a:ln>
        </p:spPr>
      </p:cxn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65E1E1-FFBB-437E-B3D5-6F9F1E1C3B09}"/>
              </a:ext>
            </a:extLst>
          </p:cNvPr>
          <p:cNvCxnSpPr>
            <a:stCxn xmlns:a="http://schemas.openxmlformats.org/drawingml/2006/main" id="5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 flipH="1">
            <a:off x="3095625" y="3524250"/>
            <a:ext cx="5905500" cy="61912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235F63"/>
            </a:solidFill>
            <a:tailEnd type="triangle" w="med" len="med"/>
          </a:ln>
        </p:spPr>
      </p:cxn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2D437C-8BBD-4697-AB96-9B10C18E91DF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5572125" y="3048000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35F63"/>
            </a:solidFill>
            <a:tailEnd type="triangle" w="med" len="med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E6233C-53D0-48BE-BAE4-DDE4579F9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F3B"/>
                </a:solidFill>
                <a:latin typeface="Arial"/>
                <a:ea typeface="Arial"/>
                <a:cs typeface="Arial"/>
              </a:rPr>
              <a:t>D: install in integration_test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1B4E1A-B282-4FAE-9DBB-855216DED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428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36B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D2C299-6B2A-4438-8A82-416F0D289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76375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5F63"/>
                </a:solidFill>
                <a:latin typeface="Arial"/>
                <a:ea typeface="Arial"/>
                <a:cs typeface="Arial"/>
              </a:rPr>
              <a:t>bash scripts/cicd-walkthrough-D_integration_test.sh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C52410-269C-4CEF-B18E-0200A7F2D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71750"/>
            <a:ext cx="4953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14288">
            <a:solidFill>
              <a:srgbClr val="AAB9BE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195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95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F3B"/>
                </a:solidFill>
                <a:latin typeface="Arial"/>
                <a:ea typeface="Arial"/>
                <a:cs typeface="Arial"/>
              </a:rPr>
              <a:t>Inspect the archive</a:t>
            </a:r>
          </a:p>
          <a:p xmlns:a="http://schemas.openxmlformats.org/drawingml/2006/main">
            <a:pPr algn="ctr">
              <a:defRPr sz="195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F3B"/>
                </a:solidFill>
                <a:latin typeface="Arial"/>
                <a:ea typeface="Arial"/>
                <a:cs typeface="Arial"/>
              </a:rPr>
              <a:t>Hash, members and source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BB31EE-4712-41CC-9A4B-E4A1B951A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571750"/>
            <a:ext cx="4953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14288">
            <a:solidFill>
              <a:srgbClr val="AAB9BE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195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95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F3B"/>
                </a:solidFill>
                <a:latin typeface="Arial"/>
                <a:ea typeface="Arial"/>
                <a:cs typeface="Arial"/>
              </a:rPr>
              <a:t>Admit the target</a:t>
            </a:r>
          </a:p>
          <a:p xmlns:a="http://schemas.openxmlformats.org/drawingml/2006/main">
            <a:pPr algn="ctr">
              <a:defRPr sz="195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F3B"/>
                </a:solidFill>
                <a:latin typeface="Arial"/>
                <a:ea typeface="Arial"/>
                <a:cs typeface="Arial"/>
              </a:rPr>
              <a:t>Owned attempt and epoch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25B35D-9520-4A32-AC82-7B6FAECB5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143375"/>
            <a:ext cx="4953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14288">
            <a:solidFill>
              <a:srgbClr val="AAB9BE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195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95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F3B"/>
                </a:solidFill>
                <a:latin typeface="Arial"/>
                <a:ea typeface="Arial"/>
                <a:cs typeface="Arial"/>
              </a:rPr>
              <a:t>Apply migrations</a:t>
            </a:r>
          </a:p>
          <a:p xmlns:a="http://schemas.openxmlformats.org/drawingml/2006/main">
            <a:pPr algn="ctr">
              <a:defRPr sz="195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F3B"/>
                </a:solidFill>
                <a:latin typeface="Arial"/>
                <a:ea typeface="Arial"/>
                <a:cs typeface="Arial"/>
              </a:rPr>
              <a:t>SQLcl Liquibase checks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069EB2-10F7-4676-9D59-6D08A472B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143375"/>
            <a:ext cx="4953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14288">
            <a:solidFill>
              <a:srgbClr val="AAB9BE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195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95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F3B"/>
                </a:solidFill>
                <a:latin typeface="Arial"/>
                <a:ea typeface="Arial"/>
                <a:cs typeface="Arial"/>
              </a:rPr>
              <a:t>Import native APEX source</a:t>
            </a:r>
          </a:p>
          <a:p xmlns:a="http://schemas.openxmlformats.org/drawingml/2006/main">
            <a:pPr algn="ctr">
              <a:defRPr sz="195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F3B"/>
                </a:solidFill>
                <a:latin typeface="Arial"/>
                <a:ea typeface="Arial"/>
                <a:cs typeface="Arial"/>
              </a:rPr>
              <a:t>Application 810004 stays blocked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EF0BC5-464D-423A-B54D-EAEA464C7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619750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Source comes from the Git-built archive. No live export from C and no copied developer data.</a:t>
            </a:r>
          </a:p>
        </p:txBody>
      </p:sp>
    </p:spTree>
    <p:extLst>
      <p:ext uri="{BB962C8B-B14F-4D97-AF65-F5344CB8AC3E}">
        <p14:creationId xmlns:p14="http://schemas.microsoft.com/office/powerpoint/2010/main" val="163063578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A82FD4-7D59-4647-8B00-AFBE03F2D070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7667625" y="2309813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35F63"/>
            </a:solidFill>
            <a:tailEnd type="triangle" w="med" len="med"/>
          </a:ln>
        </p:spPr>
      </p:cxnSp>
      <p:cxnSp>
        <p:nvCxn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05B47E-4B10-4D3B-ABB4-7444C2AF1B51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3810000" y="2309813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35F63"/>
            </a:solidFill>
            <a:tailEnd type="triangle" w="med" len="med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3DDDA6-4055-452C-9126-A01E00C5A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F3B"/>
                </a:solidFill>
                <a:latin typeface="Arial"/>
                <a:ea typeface="Arial"/>
                <a:cs typeface="Arial"/>
              </a:rPr>
              <a:t>D: verify before publication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7158A3-FB0C-40BC-9B99-DFB7BA3C3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428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36B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D6A32E-50BD-4ECE-BA76-9B9F9C222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809750"/>
            <a:ext cx="3190875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14288">
            <a:solidFill>
              <a:srgbClr val="AAB9BE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2025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025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F3B"/>
                </a:solidFill>
                <a:latin typeface="Arial"/>
                <a:ea typeface="Arial"/>
                <a:cs typeface="Arial"/>
              </a:rPr>
              <a:t>Automated integrity</a:t>
            </a:r>
          </a:p>
          <a:p xmlns:a="http://schemas.openxmlformats.org/drawingml/2006/main">
            <a:pPr algn="ctr">
              <a:defRPr sz="2025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F3B"/>
                </a:solidFill>
                <a:latin typeface="Arial"/>
                <a:ea typeface="Arial"/>
                <a:cs typeface="Arial"/>
              </a:rPr>
              <a:t>and unit checks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DA3D8B-8FD8-4DE3-BCBF-98910BD47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809750"/>
            <a:ext cx="3190875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14288">
            <a:solidFill>
              <a:srgbClr val="AAB9BE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2025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025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F3B"/>
                </a:solidFill>
                <a:latin typeface="Arial"/>
                <a:ea typeface="Arial"/>
                <a:cs typeface="Arial"/>
              </a:rPr>
              <a:t>VERIFIER browser check</a:t>
            </a:r>
          </a:p>
          <a:p xmlns:a="http://schemas.openxmlformats.org/drawingml/2006/main">
            <a:pPr algn="ctr">
              <a:defRPr sz="2025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F3B"/>
                </a:solidFill>
                <a:latin typeface="Arial"/>
                <a:ea typeface="Arial"/>
                <a:cs typeface="Arial"/>
              </a:rPr>
              <a:t>Save Hello World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6CE9C5-1474-433A-9BA6-32AB5F3CD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809750"/>
            <a:ext cx="3190875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14288">
            <a:solidFill>
              <a:srgbClr val="AAB9BE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2025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025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F3B"/>
                </a:solidFill>
                <a:latin typeface="Arial"/>
                <a:ea typeface="Arial"/>
                <a:cs typeface="Arial"/>
              </a:rPr>
              <a:t>Publish ready state</a:t>
            </a:r>
          </a:p>
          <a:p xmlns:a="http://schemas.openxmlformats.org/drawingml/2006/main">
            <a:pPr algn="ctr">
              <a:defRPr sz="2025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F3B"/>
                </a:solidFill>
                <a:latin typeface="Arial"/>
                <a:ea typeface="Arial"/>
                <a:cs typeface="Arial"/>
              </a:rPr>
              <a:t>Fingerprint + receipt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2E9078-F365-49A9-A39A-DD02E9E43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52425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5F63"/>
                </a:solidFill>
                <a:latin typeface="Arial"/>
                <a:ea typeface="Arial"/>
                <a:cs typeface="Arial"/>
              </a:rPr>
              <a:t>python3 scripts/cicd-password.py VERIFIER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54053E-4F3A-47B9-BC5C-E0FF738A6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333875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35F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35F6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35F63"/>
                </a:solidFill>
                <a:latin typeface="Arial"/>
                <a:ea typeface="Arial"/>
                <a:cs typeface="Arial"/>
              </a:rPr>
              <a:t>Open http://127.0.0.1:8080/ords/f?p=810004:1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A82A91-2C46-41D1-B2A0-6F055AAAF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95875"/>
            <a:ext cx="10858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A missing required greeting repeats the verification prompt.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D74E32-2AF2-410F-80AB-CEE12311A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15000"/>
            <a:ext cx="10858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After publication, LAB_USER can use the complete application.</a:t>
            </a:r>
          </a:p>
        </p:txBody>
      </p:sp>
    </p:spTree>
    <p:extLst>
      <p:ext uri="{BB962C8B-B14F-4D97-AF65-F5344CB8AC3E}">
        <p14:creationId xmlns:p14="http://schemas.microsoft.com/office/powerpoint/2010/main" val="126698219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E036B5-654A-45F4-8D1C-6CFF87E4861E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5095875" y="3381375"/>
            <a:ext cx="20002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35F63"/>
            </a:solidFill>
            <a:tailEnd type="triangle" w="med" len="me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20176B-4BEB-44C1-9B69-ECD70E4A8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F3B"/>
                </a:solidFill>
                <a:latin typeface="Arial"/>
                <a:ea typeface="Arial"/>
                <a:cs typeface="Arial"/>
              </a:rPr>
              <a:t>E: promote the same initial archive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10C4D7-F9F6-4A12-BF44-056147D85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428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36B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E91ACF-C589-4892-929E-2D727FFD4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71625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5F63"/>
                </a:solidFill>
                <a:latin typeface="Arial"/>
                <a:ea typeface="Arial"/>
                <a:cs typeface="Arial"/>
              </a:rPr>
              <a:t>bash scripts/cicd-walkthrough-E_promotion.sh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7CF836-AB60-4229-B45D-29365F442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62250"/>
            <a:ext cx="414337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14288">
            <a:solidFill>
              <a:srgbClr val="AAB9BE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210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10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72F3B"/>
                </a:solidFill>
                <a:latin typeface="Arial"/>
                <a:ea typeface="Arial"/>
                <a:cs typeface="Arial"/>
              </a:rPr>
              <a:t>integration_test</a:t>
            </a:r>
          </a:p>
          <a:p xmlns:a="http://schemas.openxmlformats.org/drawingml/2006/main">
            <a:pPr algn="ctr">
              <a:defRPr sz="210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72F3B"/>
                </a:solidFill>
                <a:latin typeface="Arial"/>
                <a:ea typeface="Arial"/>
                <a:cs typeface="Arial"/>
              </a:rPr>
              <a:t>Successful 1.0.0 receipt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8FD152-9C65-4DAA-A1F4-1EBA955FC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762250"/>
            <a:ext cx="414337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14288">
            <a:solidFill>
              <a:srgbClr val="AAB9BE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210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10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72F3B"/>
                </a:solidFill>
                <a:latin typeface="Arial"/>
                <a:ea typeface="Arial"/>
                <a:cs typeface="Arial"/>
              </a:rPr>
              <a:t>user_acceptance_test</a:t>
            </a:r>
          </a:p>
          <a:p xmlns:a="http://schemas.openxmlformats.org/drawingml/2006/main">
            <a:pPr algn="ctr">
              <a:defRPr sz="210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72F3B"/>
                </a:solidFill>
                <a:latin typeface="Arial"/>
                <a:ea typeface="Arial"/>
                <a:cs typeface="Arial"/>
              </a:rPr>
              <a:t>Same archive hash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EFFDCC-F70C-4DDC-89EE-FCFAFECAD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7625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UAT application 810005 becomes available to LAB_USER.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A543F2-FD34-493E-BBA5-CACC11FD3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5245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Capture the field-level history/configuration baseline for F.</a:t>
            </a:r>
          </a:p>
        </p:txBody>
      </p:sp>
    </p:spTree>
    <p:extLst>
      <p:ext uri="{BB962C8B-B14F-4D97-AF65-F5344CB8AC3E}">
        <p14:creationId xmlns:p14="http://schemas.microsoft.com/office/powerpoint/2010/main" val="24596442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222B08-D497-46E1-BF2F-D0F6B9633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F3B"/>
                </a:solidFill>
                <a:latin typeface="Arial"/>
                <a:ea typeface="Arial"/>
                <a:cs typeface="Arial"/>
              </a:rPr>
              <a:t>F: Hello 1.0.1 with preserved history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729639-CAD3-4CE0-94DD-444A39071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428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36B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F319F9-C0AA-43B4-B9D2-23F55D449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76375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5F63"/>
                </a:solidFill>
                <a:latin typeface="Arial"/>
                <a:ea typeface="Arial"/>
                <a:cs typeface="Arial"/>
              </a:rPr>
              <a:t>bash scripts/cicd-walkthrough-F_hello_patch.sh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349F77-CE2D-48AF-BD12-9FDC1F17E34B}"/>
              </a:ext>
            </a:extLst>
          </p:cNvPr>
          <p:cNvGraphicFramePr/>
          <p:nvPr/>
        </p:nvGraphicFramePr>
        <p:xfrm>
          <a:off xmlns:a="http://schemas.openxmlformats.org/drawingml/2006/main" x="619125" y="2524125"/>
          <a:ext xmlns:a="http://schemas.openxmlformats.org/drawingml/2006/main" cx="10858500" cy="2428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619500"/>
                <a:gridCol w="3619500"/>
                <a:gridCol w="3619500"/>
              </a:tblGrid>
              <a:tr h="607219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Component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AAB9BE"/>
                      </a:solidFill>
                      <a:prstDash val="solid"/>
                    </a:lnL>
                    <a:lnR w="9525">
                      <a:solidFill>
                        <a:srgbClr val="AAB9BE"/>
                      </a:solidFill>
                      <a:prstDash val="solid"/>
                    </a:lnR>
                    <a:lnT w="9525">
                      <a:solidFill>
                        <a:srgbClr val="AAB9BE"/>
                      </a:solidFill>
                      <a:prstDash val="solid"/>
                    </a:lnT>
                    <a:lnB w="9525">
                      <a:solidFill>
                        <a:srgbClr val="AAB9BE"/>
                      </a:solidFill>
                      <a:prstDash val="solid"/>
                    </a:lnB>
                    <a:solidFill>
                      <a:srgbClr val="172F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Before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AAB9BE"/>
                      </a:solidFill>
                      <a:prstDash val="solid"/>
                    </a:lnR>
                    <a:lnT w="9525">
                      <a:solidFill>
                        <a:srgbClr val="AAB9BE"/>
                      </a:solidFill>
                      <a:prstDash val="solid"/>
                    </a:lnT>
                    <a:lnB w="9525">
                      <a:solidFill>
                        <a:srgbClr val="AAB9BE"/>
                      </a:solidFill>
                      <a:prstDash val="solid"/>
                    </a:lnB>
                    <a:solidFill>
                      <a:srgbClr val="172F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After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AAB9BE"/>
                      </a:solidFill>
                      <a:prstDash val="solid"/>
                    </a:lnR>
                    <a:lnT w="9525">
                      <a:solidFill>
                        <a:srgbClr val="AAB9BE"/>
                      </a:solidFill>
                      <a:prstDash val="solid"/>
                    </a:lnT>
                    <a:lnB w="9525">
                      <a:solidFill>
                        <a:srgbClr val="AAB9BE"/>
                      </a:solidFill>
                      <a:prstDash val="solid"/>
                    </a:lnB>
                    <a:solidFill>
                      <a:srgbClr val="172F3B"/>
                    </a:solidFill>
                  </a:tcPr>
                </a:tc>
              </a:tr>
              <a:tr h="607219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F3B"/>
                          </a:solidFill>
                          <a:latin typeface="Arial"/>
                          <a:ea typeface="Arial"/>
                          <a:cs typeface="Arial"/>
                        </a:rPr>
                        <a:t>Foundation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AAB9BE"/>
                      </a:solidFill>
                      <a:prstDash val="solid"/>
                    </a:lnL>
                    <a:lnR w="9525">
                      <a:solidFill>
                        <a:srgbClr val="AAB9BE"/>
                      </a:solidFill>
                      <a:prstDash val="solid"/>
                    </a:lnR>
                    <a:lnB w="9525">
                      <a:solidFill>
                        <a:srgbClr val="AAB9B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F3B"/>
                          </a:solidFill>
                          <a:latin typeface="Arial"/>
                          <a:ea typeface="Arial"/>
                          <a:cs typeface="Arial"/>
                        </a:rPr>
                        <a:t>1.0.0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AAB9BE"/>
                      </a:solidFill>
                      <a:prstDash val="solid"/>
                    </a:lnR>
                    <a:lnB w="9525">
                      <a:solidFill>
                        <a:srgbClr val="AAB9B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F3B"/>
                          </a:solidFill>
                          <a:latin typeface="Arial"/>
                          <a:ea typeface="Arial"/>
                          <a:cs typeface="Arial"/>
                        </a:rPr>
                        <a:t>1.0.0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AAB9BE"/>
                      </a:solidFill>
                      <a:prstDash val="solid"/>
                    </a:lnR>
                    <a:lnB w="9525">
                      <a:solidFill>
                        <a:srgbClr val="AAB9B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7219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72F3B"/>
                          </a:solidFill>
                          <a:latin typeface="Arial"/>
                          <a:ea typeface="Arial"/>
                          <a:cs typeface="Arial"/>
                        </a:rPr>
                        <a:t>Hello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AAB9BE"/>
                      </a:solidFill>
                      <a:prstDash val="solid"/>
                    </a:lnL>
                    <a:lnR w="9525">
                      <a:solidFill>
                        <a:srgbClr val="AAB9BE"/>
                      </a:solidFill>
                      <a:prstDash val="solid"/>
                    </a:lnR>
                    <a:lnB w="9525">
                      <a:solidFill>
                        <a:srgbClr val="AAB9B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72F3B"/>
                          </a:solidFill>
                          <a:latin typeface="Arial"/>
                          <a:ea typeface="Arial"/>
                          <a:cs typeface="Arial"/>
                        </a:rPr>
                        <a:t>1.0.0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AAB9BE"/>
                      </a:solidFill>
                      <a:prstDash val="solid"/>
                    </a:lnR>
                    <a:lnB w="9525">
                      <a:solidFill>
                        <a:srgbClr val="AAB9B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72F3B"/>
                          </a:solidFill>
                          <a:latin typeface="Arial"/>
                          <a:ea typeface="Arial"/>
                          <a:cs typeface="Arial"/>
                        </a:rPr>
                        <a:t>1.0.1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AAB9BE"/>
                      </a:solidFill>
                      <a:prstDash val="solid"/>
                    </a:lnR>
                    <a:lnB w="9525">
                      <a:solidFill>
                        <a:srgbClr val="AAB9B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7219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F3B"/>
                          </a:solidFill>
                          <a:latin typeface="Arial"/>
                          <a:ea typeface="Arial"/>
                          <a:cs typeface="Arial"/>
                        </a:rPr>
                        <a:t>World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AAB9BE"/>
                      </a:solidFill>
                      <a:prstDash val="solid"/>
                    </a:lnL>
                    <a:lnR w="9525">
                      <a:solidFill>
                        <a:srgbClr val="AAB9BE"/>
                      </a:solidFill>
                      <a:prstDash val="solid"/>
                    </a:lnR>
                    <a:lnB w="9525">
                      <a:solidFill>
                        <a:srgbClr val="AAB9B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F3B"/>
                          </a:solidFill>
                          <a:latin typeface="Arial"/>
                          <a:ea typeface="Arial"/>
                          <a:cs typeface="Arial"/>
                        </a:rPr>
                        <a:t>1.0.0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AAB9BE"/>
                      </a:solidFill>
                      <a:prstDash val="solid"/>
                    </a:lnR>
                    <a:lnB w="9525">
                      <a:solidFill>
                        <a:srgbClr val="AAB9B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F3B"/>
                          </a:solidFill>
                          <a:latin typeface="Arial"/>
                          <a:ea typeface="Arial"/>
                          <a:cs typeface="Arial"/>
                        </a:rPr>
                        <a:t>1.0.0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AAB9BE"/>
                      </a:solidFill>
                      <a:prstDash val="solid"/>
                    </a:lnR>
                    <a:lnB w="9525">
                      <a:solidFill>
                        <a:srgbClr val="AAB9B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AF40A9-EA78-41FA-BD92-A26BECE62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238750"/>
            <a:ext cx="10858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Integration test checks fresh install and upgrade from 1.0.0.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0B1252-CC05-4D8B-AFBF-67DFFCAC5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857875"/>
            <a:ext cx="10858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The same patch archive upgrades UAT. All 21 baseline history rows and settings remain unchanged.</a:t>
            </a:r>
          </a:p>
        </p:txBody>
      </p:sp>
    </p:spTree>
    <p:extLst>
      <p:ext uri="{BB962C8B-B14F-4D97-AF65-F5344CB8AC3E}">
        <p14:creationId xmlns:p14="http://schemas.microsoft.com/office/powerpoint/2010/main" val="146115536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BF63F1-117C-47EA-B702-4FF94AA6A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F3B"/>
                </a:solidFill>
                <a:latin typeface="Arial"/>
                <a:ea typeface="Arial"/>
                <a:cs typeface="Arial"/>
              </a:rPr>
              <a:t>G: reject a known incompatibility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42AC2D-B4A5-4590-A849-8E64C558D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428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36B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3A1128-7218-4879-BD34-4261A1351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76375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35F63"/>
                </a:solidFill>
                <a:latin typeface="Arial"/>
                <a:ea typeface="Arial"/>
                <a:cs typeface="Arial"/>
              </a:rPr>
              <a:t>bash scripts/cicd-walkthrough-G_incompatible_upgrade.sh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B84620-A4AF-4531-AABD-28FAE7162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24125"/>
            <a:ext cx="10858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Proposal: Foundation 2.0.0 with Hello 1.0.1 and World 1.0.0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6CC7BD-986E-4D73-8A34-F80E69154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333750"/>
            <a:ext cx="10858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Hello and World still declare Foundation 1.0.0 as required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500DF9-C446-4B1E-BD8F-447FAFAE9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238625"/>
            <a:ext cx="10858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A432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A4322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A43224"/>
                </a:solidFill>
                <a:latin typeface="Arial"/>
                <a:ea typeface="Arial"/>
                <a:cs typeface="Arial"/>
              </a:rPr>
              <a:t>REJECTED INCOMPATIBLE:</a:t>
            </a:r>
          </a:p>
          <a:p xmlns:a="http://schemas.openxmlformats.org/drawingml/2006/main">
            <a:pPr>
              <a:defRPr sz="2175" b="1">
                <a:solidFill>
                  <a:srgbClr val="A4322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A43224"/>
                </a:solidFill>
                <a:latin typeface="Arial"/>
                <a:ea typeface="Arial"/>
                <a:cs typeface="Arial"/>
              </a:rPr>
              <a:t>Hello requires Foundation 1.0.0; proposed Foundation 2.0.0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270B4B-8EE9-4083-8335-153E26CCF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524500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Stops before maintenance, migration or import. Target and release records remain unchanged.</a:t>
            </a:r>
          </a:p>
        </p:txBody>
      </p:sp>
    </p:spTree>
    <p:extLst>
      <p:ext uri="{BB962C8B-B14F-4D97-AF65-F5344CB8AC3E}">
        <p14:creationId xmlns:p14="http://schemas.microsoft.com/office/powerpoint/2010/main" val="515608461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76C9DE-D1AB-4677-B6DB-31B1501D4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F3B"/>
                </a:solidFill>
                <a:latin typeface="Arial"/>
                <a:ea typeface="Arial"/>
                <a:cs typeface="Arial"/>
              </a:rPr>
              <a:t>H: one drift check, three situations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144181-2ED7-40FA-8910-50738F1FC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428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36B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03CE3A-FF68-4A49-B984-842EE1126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2400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5F63"/>
                </a:solidFill>
                <a:latin typeface="Arial"/>
                <a:ea typeface="Arial"/>
                <a:cs typeface="Arial"/>
              </a:rPr>
              <a:t>bash scripts/cicd-protection-check.sh drift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502099-450B-4CFE-A52E-593F7EF5F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67000"/>
            <a:ext cx="108585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1. Before an edit: NO DRIFT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589824-74F3-483B-87E6-84653EB17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571875"/>
            <a:ext cx="108585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2. After a real Page Designer save: DETECTED DRIFT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002F2E-45B0-4487-80F2-4D1D44155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476750"/>
            <a:ext cx="108585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3. After the scripted fixture: DETECTED DRIFT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32C8D7-78D1-41B9-A458-5F36F4346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619750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Restore the original definition between cases. The check never overwrites the edit.</a:t>
            </a:r>
          </a:p>
        </p:txBody>
      </p:sp>
    </p:spTree>
    <p:extLst>
      <p:ext uri="{BB962C8B-B14F-4D97-AF65-F5344CB8AC3E}">
        <p14:creationId xmlns:p14="http://schemas.microsoft.com/office/powerpoint/2010/main" val="82923162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A46286-461D-47E2-99F3-F6BC6E4B5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F3B"/>
                </a:solidFill>
                <a:latin typeface="Arial"/>
                <a:ea typeface="Arial"/>
                <a:cs typeface="Arial"/>
              </a:rPr>
              <a:t>H: inspect the changed source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334B7A-B933-44C4-9488-332A2A700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428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36B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676A6A-674A-4EA6-A15C-C6A8322F5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76375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5F63"/>
                </a:solidFill>
                <a:latin typeface="Arial"/>
                <a:ea typeface="Arial"/>
                <a:cs typeface="Arial"/>
              </a:rPr>
              <a:t>bash scripts/cicd-protection-check.sh drift --show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9AF568-BC18-4FDF-9D19-8510F6DBC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24125"/>
            <a:ext cx="476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35F63"/>
                </a:solidFill>
                <a:latin typeface="Arial"/>
                <a:ea typeface="Arial"/>
                <a:cs typeface="Arial"/>
              </a:rPr>
              <a:t>Published code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0298AD-9CD9-42F0-93E7-5ADB4F74D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524125"/>
            <a:ext cx="476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BC4B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BC4B35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BC4B35"/>
                </a:solidFill>
                <a:latin typeface="Arial"/>
                <a:ea typeface="Arial"/>
                <a:cs typeface="Arial"/>
              </a:rPr>
              <a:t>Live edit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74CD13-ED62-4B01-A7C0-96B36ACBE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333750"/>
            <a:ext cx="4762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Page title</a:t>
            </a:r>
          </a:p>
          <a:p xmlns:a="http://schemas.openxmlformats.org/drawingml/2006/main">
            <a: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APEX Delivery Laboratory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Region name</a:t>
            </a:r>
          </a:p>
          <a:p xmlns:a="http://schemas.openxmlformats.org/drawingml/2006/main">
            <a: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APEX Delivery Laboratory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DF337C-C955-4A78-952A-E0002060D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333750"/>
            <a:ext cx="4762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Page title</a:t>
            </a:r>
          </a:p>
          <a:p xmlns:a="http://schemas.openxmlformats.org/drawingml/2006/main">
            <a: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Manual drift demonstration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Region name</a:t>
            </a:r>
          </a:p>
          <a:p xmlns:a="http://schemas.openxmlformats.org/drawingml/2006/main">
            <a: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APEX Delivery XX Laboratory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FBFCB9-FA1D-4117-84BA-76AE79199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810250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The command preserves both source trees and complete diffs. No restoration occurs.</a:t>
            </a:r>
          </a:p>
        </p:txBody>
      </p:sp>
    </p:spTree>
    <p:extLst>
      <p:ext uri="{BB962C8B-B14F-4D97-AF65-F5344CB8AC3E}">
        <p14:creationId xmlns:p14="http://schemas.microsoft.com/office/powerpoint/2010/main" val="196979554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06F6C1-9A97-426E-B1FC-A5B4608B1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F3B"/>
                </a:solidFill>
                <a:latin typeface="Arial"/>
                <a:ea typeface="Arial"/>
                <a:cs typeface="Arial"/>
              </a:rPr>
              <a:t>H: the Product Owner chooses restoration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40B26E-29A3-4D10-B290-4491C4576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428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36B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A3239E-5900-4428-89F8-4C712125B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66875"/>
            <a:ext cx="10858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Undo: restore the published Title and region Name in Page Designer, then Save.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FCA252-9EB3-4B10-BCAF-9754B6451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714625"/>
            <a:ext cx="10858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Keep: retain the export, capture/review it in Git and deliver a new release.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EFCBA4-C527-4203-889E-896CA4600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762375"/>
            <a:ext cx="10858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Deployment remains blocked while unexpected drift remains.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B4A69F-3022-4A26-9AB9-3C1454D2C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00625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5F63"/>
                </a:solidFill>
                <a:latin typeface="Arial"/>
                <a:ea typeface="Arial"/>
                <a:cs typeface="Arial"/>
              </a:rPr>
              <a:t>bash scripts/cicd-protection-check.sh drift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E26C8F-900E-491C-86F9-EE11FDD39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62625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235F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35F6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35F63"/>
                </a:solidFill>
                <a:latin typeface="Arial"/>
                <a:ea typeface="Arial"/>
                <a:cs typeface="Arial"/>
              </a:rPr>
              <a:t>Restoration passes only when the check returns NO DRIFT against the original receipt.</a:t>
            </a:r>
          </a:p>
        </p:txBody>
      </p:sp>
    </p:spTree>
    <p:extLst>
      <p:ext uri="{BB962C8B-B14F-4D97-AF65-F5344CB8AC3E}">
        <p14:creationId xmlns:p14="http://schemas.microsoft.com/office/powerpoint/2010/main" val="164395760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0B1117-8B25-4844-9A8D-AF4CA7A46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F3B"/>
                </a:solidFill>
                <a:latin typeface="Arial"/>
                <a:ea typeface="Arial"/>
                <a:cs typeface="Arial"/>
              </a:rPr>
              <a:t>Verification and recovery limits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317540-0C89-420C-9AE9-6A8E777E1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428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36B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BF5845-BBD6-473F-A447-DA706B089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66875"/>
            <a:ext cx="10858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Missing VERIFIER greeting: publication stops, then the prompt allows correction.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5AC690-53F8-4043-BDC0-AC08A6D32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714625"/>
            <a:ext cx="10858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Post-publication fixture failure: delivery stays successful and history stays saved.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6E6FFB-26DB-4C3F-A999-8D968607C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762375"/>
            <a:ext cx="10858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A bounded continuation resumes the matching checkpoint without reinstalling.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9FACBF-B678-419D-B624-878EA0470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14350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35F63"/>
                </a:solidFill>
                <a:latin typeface="Arial"/>
                <a:ea typeface="Arial"/>
                <a:cs typeface="Arial"/>
              </a:rPr>
              <a:t>bash scripts/cicd-walkthrough-E_promotion.sh --resume-examples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24D8D3-BC9D-4F5E-9628-2D52E0541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857875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A432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A4322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A43224"/>
                </a:solidFill>
                <a:latin typeface="Arial"/>
                <a:ea typeface="Arial"/>
                <a:cs typeface="Arial"/>
              </a:rPr>
              <a:t>These operator continuations do not prove automated repair of a failed database migration.</a:t>
            </a:r>
          </a:p>
        </p:txBody>
      </p:sp>
    </p:spTree>
    <p:extLst>
      <p:ext uri="{BB962C8B-B14F-4D97-AF65-F5344CB8AC3E}">
        <p14:creationId xmlns:p14="http://schemas.microsoft.com/office/powerpoint/2010/main" val="1975051537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172F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BC6E00-50C8-4458-BA96-7D43A68AB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Evidence and remaining work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A21B22-FEE8-4F1E-BE80-DC59B2618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428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C8D7D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C8D7D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C8D7DC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BCBE30-DC66-4D36-8E27-E5E0C7876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286000"/>
            <a:ext cx="10763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selected journey works.</a:t>
            </a:r>
          </a:p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broader architecture still needs proof.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65EF09-364F-4500-8AED-ED9D03168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905375"/>
            <a:ext cx="10763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DCE7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DCE7E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DCE7EB"/>
                </a:solidFill>
                <a:latin typeface="Arial"/>
                <a:ea typeface="Arial"/>
                <a:cs typeface="Arial"/>
              </a:rPr>
              <a:t>Prototype results and full sprint acceptance are separate decisions</a:t>
            </a:r>
          </a:p>
        </p:txBody>
      </p:sp>
    </p:spTree>
    <p:extLst>
      <p:ext uri="{BB962C8B-B14F-4D97-AF65-F5344CB8AC3E}">
        <p14:creationId xmlns:p14="http://schemas.microsoft.com/office/powerpoint/2010/main" val="2124964100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A70A9F-5234-40E3-9BF5-357CB088F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F3B"/>
                </a:solidFill>
                <a:latin typeface="Arial"/>
                <a:ea typeface="Arial"/>
                <a:cs typeface="Arial"/>
              </a:rPr>
              <a:t>Delivered evidence and official status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EEF2F6-224D-4745-8460-39F255831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428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36B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B3CCE7-F98A-4A58-90E5-0551183A2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19250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PBI-011.1 and 011.3: tested on the board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DFBA9D-2860-47EE-9644-2C55D2836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476500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PBI-011.2, 011.4, 011.6 and 011.7: under construction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9A8CB5-1DB0-4ACC-88F1-C3DECFBEA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333750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PBI-011.5: under construction, with concurrent integration still unproved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668E88-D6D2-45F8-986C-1FABCCF30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191000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PBI-011.8: failed additive deployment and repair remain unimplemented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883E5A-E114-474D-B96C-E5939A48A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429250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A432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A43224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43224"/>
                </a:solidFill>
                <a:latin typeface="Arial"/>
                <a:ea typeface="Arial"/>
                <a:cs typeface="Arial"/>
              </a:rPr>
              <a:t>PBI-012–016 remain under_design. This handover proposes conclusions and follow-up, not status changes.</a:t>
            </a:r>
          </a:p>
        </p:txBody>
      </p:sp>
    </p:spTree>
    <p:extLst>
      <p:ext uri="{BB962C8B-B14F-4D97-AF65-F5344CB8AC3E}">
        <p14:creationId xmlns:p14="http://schemas.microsoft.com/office/powerpoint/2010/main" val="764239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795D84-4A7B-464F-BE8E-F537D4334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F3B"/>
                </a:solidFill>
                <a:latin typeface="Arial"/>
                <a:ea typeface="Arial"/>
                <a:cs typeface="Arial"/>
              </a:rPr>
              <a:t>The remaining Elaboration proofs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D8F151-A05A-4656-BFDF-CCF576FDC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428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36B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21473A-5519-4FC3-B4CF-1697A3CBB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19250"/>
            <a:ext cx="10858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Atomic contention: synchronized Hello competitors, exactly one winner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2742DB-BC38-496B-98F5-8081F890F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47950"/>
            <a:ext cx="10858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Parallel work: independent Hello/World contributions and safe integration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126A98-24B2-4394-8911-373455AB5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676650"/>
            <a:ext cx="10858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Maintenance: stale workers, in-flight sessions and verifier revocation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6D3EBB-0554-4CB6-871F-4A6B69B99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705350"/>
            <a:ext cx="10858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Recovery: schema drift and one failed additive deployment with history-preserving repair</a:t>
            </a:r>
          </a:p>
        </p:txBody>
      </p:sp>
    </p:spTree>
    <p:extLst>
      <p:ext uri="{BB962C8B-B14F-4D97-AF65-F5344CB8AC3E}">
        <p14:creationId xmlns:p14="http://schemas.microsoft.com/office/powerpoint/2010/main" val="466179017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B778BC-56D4-420B-A604-A500AA455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F3B"/>
                </a:solidFill>
                <a:latin typeface="Arial"/>
                <a:ea typeface="Arial"/>
                <a:cs typeface="Arial"/>
              </a:rPr>
              <a:t>Recommended next step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541AE5-5000-472D-B6D8-3324EE9CF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428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36B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0F4ECC-0C80-4C31-9854-E179376B4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762125"/>
            <a:ext cx="10858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Retain the demonstrated delivery and protection slice as E.1 evidence.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368FED-52CF-4960-8C57-6A57AFF8A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857500"/>
            <a:ext cx="10858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Run one bounded Elaboration follow-up for concurrency, fencing and forward repair.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A21561-34AB-497D-897D-55CE8D74E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952875"/>
            <a:ext cx="10858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Reassess Lifecycle Architecture before committing to full Construction.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2D1DB0-D7BF-4A48-95F8-6BC80AAEC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15000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36B"/>
                </a:solidFill>
                <a:latin typeface="Arial"/>
                <a:ea typeface="Arial"/>
                <a:cs typeface="Arial"/>
              </a:rPr>
              <a:t>A follow-up sprint and revised scope require Product Owner selection. No new sprint is activated here.</a:t>
            </a:r>
          </a:p>
        </p:txBody>
      </p:sp>
    </p:spTree>
    <p:extLst>
      <p:ext uri="{BB962C8B-B14F-4D97-AF65-F5344CB8AC3E}">
        <p14:creationId xmlns:p14="http://schemas.microsoft.com/office/powerpoint/2010/main" val="733766751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172F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5C770F-B4C1-404E-91FF-5FB27897A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Product Owner review decision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19A628-6561-455B-9617-DE4F658B0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428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C8D7D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C8D7D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C8D7DC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60A89A-490E-4622-887C-6F44B285F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05000"/>
            <a:ext cx="10858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Does the handover explain and demonstrate the selected A–H outcomes?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E9870A-37E0-4CC9-BE59-24AF27C28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00375"/>
            <a:ext cx="10858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Should the current manual edit be restored or retained for Git review?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D7B702-CE12-466B-B08E-45B907AE8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95750"/>
            <a:ext cx="10858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Which remaining proofs should the next Elaboration increment prioritize?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A5F534-6AB7-4CF5-AEAE-BCFBC9F22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810250"/>
            <a:ext cx="1076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DCE7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DCE7EB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DCE7EB"/>
                </a:solidFill>
                <a:latin typeface="Arial"/>
                <a:ea typeface="Arial"/>
                <a:cs typeface="Arial"/>
              </a:rPr>
              <a:t>E.1 remains open pending review and scope decisions</a:t>
            </a:r>
          </a:p>
        </p:txBody>
      </p:sp>
    </p:spTree>
    <p:extLst>
      <p:ext uri="{BB962C8B-B14F-4D97-AF65-F5344CB8AC3E}">
        <p14:creationId xmlns:p14="http://schemas.microsoft.com/office/powerpoint/2010/main" val="41320097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2026-10-18T16:02:03.1330000Z</dcterms:created>
  <dcterms:modified xsi:type="dcterms:W3CDTF">2026-10-18T16:02:03.1330000Z</dcterms:modified>
</coreProperties>
</file>
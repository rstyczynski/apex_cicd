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aad2fcc0db42b6" /><Relationship Type="http://schemas.openxmlformats.org/officeDocument/2006/relationships/extended-properties" Target="/docProps/app.xml" Id="R4c8248a7d7f6402f" /><Relationship Type="http://schemas.openxmlformats.org/officeDocument/2006/relationships/officeDocument" Target="/ppt/presentation.xml" Id="R09d48e1f7b104a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254c62ca6c42d7"/>
  </p:sldMasterIdLst>
  <p:notesMasterIdLst>
    <p:notesMasterId xmlns:r="http://schemas.openxmlformats.org/officeDocument/2006/relationships" r:id="R87584d1828f64561"/>
  </p:notesMasterIdLst>
  <p:sldIdLst>
    <p:sldId xmlns:r="http://schemas.openxmlformats.org/officeDocument/2006/relationships" id="256" r:id="R2b4c0485c26d44ad"/>
    <p:sldId xmlns:r="http://schemas.openxmlformats.org/officeDocument/2006/relationships" id="257" r:id="Rcf60abb1da544b2c"/>
    <p:sldId xmlns:r="http://schemas.openxmlformats.org/officeDocument/2006/relationships" id="258" r:id="R9f1a9b90386b4367"/>
    <p:sldId xmlns:r="http://schemas.openxmlformats.org/officeDocument/2006/relationships" id="259" r:id="Rc7fd6c9fa692438e"/>
    <p:sldId xmlns:r="http://schemas.openxmlformats.org/officeDocument/2006/relationships" id="260" r:id="R40e222f2a4b549a3"/>
    <p:sldId xmlns:r="http://schemas.openxmlformats.org/officeDocument/2006/relationships" id="261" r:id="R37bf307896374f3f"/>
    <p:sldId xmlns:r="http://schemas.openxmlformats.org/officeDocument/2006/relationships" id="262" r:id="Rcb6c9cc25864434f"/>
    <p:sldId xmlns:r="http://schemas.openxmlformats.org/officeDocument/2006/relationships" id="263" r:id="Rae1829b3520148a9"/>
    <p:sldId xmlns:r="http://schemas.openxmlformats.org/officeDocument/2006/relationships" id="264" r:id="R21a878c8411e4fae"/>
    <p:sldId xmlns:r="http://schemas.openxmlformats.org/officeDocument/2006/relationships" id="265" r:id="Rffa272e2cf904785"/>
    <p:sldId xmlns:r="http://schemas.openxmlformats.org/officeDocument/2006/relationships" id="266" r:id="R761e132c8ab04af9"/>
    <p:sldId xmlns:r="http://schemas.openxmlformats.org/officeDocument/2006/relationships" id="267" r:id="Ra27220c537744383"/>
    <p:sldId xmlns:r="http://schemas.openxmlformats.org/officeDocument/2006/relationships" id="268" r:id="R56ad986bb806414a"/>
    <p:sldId xmlns:r="http://schemas.openxmlformats.org/officeDocument/2006/relationships" id="269" r:id="R3271b0cdf2d84351"/>
    <p:sldId xmlns:r="http://schemas.openxmlformats.org/officeDocument/2006/relationships" id="270" r:id="Rfb3f884a56a246a8"/>
    <p:sldId xmlns:r="http://schemas.openxmlformats.org/officeDocument/2006/relationships" id="271" r:id="R80bff57849984edf"/>
    <p:sldId xmlns:r="http://schemas.openxmlformats.org/officeDocument/2006/relationships" id="272" r:id="Rae412ef8d5ec4588"/>
    <p:sldId xmlns:r="http://schemas.openxmlformats.org/officeDocument/2006/relationships" id="273" r:id="Rd76f73b31e4e49d6"/>
    <p:sldId xmlns:r="http://schemas.openxmlformats.org/officeDocument/2006/relationships" id="274" r:id="R747244eee6ab47b6"/>
    <p:sldId xmlns:r="http://schemas.openxmlformats.org/officeDocument/2006/relationships" id="275" r:id="R0570dc474cb24212"/>
    <p:sldId xmlns:r="http://schemas.openxmlformats.org/officeDocument/2006/relationships" id="276" r:id="R696a002543cc4833"/>
    <p:sldId xmlns:r="http://schemas.openxmlformats.org/officeDocument/2006/relationships" id="277" r:id="Rb87b79752fb942f2"/>
    <p:sldId xmlns:r="http://schemas.openxmlformats.org/officeDocument/2006/relationships" id="278" r:id="R5a5b38d37d9c48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229ae1a8c647da" /><Relationship Type="http://schemas.openxmlformats.org/officeDocument/2006/relationships/slideMaster" Target="/ppt/slideMasters/slideMaster1.xml" Id="R86254c62ca6c42d7" /><Relationship Type="http://schemas.openxmlformats.org/officeDocument/2006/relationships/notesMaster" Target="/ppt/notesMasters/notesMaster1.xml" Id="R87584d1828f64561" /><Relationship Type="http://schemas.openxmlformats.org/officeDocument/2006/relationships/presProps" Target="/ppt/presProps.xml" Id="R96e4d7a71a524cf7" /><Relationship Type="http://schemas.openxmlformats.org/officeDocument/2006/relationships/tableStyles" Target="/ppt/tableStyles.xml" Id="R4689e03b7fc94cf1" /><Relationship Type="http://schemas.openxmlformats.org/officeDocument/2006/relationships/slide" Target="/ppt/slides/slide1.xml" Id="R2b4c0485c26d44ad" /><Relationship Type="http://schemas.openxmlformats.org/officeDocument/2006/relationships/slide" Target="/ppt/slides/slide2.xml" Id="Rcf60abb1da544b2c" /><Relationship Type="http://schemas.openxmlformats.org/officeDocument/2006/relationships/slide" Target="/ppt/slides/slide3.xml" Id="R9f1a9b90386b4367" /><Relationship Type="http://schemas.openxmlformats.org/officeDocument/2006/relationships/slide" Target="/ppt/slides/slide4.xml" Id="Rc7fd6c9fa692438e" /><Relationship Type="http://schemas.openxmlformats.org/officeDocument/2006/relationships/slide" Target="/ppt/slides/slide5.xml" Id="R40e222f2a4b549a3" /><Relationship Type="http://schemas.openxmlformats.org/officeDocument/2006/relationships/slide" Target="/ppt/slides/slide6.xml" Id="R37bf307896374f3f" /><Relationship Type="http://schemas.openxmlformats.org/officeDocument/2006/relationships/slide" Target="/ppt/slides/slide7.xml" Id="Rcb6c9cc25864434f" /><Relationship Type="http://schemas.openxmlformats.org/officeDocument/2006/relationships/slide" Target="/ppt/slides/slide8.xml" Id="Rae1829b3520148a9" /><Relationship Type="http://schemas.openxmlformats.org/officeDocument/2006/relationships/slide" Target="/ppt/slides/slide9.xml" Id="R21a878c8411e4fae" /><Relationship Type="http://schemas.openxmlformats.org/officeDocument/2006/relationships/slide" Target="/ppt/slides/slide10.xml" Id="Rffa272e2cf904785" /><Relationship Type="http://schemas.openxmlformats.org/officeDocument/2006/relationships/slide" Target="/ppt/slides/slide11.xml" Id="R761e132c8ab04af9" /><Relationship Type="http://schemas.openxmlformats.org/officeDocument/2006/relationships/slide" Target="/ppt/slides/slide12.xml" Id="Ra27220c537744383" /><Relationship Type="http://schemas.openxmlformats.org/officeDocument/2006/relationships/slide" Target="/ppt/slides/slide13.xml" Id="R56ad986bb806414a" /><Relationship Type="http://schemas.openxmlformats.org/officeDocument/2006/relationships/slide" Target="/ppt/slides/slide14.xml" Id="R3271b0cdf2d84351" /><Relationship Type="http://schemas.openxmlformats.org/officeDocument/2006/relationships/slide" Target="/ppt/slides/slide15.xml" Id="Rfb3f884a56a246a8" /><Relationship Type="http://schemas.openxmlformats.org/officeDocument/2006/relationships/slide" Target="/ppt/slides/slide16.xml" Id="R80bff57849984edf" /><Relationship Type="http://schemas.openxmlformats.org/officeDocument/2006/relationships/slide" Target="/ppt/slides/slide17.xml" Id="Rae412ef8d5ec4588" /><Relationship Type="http://schemas.openxmlformats.org/officeDocument/2006/relationships/slide" Target="/ppt/slides/slide18.xml" Id="Rd76f73b31e4e49d6" /><Relationship Type="http://schemas.openxmlformats.org/officeDocument/2006/relationships/slide" Target="/ppt/slides/slide19.xml" Id="R747244eee6ab47b6" /><Relationship Type="http://schemas.openxmlformats.org/officeDocument/2006/relationships/slide" Target="/ppt/slides/slide20.xml" Id="R0570dc474cb24212" /><Relationship Type="http://schemas.openxmlformats.org/officeDocument/2006/relationships/slide" Target="/ppt/slides/slide21.xml" Id="R696a002543cc4833" /><Relationship Type="http://schemas.openxmlformats.org/officeDocument/2006/relationships/slide" Target="/ppt/slides/slide22.xml" Id="Rb87b79752fb942f2" /><Relationship Type="http://schemas.openxmlformats.org/officeDocument/2006/relationships/slide" Target="/ppt/slides/slide23.xml" Id="R5a5b38d37d9c48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7c1da897f348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b818b5833048f2" /><Relationship Type="http://schemas.openxmlformats.org/officeDocument/2006/relationships/notesMaster" Target="/ppt/notesMasters/notesMaster1.xml" Id="Rff42ea7625fc49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c25272fdee4d0e" /><Relationship Type="http://schemas.openxmlformats.org/officeDocument/2006/relationships/notesMaster" Target="/ppt/notesMasters/notesMaster1.xml" Id="R699ed5d5ec674d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500265f10a488d" /><Relationship Type="http://schemas.openxmlformats.org/officeDocument/2006/relationships/notesMaster" Target="/ppt/notesMasters/notesMaster1.xml" Id="R8cf357d8940a4fd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09af8d6a564629" /><Relationship Type="http://schemas.openxmlformats.org/officeDocument/2006/relationships/notesMaster" Target="/ppt/notesMasters/notesMaster1.xml" Id="R674a0e1f69e743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39aef7eaf54ff9" /><Relationship Type="http://schemas.openxmlformats.org/officeDocument/2006/relationships/notesMaster" Target="/ppt/notesMasters/notesMaster1.xml" Id="R76c1692892ff45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b9cfd1d76a4b61" /><Relationship Type="http://schemas.openxmlformats.org/officeDocument/2006/relationships/notesMaster" Target="/ppt/notesMasters/notesMaster1.xml" Id="Rcbc3b90b20c448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ce858289a74d4f" /><Relationship Type="http://schemas.openxmlformats.org/officeDocument/2006/relationships/notesMaster" Target="/ppt/notesMasters/notesMaster1.xml" Id="Rebecc719429144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5c019b425b4b34" /><Relationship Type="http://schemas.openxmlformats.org/officeDocument/2006/relationships/notesMaster" Target="/ppt/notesMasters/notesMaster1.xml" Id="R6214ffbac0f548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3b999d577f4525" /><Relationship Type="http://schemas.openxmlformats.org/officeDocument/2006/relationships/notesMaster" Target="/ppt/notesMasters/notesMaster1.xml" Id="R6d03ac00033b4a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a784bc66cf4427" /><Relationship Type="http://schemas.openxmlformats.org/officeDocument/2006/relationships/notesMaster" Target="/ppt/notesMasters/notesMaster1.xml" Id="R3d4375713a7f47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c6b35ceabed4483" /><Relationship Type="http://schemas.openxmlformats.org/officeDocument/2006/relationships/notesMaster" Target="/ppt/notesMasters/notesMaster1.xml" Id="R14ed51a04921466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34b799febd04dff" /><Relationship Type="http://schemas.openxmlformats.org/officeDocument/2006/relationships/notesMaster" Target="/ppt/notesMasters/notesMaster1.xml" Id="R87701a57242c485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5edd9796f414704" /><Relationship Type="http://schemas.openxmlformats.org/officeDocument/2006/relationships/notesMaster" Target="/ppt/notesMasters/notesMaster1.xml" Id="Ra3bf9fe5e78d4f5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424e0853f7e4ba0" /><Relationship Type="http://schemas.openxmlformats.org/officeDocument/2006/relationships/notesMaster" Target="/ppt/notesMasters/notesMaster1.xml" Id="Rf09101d38bd04e8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9187aba764443c6" /><Relationship Type="http://schemas.openxmlformats.org/officeDocument/2006/relationships/notesMaster" Target="/ppt/notesMasters/notesMaster1.xml" Id="Rca67837af3564f4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d7857cd69fd4f34" /><Relationship Type="http://schemas.openxmlformats.org/officeDocument/2006/relationships/notesMaster" Target="/ppt/notesMasters/notesMaster1.xml" Id="R6cfe49ec8e7c47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d192620e6834dce" /><Relationship Type="http://schemas.openxmlformats.org/officeDocument/2006/relationships/notesMaster" Target="/ppt/notesMasters/notesMaster1.xml" Id="R90a604fb05e7484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18349592fd840bb" /><Relationship Type="http://schemas.openxmlformats.org/officeDocument/2006/relationships/notesMaster" Target="/ppt/notesMasters/notesMaster1.xml" Id="R8bd4e0e90fd4404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a442b49434140e3" /><Relationship Type="http://schemas.openxmlformats.org/officeDocument/2006/relationships/notesMaster" Target="/ppt/notesMasters/notesMaster1.xml" Id="R32f1420b8547484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bc691f0772142e5" /><Relationship Type="http://schemas.openxmlformats.org/officeDocument/2006/relationships/notesMaster" Target="/ppt/notesMasters/notesMaster1.xml" Id="R3a077b0c704a479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a51b2b530b64b63" /><Relationship Type="http://schemas.openxmlformats.org/officeDocument/2006/relationships/notesMaster" Target="/ppt/notesMasters/notesMaster1.xml" Id="Rc817b993dda84e9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2140b3937154224" /><Relationship Type="http://schemas.openxmlformats.org/officeDocument/2006/relationships/notesMaster" Target="/ppt/notesMasters/notesMaster1.xml" Id="Rab9a0480ab984ef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7d9bd19ee734b80" /><Relationship Type="http://schemas.openxmlformats.org/officeDocument/2006/relationships/notesMaster" Target="/ppt/notesMasters/notesMaster1.xml" Id="R7342a31f5df544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progress/E.1/sprint_E.1_design.md; config/areas.json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progress/E.1/model.drawio; progress/E.1/repo_layout.md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'lifecycle', cells dev, git, q, t, packager, build, qarchive, same. Source SHA256 317050eb8f9705de970d64cf1f3f81a1b58a8cdf976ef7239e7c66b2087c0ffe. Full cell labels: dev: Development — A/B/C</a:t>
            </a:r>
          </a:p>
          <a:p xmlns:a="http://schemas.openxmlformats.org/drawingml/2006/main">
            <a:r>
              <a:t>git: Shared source and package</a:t>
            </a:r>
          </a:p>
          <a:p xmlns:a="http://schemas.openxmlformats.org/drawingml/2006/main">
            <a:r>
              <a:t>q: D — integration_test · 810004</a:t>
            </a:r>
          </a:p>
          <a:p xmlns:a="http://schemas.openxmlformats.org/drawingml/2006/main">
            <a:r>
              <a:t>t: E — user_acceptance_test · 810005</a:t>
            </a:r>
          </a:p>
          <a:p xmlns:a="http://schemas.openxmlformats.org/drawingml/2006/main">
            <a:r>
              <a:t>build: Development team releases package</a:t>
            </a:r>
          </a:p>
          <a:p xmlns:a="http://schemas.openxmlformats.org/drawingml/2006/main">
            <a:r>
              <a:t>Accepted Git + candidate evidence</a:t>
            </a:r>
          </a:p>
          <a:p xmlns:a="http://schemas.openxmlformats.org/drawingml/2006/main">
            <a:r>
              <a:t>Build once: archive, manifest, SHA-256</a:t>
            </a:r>
          </a:p>
          <a:p xmlns:a="http://schemas.openxmlformats.org/drawingml/2006/main">
            <a:r>
              <a:t>qarchive: Install and qualify this exact archive</a:t>
            </a:r>
          </a:p>
          <a:p xmlns:a="http://schemas.openxmlformats.org/drawingml/2006/main">
            <a:r>
              <a:t>No developer business data copied</a:t>
            </a:r>
          </a:p>
          <a:p xmlns:a="http://schemas.openxmlformats.org/drawingml/2006/main">
            <a:r>
              <a:t>same: Promote the SAME qualified archive</a:t>
            </a:r>
          </a:p>
          <a:p xmlns:a="http://schemas.openxmlformats.org/drawingml/2006/main">
            <a:r>
              <a:t>Require its successful integration_test receipt</a:t>
            </a:r>
          </a:p>
          <a:p xmlns:a="http://schemas.openxmlformats.org/drawingml/2006/main">
            <a:r>
              <a:t>packager: Packager / verifier — A-02</a:t>
            </a:r>
          </a:p>
          <a:p xmlns:a="http://schemas.openxmlformats.org/drawingml/2006/main">
            <a:r>
              <a:t>Development team</a:t>
            </a:r>
          </a:p>
          <a:p xmlns:a="http://schemas.openxmlformats.org/drawingml/2006/main">
            <a:r>
              <a:t>Smoke-check C → release reviewed package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progress/E.1/model.drawio; docs/architecture.md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'lifecycle', cells f, h, w, hf, wf. Source SHA256 317050eb8f9705de970d64cf1f3f81a1b58a8cdf976ef7239e7c66b2087c0ffe. Full cell labels: f: Foundation</a:t>
            </a:r>
          </a:p>
          <a:p xmlns:a="http://schemas.openxmlformats.org/drawingml/2006/main">
            <a:r>
              <a:t>h: Hello</a:t>
            </a:r>
          </a:p>
          <a:p xmlns:a="http://schemas.openxmlformats.org/drawingml/2006/main">
            <a:r>
              <a:t>w: World</a:t>
            </a:r>
          </a:p>
          <a:p xmlns:a="http://schemas.openxmlformats.org/drawingml/2006/main">
            <a:r>
              <a:t>hf: </a:t>
            </a:r>
          </a:p>
          <a:p xmlns:a="http://schemas.openxmlformats.org/drawingml/2006/main">
            <a:r>
              <a:t>wf: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docs/architecture.md;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docs/deploy.md;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Full commands, credentials, separate area provisioning and developer login setup are in companion Markdown stage 2. Infrastructure initialization cannot create project schemas. This is a previously rehearsed destructive fresh-start path, not a new run performed for this handover.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progress/E.1/cicd-walkthrough.md; progress/E.1/model.drawio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'lifecycle', cells devnote, a, b, c, f, h, w, devcheck. Source SHA256 317050eb8f9705de970d64cf1f3f81a1b58a8cdf976ef7239e7c66b2087c0ffe. Full cell labels: devnote: Private schemas/workspaces/apps on one host.</a:t>
            </a:r>
          </a:p>
          <a:p xmlns:a="http://schemas.openxmlformats.org/drawingml/2006/main">
            <a:r>
              <a:t>A: Foundation · B: + Hello · C: complete assembly.</a:t>
            </a:r>
          </a:p>
          <a:p xmlns:a="http://schemas.openxmlformats.org/drawingml/2006/main">
            <a:r>
              <a:t>Hello and World both depend on Foundation.</a:t>
            </a:r>
          </a:p>
          <a:p xmlns:a="http://schemas.openxmlformats.org/drawingml/2006/main">
            <a:r>
              <a:t>No World → Hello dependency; no shared editing area.</a:t>
            </a:r>
          </a:p>
          <a:p xmlns:a="http://schemas.openxmlformats.org/drawingml/2006/main">
            <a:r>
              <a:t>a: A</a:t>
            </a:r>
          </a:p>
          <a:p xmlns:a="http://schemas.openxmlformats.org/drawingml/2006/main">
            <a:r>
              <a:t>b: B</a:t>
            </a:r>
          </a:p>
          <a:p xmlns:a="http://schemas.openxmlformats.org/drawingml/2006/main">
            <a:r>
              <a:t>c: C</a:t>
            </a:r>
          </a:p>
          <a:p xmlns:a="http://schemas.openxmlformats.org/drawingml/2006/main">
            <a:r>
              <a:t>f: Foundation</a:t>
            </a:r>
          </a:p>
          <a:p xmlns:a="http://schemas.openxmlformats.org/drawingml/2006/main">
            <a:r>
              <a:t>h: Hello</a:t>
            </a:r>
          </a:p>
          <a:p xmlns:a="http://schemas.openxmlformats.org/drawingml/2006/main">
            <a:r>
              <a:t>w: World</a:t>
            </a:r>
          </a:p>
          <a:p xmlns:a="http://schemas.openxmlformats.org/drawingml/2006/main">
            <a:r>
              <a:t>devcheck: Development team / Packager smoke check</a:t>
            </a:r>
          </a:p>
          <a:p xmlns:a="http://schemas.openxmlformats.org/drawingml/2006/main">
            <a:r>
              <a:t>Uses VERIFIER in C application 810003</a:t>
            </a:r>
          </a:p>
          <a:p xmlns:a="http://schemas.openxmlformats.org/drawingml/2006/main">
            <a:r>
              <a:t>Passing opens C to LAB_USER, not user_acceptance_test</a:t>
            </a:r>
          </a:p>
          <a:p xmlns:a="http://schemas.openxmlformats.org/drawingml/2006/main">
            <a:r>
              <a:t>This walkthrough replays reviewed sequential source checkpoints. Real concurrent Hello/World development is not proved by A–C. C uses independent Hello/World selectors; configure defaults when using the default greeting 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progress/E.1/model.drawio; scripts/cicd-walkthrough-D_integration_test.sh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'D integration_test', cells step2, step3, step4, step5, step6. Source SHA256 317050eb8f9705de970d64cf1f3f81a1b58a8cdf976ef7239e7c66b2087c0ffe. Full cell labels: step2: 2. Select + inspect archive</a:t>
            </a:r>
          </a:p>
          <a:p xmlns:a="http://schemas.openxmlformats.org/drawingml/2006/main">
            <a:r>
              <a:t>initial-selected.txt → immutable reviewed 1.0.0 archive.</a:t>
            </a:r>
          </a:p>
          <a:p xmlns:a="http://schemas.openxmlformats.org/drawingml/2006/main">
            <a:r>
              <a:t>Check SHA-256, members, manifest and source/candidate identity.</a:t>
            </a:r>
          </a:p>
          <a:p xmlns:a="http://schemas.openxmlformats.org/drawingml/2006/main">
            <a:r>
              <a:t>step3: 3. Read status</a:t>
            </a:r>
          </a:p>
          <a:p xmlns:a="http://schemas.openxmlformats.org/drawingml/2006/main">
            <a:r>
              <a:t>Archive controller: status. Read current integration_test epoch.</a:t>
            </a:r>
          </a:p>
          <a:p xmlns:a="http://schemas.openxmlformats.org/drawingml/2006/main">
            <a:r>
              <a:t>step4: 4. Admit empty target</a:t>
            </a:r>
          </a:p>
          <a:p xmlns:a="http://schemas.openxmlformats.org/drawingml/2006/main">
            <a:r>
              <a:t>Prompt → admit with expected epoch.</a:t>
            </a:r>
          </a:p>
          <a:p xmlns:a="http://schemas.openxmlformats.org/drawingml/2006/main">
            <a:r>
              <a:t>Record ownership/attempt; advance epoch; runtime remains gated.</a:t>
            </a:r>
          </a:p>
          <a:p xmlns:a="http://schemas.openxmlformats.org/drawingml/2006/main">
            <a:r>
              <a:t>step5: 5. Migrate</a:t>
            </a:r>
          </a:p>
          <a:p xmlns:a="http://schemas.openxmlformats.org/drawingml/2006/main">
            <a:r>
              <a:t>Prompt → migrate. SQLcl Liquibase validate → update → status.</a:t>
            </a:r>
          </a:p>
          <a:p xmlns:a="http://schemas.openxmlformats.org/drawingml/2006/main">
            <a:r>
              <a:t>Initial archive migrations 001–004, not checkout patch migrations.</a:t>
            </a:r>
          </a:p>
          <a:p xmlns:a="http://schemas.openxmlformats.org/drawingml/2006/main">
            <a:r>
              <a:t>step6: 6. Import</a:t>
            </a:r>
          </a:p>
          <a:p xmlns:a="http://schemas.openxmlformats.org/drawingml/2006/main">
            <a:r>
              <a:t>Prompt → import native split source into app 810004.</a:t>
            </a:r>
          </a:p>
          <a:p xmlns:a="http://schemas.openxmlformats.org/drawingml/2006/main">
            <a:r>
              <a:t>Map E1_INTEGRATION; assert ordinary runtime is still blocked.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progress/E.1/model.drawio; deploy/operator/publish_initial.sql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'D integration_test', cells step7, step8, step9, step10, step11, step12, step14. Source SHA256 317050eb8f9705de970d64cf1f3f81a1b58a8cdf976ef7239e7c66b2087c0ffe. Full cell labels: step7: 7. Units + integrity</a:t>
            </a:r>
          </a:p>
          <a:p xmlns:a="http://schemas.openxmlformats.org/drawingml/2006/main">
            <a:r>
              <a:t>Prompt → units. Versions/pages/compilation, composition/history.</a:t>
            </a:r>
          </a:p>
          <a:p xmlns:a="http://schemas.openxmlformats.org/drawingml/2006/main">
            <a:r>
              <a:t>Transactional unit fixtures roll back.</a:t>
            </a:r>
          </a:p>
          <a:p xmlns:a="http://schemas.openxmlformats.org/drawingml/2006/main">
            <a:r>
              <a:t>step8: 8. Enable verification</a:t>
            </a:r>
          </a:p>
          <a:p xmlns:a="http://schemas.openxmlformats.org/drawingml/2006/main">
            <a:r>
              <a:t>Prompt → verify. Integrity + no packaged business data.</a:t>
            </a:r>
          </a:p>
          <a:p xmlns:a="http://schemas.openxmlformats.org/drawingml/2006/main">
            <a:r>
              <a:t>Allow VERIFIER; mark attempt verifying. Browser test is next.</a:t>
            </a:r>
          </a:p>
          <a:p xmlns:a="http://schemas.openxmlformats.org/drawingml/2006/main">
            <a:r>
              <a:t>step9: 9. Retrieve VERIFIER password</a:t>
            </a:r>
          </a:p>
          <a:p xmlns:a="http://schemas.openxmlformats.org/drawingml/2006/main">
            <a:r>
              <a:t>Second terminal: python3 scripts/cicd-password.py VERIFIER</a:t>
            </a:r>
          </a:p>
          <a:p xmlns:a="http://schemas.openxmlformats.org/drawingml/2006/main">
            <a:r>
              <a:t>step10: 10. Browser as VERIFIER</a:t>
            </a:r>
          </a:p>
          <a:p xmlns:a="http://schemas.openxmlformats.org/drawingml/2006/main">
            <a:r>
              <a:t>integration_test URL: create Hello/World, configure defaults,</a:t>
            </a:r>
          </a:p>
          <a:p xmlns:a="http://schemas.openxmlformats.org/drawingml/2006/main">
            <a:r>
              <a:t>save Hello World and refresh history. Leave CLI waiting.</a:t>
            </a:r>
          </a:p>
          <a:p xmlns:a="http://schemas.openxmlformats.org/drawingml/2006/main">
            <a:r>
              <a:t>step11: 11. Publish integration_test</a:t>
            </a:r>
          </a:p>
          <a:p xmlns:a="http://schemas.openxmlformats.org/drawingml/2006/main">
            <a:r>
              <a:t>Continue CLI. Require saved VERIFIER snapshot; prepare native</a:t>
            </a:r>
          </a:p>
          <a:p xmlns:a="http://schemas.openxmlformats.org/drawingml/2006/main">
            <a:r>
              <a:t>availability; fingerprint; commit ready gate + success receipt.</a:t>
            </a:r>
          </a:p>
          <a:p xmlns:a="http://schemas.openxmlformats.org/drawingml/2006/main">
            <a:r>
              <a:t>step12: 12. Check result</a:t>
            </a:r>
          </a:p>
          <a:p xmlns:a="http://schemas.openxmlformats.org/drawingml/2006/main">
            <a:r>
              <a:t>Ready state, versions, same archive hash and matching live</a:t>
            </a:r>
          </a:p>
          <a:p xmlns:a="http://schemas.openxmlformats.org/drawingml/2006/main">
            <a:r>
              <a:t>fingerprint. Mark D complete only after result succeeds.</a:t>
            </a:r>
          </a:p>
          <a:p xmlns:a="http://schemas.openxmlformats.org/drawingml/2006/main">
            <a:r>
              <a:t>step14: 14. Browser as LAB_USER</a:t>
            </a:r>
          </a:p>
          <a:p xmlns:a="http://schemas.openxmlformats.org/drawingml/2006/main">
            <a:r>
              <a:t>Sign out of VERIFIER; use integration_test app; create a greeting</a:t>
            </a:r>
          </a:p>
          <a:p xmlns:a="http://schemas.openxmlformats.org/drawingml/2006/main">
            <a:r>
              <a:t>and refresh history. Confirm ordinary access after publication.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scripts/cicd-walkthrough-E_promotion.sh; progress/E.1/tests/environment_rename_20261018.txt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Editable presentation adaptation of model.drawio page 'lifecycle', cells qarchive, same, retain. Source SHA256 317050eb8f9705de970d64cf1f3f81a1b58a8cdf976ef7239e7c66b2087c0ffe. Full cell labels: qarchive: Install and qualify this exact archive</a:t>
            </a:r>
          </a:p>
          <a:p xmlns:a="http://schemas.openxmlformats.org/drawingml/2006/main">
            <a:r>
              <a:t>No developer business data copied</a:t>
            </a:r>
          </a:p>
          <a:p xmlns:a="http://schemas.openxmlformats.org/drawingml/2006/main">
            <a:r>
              <a:t>retain: Normal upgrades preserve</a:t>
            </a:r>
          </a:p>
          <a:p xmlns:a="http://schemas.openxmlformats.org/drawingml/2006/main">
            <a:r>
              <a:t>user_acceptance_test settings and greeting history.</a:t>
            </a:r>
          </a:p>
          <a:p xmlns:a="http://schemas.openxmlformats.org/drawingml/2006/main">
            <a:r>
              <a:t>Whole-lab destruction is separate.</a:t>
            </a:r>
          </a:p>
          <a:p xmlns:a="http://schemas.openxmlformats.org/drawingml/2006/main">
            <a:r>
              <a:t>same: Promote the SAME qualified archive</a:t>
            </a:r>
          </a:p>
          <a:p xmlns:a="http://schemas.openxmlformats.org/drawingml/2006/main">
            <a:r>
              <a:t>Require its successful integration_test receipt</a:t>
            </a:r>
          </a:p>
          <a:p xmlns:a="http://schemas.openxmlformats.org/drawingml/2006/main">
            <a:r>
              <a:t>Initial archive SHA256 d99fe83ec3d149739a12ec0cf2f01081ae027d1ec015e16d5a971ff3c602ab45. Source 08a5cf27e8a31ff7b77b6fd694f673847726eda1. E and F passed in the Product Owner walkthrough. The initial runtime is historical after F; do not downgrade UAT to replay it. A successful UAT deployment is not Product Owner acceptance of the full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scripts/cicd-walkthrough-F_hello_patch.sh; release/manifest.json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Current handover read-only comparison: PASS all fields of 21 prior history rows, old entries and complete configuration unchanged. New rows may append. Patch SHA256 4ba3abb8709f256c7a47e3e9294d3e7303f742145a95cb58d808ca6c6bcf7200, source ee8f1af8e35f81bb3b75051243df2ab9c6e4c0e5. Complete application archive contains the Hello-only version change and additive migration; Foundation and World versions remain unchanged.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release/proposals/foundation-major.json; scripts/cicd-compatibility.py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Dependency rules live in release/manifest.json and the breaking proposal. Controller executes the archived checker before its deployment connection. Explicit exact versions and supported triples are prototype policy, not SQL semantic inference. G passed in the Product Owner walkthrough.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scripts/cicd-protection-check.sh; progress/E.1/cicd-walkthrough.md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The checker exits successfully after a recognized clean/protected outcome and unchanged snapshots. DETECTED DRIFT is a blocked deployment, not permission to deploy. Unexpected errors fail. Manual detection is observed in current E1_UAT. Synthetic fixture remains optional repeatable test setup.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scripts/cicd-drift-diff.py; progress/E.1/tests/handover_live_drift_20261018.txt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Observed on 18 October 2026 in the current retained UAT. Source comparison validates exact successful archive/source/configuration receipt. review.diff omits import offset lines and generated Manifest comments only; raw.diff retains every exported difference. Other source/export differences remain in the report.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progress/E.1/cicd-walkthrough.md; docs/srs.md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Current manual restoration is pending the Product Owner decision. Do not report it complete. Synthetic H has its own saved-definition restoration and must not be interleaved with the manual edit. No automatic adoption or overwrite of unexpected edits.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progress/E.1/sprint_E.1_tests.md; scripts/cicd-walkthrough-E_promotion.sh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Observed E failures were ORA-20619 missing runtime snapshot and ORA-20304 fixture relying on an unset World default. Fixes: checkpoint-bound verification resume/missing-data retry, and explicit active-entry selections with post-publication example continuation. No new application release or general recovery contract was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PROGRESS_BOARD.md; progress/E.1/sprint_E.1_tests.md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PROGRESS_BOARD.md; progress/E.1/sprint_E.1_assessment.md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progress/E.1/sprint_E.1_design.md; docs/test-profile.md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  <a:p xmlns:a="http://schemas.openxmlformats.org/drawingml/2006/main">
            <a:r>
              <a:t>Existing scope: PBI-011.2/.5/.7/.8, validation under PBI-012; original IT-6/7/8/9/12. These are registered child definitions, not newly scheduled sprints. Dedicated measurements and all full-suite gates remain incomplete.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progress/E.1/sprint_E.1_assessment.md; ROADMAP.md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progress/E.1/sprint_E.1_handover.md</a:t>
            </a:r>
          </a:p>
          <a:p xmlns:a="http://schemas.openxmlformats.org/drawingml/2006/main">
            <a:r>
              <a:t>E.1 handover snapshot, 18 October 2026. PLAN: Progress; PROGRESS_BOARD: under_construction. No sprint closure or full quality-gate acceptance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64ecea1acc4dd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fd617e2ece460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f824fdfd7a431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8fb7345f3a430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5a73c65b0c4b1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3b6e57de548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8C035F-5BD6-4D7C-BF60-D6245BB7B7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F787CF9-3BE5-4695-A5E2-A1F0C88EDD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5E3DCDD-4913-4C14-B55D-C9D1A5F870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8100F1-A9FA-4EDF-828B-BFD298C8BB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B06B907-0F42-4E06-A46E-1966DDB01A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5E6EF38-85C1-451D-A71B-EB191FE17D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4423F96-D1D9-4919-8539-D0BCC65337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33A8783-8FC5-4359-9254-C67F04FCE7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4D042CF-7FA0-4D95-91D3-11F4C1C97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13BF587-F7AF-486B-99D6-555605D803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0f01f00d98433f" /><Relationship Type="http://schemas.openxmlformats.org/officeDocument/2006/relationships/slideLayout" Target="/ppt/slideLayouts/slideLayout1.xml" Id="Rce07d9a84b774161" /><Relationship Type="http://schemas.openxmlformats.org/officeDocument/2006/relationships/slideLayout" Target="/ppt/slideLayouts/slideLayout2.xml" Id="Rd12b2aead8714b28" /><Relationship Type="http://schemas.openxmlformats.org/officeDocument/2006/relationships/slideLayout" Target="/ppt/slideLayouts/slideLayout3.xml" Id="R1dc022a5c5c44743" /><Relationship Type="http://schemas.openxmlformats.org/officeDocument/2006/relationships/slideLayout" Target="/ppt/slideLayouts/slideLayout4.xml" Id="R2b98b548e2d04f0b" /><Relationship Type="http://schemas.openxmlformats.org/officeDocument/2006/relationships/slideLayout" Target="/ppt/slideLayouts/slideLayout5.xml" Id="R02f3fdea93434721" /><Relationship Type="http://schemas.openxmlformats.org/officeDocument/2006/relationships/slideLayout" Target="/ppt/slideLayouts/slideLayout6.xml" Id="R8de0d052114e47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07d9a84b774161"/>
    <p:sldLayoutId xmlns:r="http://schemas.openxmlformats.org/officeDocument/2006/relationships" id="2147483650" r:id="Rd12b2aead8714b28"/>
    <p:sldLayoutId xmlns:r="http://schemas.openxmlformats.org/officeDocument/2006/relationships" id="2147483651" r:id="R1dc022a5c5c44743"/>
    <p:sldLayoutId xmlns:r="http://schemas.openxmlformats.org/officeDocument/2006/relationships" id="2147483652" r:id="R2b98b548e2d04f0b"/>
    <p:sldLayoutId xmlns:r="http://schemas.openxmlformats.org/officeDocument/2006/relationships" id="2147483653" r:id="R02f3fdea93434721"/>
    <p:sldLayoutId xmlns:r="http://schemas.openxmlformats.org/officeDocument/2006/relationships" id="2147483654" r:id="R8de0d052114e47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7b6312b3124bd8" /><Relationship Type="http://schemas.openxmlformats.org/officeDocument/2006/relationships/notesSlide" Target="/ppt/notesSlides/notesSlide1.xml" Id="R3bd31d1223f248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b671d25a214e85" /><Relationship Type="http://schemas.openxmlformats.org/officeDocument/2006/relationships/notesSlide" Target="/ppt/notesSlides/notesSlide2.xml" Id="R92333ad804f24c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b9e94159ce48bb" /><Relationship Type="http://schemas.openxmlformats.org/officeDocument/2006/relationships/notesSlide" Target="/ppt/notesSlides/notesSlide3.xml" Id="R6698bd125cfe48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a9fd2373a84653" /><Relationship Type="http://schemas.openxmlformats.org/officeDocument/2006/relationships/notesSlide" Target="/ppt/notesSlides/notesSlide4.xml" Id="R1cfdad2ae6904d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48a5feca534949" /><Relationship Type="http://schemas.openxmlformats.org/officeDocument/2006/relationships/notesSlide" Target="/ppt/notesSlides/notesSlide5.xml" Id="R191a7be4ddba4d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f6ffb2748d4848" /><Relationship Type="http://schemas.openxmlformats.org/officeDocument/2006/relationships/notesSlide" Target="/ppt/notesSlides/notesSlide6.xml" Id="R83313e14656c4b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e6fc56524a459b" /><Relationship Type="http://schemas.openxmlformats.org/officeDocument/2006/relationships/notesSlide" Target="/ppt/notesSlides/notesSlide7.xml" Id="Rbe6e326d613b41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42bc9558544235" /><Relationship Type="http://schemas.openxmlformats.org/officeDocument/2006/relationships/notesSlide" Target="/ppt/notesSlides/notesSlide8.xml" Id="R4baa924675ed4f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19b66e8858499f" /><Relationship Type="http://schemas.openxmlformats.org/officeDocument/2006/relationships/notesSlide" Target="/ppt/notesSlides/notesSlide9.xml" Id="Ra79fa8f0053247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f1cea25e0445fd" /><Relationship Type="http://schemas.openxmlformats.org/officeDocument/2006/relationships/notesSlide" Target="/ppt/notesSlides/notesSlide10.xml" Id="R2fe7647d10474f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bc02bc930945d7" /><Relationship Type="http://schemas.openxmlformats.org/officeDocument/2006/relationships/notesSlide" Target="/ppt/notesSlides/notesSlide11.xml" Id="Rde132ff4aa9a4b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c30317b2e0409d" /><Relationship Type="http://schemas.openxmlformats.org/officeDocument/2006/relationships/notesSlide" Target="/ppt/notesSlides/notesSlide12.xml" Id="R360a2c4651bc418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d574add31a4b98" /><Relationship Type="http://schemas.openxmlformats.org/officeDocument/2006/relationships/notesSlide" Target="/ppt/notesSlides/notesSlide13.xml" Id="R787b6009495644e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cfd3032659430f" /><Relationship Type="http://schemas.openxmlformats.org/officeDocument/2006/relationships/notesSlide" Target="/ppt/notesSlides/notesSlide14.xml" Id="Ra7184002bf87469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be5e664390491a" /><Relationship Type="http://schemas.openxmlformats.org/officeDocument/2006/relationships/notesSlide" Target="/ppt/notesSlides/notesSlide15.xml" Id="R53c6c49c0e1149b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d44448c5414968" /><Relationship Type="http://schemas.openxmlformats.org/officeDocument/2006/relationships/notesSlide" Target="/ppt/notesSlides/notesSlide16.xml" Id="R7c9863a554fa423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076d5cf2d045c0" /><Relationship Type="http://schemas.openxmlformats.org/officeDocument/2006/relationships/notesSlide" Target="/ppt/notesSlides/notesSlide17.xml" Id="R3966f634c08f488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6dbae0c26d4db1" /><Relationship Type="http://schemas.openxmlformats.org/officeDocument/2006/relationships/notesSlide" Target="/ppt/notesSlides/notesSlide18.xml" Id="Reb818ce9b35c402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db78013261468c" /><Relationship Type="http://schemas.openxmlformats.org/officeDocument/2006/relationships/notesSlide" Target="/ppt/notesSlides/notesSlide19.xml" Id="R0bc40443c6b74a0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a0219d563b47c0" /><Relationship Type="http://schemas.openxmlformats.org/officeDocument/2006/relationships/notesSlide" Target="/ppt/notesSlides/notesSlide20.xml" Id="R2e1dc92154084cf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ac22283bb64b05" /><Relationship Type="http://schemas.openxmlformats.org/officeDocument/2006/relationships/notesSlide" Target="/ppt/notesSlides/notesSlide21.xml" Id="R919a382bfbdd482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dbae310c5d434d" /><Relationship Type="http://schemas.openxmlformats.org/officeDocument/2006/relationships/notesSlide" Target="/ppt/notesSlides/notesSlide22.xml" Id="R664314802b2040c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524d54028045dd" /><Relationship Type="http://schemas.openxmlformats.org/officeDocument/2006/relationships/notesSlide" Target="/ppt/notesSlides/notesSlide23.xml" Id="R91614d4f40534e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80E5F4-1E03-47D9-A49B-AE1424F3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Git to APEX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4542B-C078-4B78-AA6A-7346A16E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8D7D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5FAE4-8FF8-45FC-AED1-6512282C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00250"/>
            <a:ext cx="1047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Traceable releases. Safe upgrades.</a:t>
            </a:r>
          </a:p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Protected deployments.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F0B00-0D97-486E-AED8-05EB53BDD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0"/>
            <a:ext cx="1038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CE7EB"/>
                </a:solidFill>
                <a:latin typeface="Arial"/>
                <a:ea typeface="Arial"/>
                <a:cs typeface="Arial"/>
              </a:rPr>
              <a:t>One application. A repeatable delivery path.</a:t>
            </a:r>
          </a:p>
          <a:p xmlns:a="http://schemas.openxmlformats.org/drawingml/2006/main">
            <a:pPr>
              <a:defRPr sz="24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DCE7EB"/>
                </a:solidFill>
                <a:latin typeface="Arial"/>
                <a:ea typeface="Arial"/>
                <a:cs typeface="Arial"/>
              </a:rPr>
              <a:t>Evidence at every gate.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73F40B-EEDE-4B58-9C7F-D738D44E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19750"/>
            <a:ext cx="1000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CE7EB"/>
                </a:solidFill>
                <a:latin typeface="Arial"/>
                <a:ea typeface="Arial"/>
                <a:cs typeface="Arial"/>
              </a:rPr>
              <a:t>Oracle APEX CI/CD Laboratory · 18 October 2026</a:t>
            </a:r>
          </a:p>
        </p:txBody>
      </p:sp>
    </p:spTree>
    <p:extLst>
      <p:ext uri="{BB962C8B-B14F-4D97-AF65-F5344CB8AC3E}">
        <p14:creationId xmlns:p14="http://schemas.microsoft.com/office/powerpoint/2010/main" val="7776651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238FC7-E3E1-4826-AD7A-1173AA77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Review agenda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D6E2C-2DF1-4C4E-968B-F22B5A56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A4972B-F918-4290-90F3-1B556E23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1. The application, source and delivery roles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FBDC4-C331-43F9-BD9E-6CE41C17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5747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2. A–F: assembly, release and compatible patch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86D2D6-B4E0-403E-BB1A-448CBC53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4807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3. G–H: incompatible upgrade and live drift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55ADE1-D804-4EBB-BA1D-EA21B90F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3867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4. Evidence, remaining risks and next decision</a:t>
            </a:r>
          </a:p>
        </p:txBody>
      </p:sp>
    </p:spTree>
    <p:extLst>
      <p:ext uri="{BB962C8B-B14F-4D97-AF65-F5344CB8AC3E}">
        <p14:creationId xmlns:p14="http://schemas.microsoft.com/office/powerpoint/2010/main" val="19785397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B4B591-6E3E-49BB-B59C-263A0652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selected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D0C110-26DE-4F90-B062-CEB0FBE8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3D1DCB-CAD2-4055-91ED-1627AC6C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One APEX application per area on one Oracle host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E9C558-04F8-4123-BE68-BCCA7847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Foundation, Hello and World share one Git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2A119-5BC4-423E-A47C-4EBB9246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8137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Private A/B/C areas, disposable integration_test, retained UAT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B2994F-6095-4DDD-8448-9327C9F5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386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Supported Oracle interfaces and small operator scripts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03347-70A8-45FD-AF5C-C02A27C4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81625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A43224"/>
                </a:solidFill>
                <a:latin typeface="Arial"/>
                <a:ea typeface="Arial"/>
                <a:cs typeface="Arial"/>
              </a:rPr>
              <a:t>Full concurrency, complete fencing and failed-deployment repair remain open</a:t>
            </a:r>
          </a:p>
        </p:txBody>
      </p:sp>
    </p:spTree>
    <p:extLst>
      <p:ext uri="{BB962C8B-B14F-4D97-AF65-F5344CB8AC3E}">
        <p14:creationId xmlns:p14="http://schemas.microsoft.com/office/powerpoint/2010/main" val="10273919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8D660C-29F4-4F2B-BC43-362331D61F6C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715375" y="37147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A318FB-A36B-489D-92BE-26D5DB4371A4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857875" y="37147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EA7F43-D716-479C-B4DE-A56482874A6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000375" y="37147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519774-07AF-41E8-9C57-4C69771C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delivery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F8D9A-DCF4-4208-BDF3-6DA16C21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219116-3928-47D0-907B-E48957C5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14500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Development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67C10-E5BA-45E4-B1E6-2412A4A2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Private A / B / C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Author and capture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Smoke-check 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4483E-3E04-4C85-B5C0-E632D501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14500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Shared 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66A7D6-B342-4924-875E-09E1F38E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Reviewed source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Candidate evidence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One release archive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1F5999-A8EB-4A55-B055-5D93C7D0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14500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Integration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54099-6600-4882-B5EA-BBB05E11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Install that archive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Verify the application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Record successful receipt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83431-9C61-4234-B113-A6E95AB8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14500"/>
            <a:ext cx="2428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User acceptance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4DA27C-A389-4BAA-BAE9-C1E4188D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19375"/>
            <a:ext cx="2381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Promote same archive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Preserve history/settings</a:t>
            </a:r>
          </a:p>
          <a:p xmlns:a="http://schemas.openxmlformats.org/drawingml/2006/main">
            <a:pPr algn="ctr">
              <a:defRPr sz="187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F3B"/>
                </a:solidFill>
                <a:latin typeface="Arial"/>
                <a:ea typeface="Arial"/>
                <a:cs typeface="Arial"/>
              </a:rPr>
              <a:t>LAB_USER uses release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C1B8E3-6FFD-488F-99AE-7DE1303E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816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development team releases the package. The Deployer moves the same bytes through both targets.</a:t>
            </a:r>
          </a:p>
        </p:txBody>
      </p:sp>
    </p:spTree>
    <p:extLst>
      <p:ext uri="{BB962C8B-B14F-4D97-AF65-F5344CB8AC3E}">
        <p14:creationId xmlns:p14="http://schemas.microsoft.com/office/powerpoint/2010/main" val="10316492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E3A1D-4BDE-4AE8-AC94-8C9BAA8BE37B}"/>
              </a:ext>
            </a:extLst>
          </p:cNvPr>
          <p:cNvCxnSpPr>
            <a:stCxn xmlns:a="http://schemas.openxmlformats.org/drawingml/2006/main" id="5" idx="0"/>
            <a:endCxn xmlns:a="http://schemas.openxmlformats.org/drawingml/2006/main" id="3" idx="2"/>
          </p:cNvCxnSpPr>
          <p:nvPr/>
        </p:nvCxnSpPr>
        <p:spPr>
          <a:xfrm xmlns:a="http://schemas.openxmlformats.org/drawingml/2006/main" flipH="1" flipV="1">
            <a:off x="6096000" y="2762250"/>
            <a:ext cx="2571750" cy="9525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895E1C-0F33-4095-BAF4-B309AB89E516}"/>
              </a:ext>
            </a:extLst>
          </p:cNvPr>
          <p:cNvCxnSpPr>
            <a:stCxn xmlns:a="http://schemas.openxmlformats.org/drawingml/2006/main" id="4" idx="0"/>
            <a:endCxn xmlns:a="http://schemas.openxmlformats.org/drawingml/2006/main" id="3" idx="2"/>
          </p:cNvCxnSpPr>
          <p:nvPr/>
        </p:nvCxnSpPr>
        <p:spPr>
          <a:xfrm xmlns:a="http://schemas.openxmlformats.org/drawingml/2006/main" flipV="1">
            <a:off x="3524250" y="2762250"/>
            <a:ext cx="2571750" cy="9525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A8BCF2-8B6E-4337-BCC3-50911B2F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Foundation, Hello and World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D1D1BA-A218-4056-ACC0-5F93B474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1BCA7C-5D52-4044-B640-C6013899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66875"/>
            <a:ext cx="47625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Foundation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Composition, history and runtime state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356A17-0464-4E4D-9093-1682DBAA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3810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Hello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Entries and configuration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F51E61-FEBA-44E3-9AAA-4A44219B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14750"/>
            <a:ext cx="3810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World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Entries and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22024B-0A72-4124-94A0-A0CB489D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Both components depend on Foundation. The release installs the complete application.</a:t>
            </a:r>
          </a:p>
        </p:txBody>
      </p:sp>
    </p:spTree>
    <p:extLst>
      <p:ext uri="{BB962C8B-B14F-4D97-AF65-F5344CB8AC3E}">
        <p14:creationId xmlns:p14="http://schemas.microsoft.com/office/powerpoint/2010/main" val="7167197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B4640-20E4-4151-A969-861B0177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Oracle toolchain and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1F29F3-B86C-42DE-8724-5C1DDED2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494CE-4C9A-4DE9-9358-AC4982C0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APEX / ORDS: authoring, application metadata and HTTP runtime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363E83-C1CD-4189-8A4A-8A90EB0B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1457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SQLcl + Java: saved connections, SQL checks and native capture/import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C1C6AA-EEC8-47B9-9F65-A2BDA057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575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SQLcl Liquibase: ordered migrations and applied-change checksums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63B4D3-90E1-4BC6-8576-3443E740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0047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E1_CTRL SQL packages: reservations, deployment epochs and receipts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1CA244-4430-41BA-B801-46D07BAC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434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Git + SHA-256: accepted source and immutable release identity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CF7C50-20D6-4FD6-AB51-C6F28E85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8637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Bash / Python: explicit operator steps and focused lab checks</a:t>
            </a:r>
          </a:p>
        </p:txBody>
      </p:sp>
    </p:spTree>
    <p:extLst>
      <p:ext uri="{BB962C8B-B14F-4D97-AF65-F5344CB8AC3E}">
        <p14:creationId xmlns:p14="http://schemas.microsoft.com/office/powerpoint/2010/main" val="18226042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72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2494E6-B41B-4394-AC2C-716B07A3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2202A-B197-4AFD-8430-B97C6F5D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8D7D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AF5856-A684-45B4-8E6C-F0EE0C08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86000"/>
            <a:ext cx="1057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Product Owner sees</a:t>
            </a:r>
          </a:p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results after each operation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EFE48D-8EA4-4AF1-8CAA-421B3F1F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76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DCE7EB"/>
                </a:solidFill>
                <a:latin typeface="Arial"/>
                <a:ea typeface="Arial"/>
                <a:cs typeface="Arial"/>
              </a:rPr>
              <a:t>The following slides follow the implemented A–H journey</a:t>
            </a:r>
          </a:p>
        </p:txBody>
      </p:sp>
    </p:spTree>
    <p:extLst>
      <p:ext uri="{BB962C8B-B14F-4D97-AF65-F5344CB8AC3E}">
        <p14:creationId xmlns:p14="http://schemas.microsoft.com/office/powerpoint/2010/main" val="19229218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00D5C4-93BC-4ADD-B486-B58A2025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Infrastructure and project setup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2B8CAB-DF4C-427C-9181-BF83381F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1F5BD-A3C7-4E1E-A95A-7E120F48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43224"/>
                </a:solidFill>
                <a:latin typeface="Arial"/>
                <a:ea typeface="Arial"/>
                <a:cs typeface="Arial"/>
              </a:rPr>
              <a:t>Fresh replay only: destruction removes every lab database row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B3798-7343-4BDE-BA3C-4DE681EB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scripts/cicd-walkthrough-prerequisites.sh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4B30D-5A4A-4A5C-B672-B7238E3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051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scripts/cicd-walkthrough-host.sh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17473B-97BE-45B7-B9C1-A2A87FE2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scripts/apex-destroy.sh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A9CDE1-992A-4B50-8C2F-63D60F51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481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scripts/cicd-walkthrough-apex-init.sh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988B70-C33A-4DF4-88AE-92F47135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858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Then initialize E1_CTRL and provision each named area separately.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896FE-945D-41DE-BDB2-B79C172D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95950"/>
            <a:ext cx="10858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Expected result: vanilla DB/APEX/ORDS first, then empty isolated project areas.</a:t>
            </a:r>
          </a:p>
        </p:txBody>
      </p:sp>
    </p:spTree>
    <p:extLst>
      <p:ext uri="{BB962C8B-B14F-4D97-AF65-F5344CB8AC3E}">
        <p14:creationId xmlns:p14="http://schemas.microsoft.com/office/powerpoint/2010/main" val="6715070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00E58B-5226-4BB9-A499-18587F4D324B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67625" y="45243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68D8E9-F31C-42B4-85A9-D99046206A7E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810000" y="45243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0A05B6-F938-43A3-9B26-5FC044AB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A–C: assemble the 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9AD34-9A2B-4649-89D6-96ED7EE9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46CFB5-2A95-4837-87E2-28A99F4F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scripts/cicd-walkthrough-A_foundation.sh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541CA2-AB65-46BA-8FA3-7246730E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scripts/cicd-walkthrough-B_hello.sh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0CF078-0C66-409C-A600-F586302F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575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scripts/cicd-walkthrough-C_world.sh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457614-DCDF-448E-B3C1-07643A81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57625"/>
            <a:ext cx="31908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A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Foundation only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810001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F1CB84-0F33-4C99-8C76-127F7347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57625"/>
            <a:ext cx="31908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B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Foundation + Hello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810002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2E1DC4-0322-494B-825F-B74387F4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857625"/>
            <a:ext cx="31908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C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Complete 1.0.0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810003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A87FC8-E397-4941-9672-5FAD5A93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245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 and B remain unavailable. VERIFIER checks C, then LAB_USER can use it.</a:t>
            </a:r>
          </a:p>
        </p:txBody>
      </p:sp>
    </p:spTree>
    <p:extLst>
      <p:ext uri="{BB962C8B-B14F-4D97-AF65-F5344CB8AC3E}">
        <p14:creationId xmlns:p14="http://schemas.microsoft.com/office/powerpoint/2010/main" val="3938587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AB09C-A102-484A-A9AC-FA56AEAD00E9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572125" y="461962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292EE9-C817-4161-A839-E9A8EDC80E14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3095625" y="3524250"/>
            <a:ext cx="5905500" cy="6191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B34E73-D565-4BD3-8060-2537EAEBD350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572125" y="30480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32E48F-1CCC-4EB5-838F-5520AA52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D: install in integration_test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1F91E8-C7F6-4BD9-9535-1EABC809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71CA66-F6A3-417A-B7F2-B5C15F38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scripts/cicd-walkthrough-D_integration_test.sh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11CCD-7ADC-4E6A-B38A-37E9E2E9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Inspect the archive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Hash, members and source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E31C5-828A-4502-A58B-36EC7822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71750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Admit the target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Owned attempt and epoch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78CCEC-3E3E-46AE-AB0F-32BE613B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43375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Apply migrations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SQLcl Liquibase checks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67F699-B609-4CFC-9F72-D8030E7C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143375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Import native APEX source</a:t>
            </a:r>
          </a:p>
          <a:p xmlns:a="http://schemas.openxmlformats.org/drawingml/2006/main">
            <a:pPr algn="ctr">
              <a:defRPr sz="195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F3B"/>
                </a:solidFill>
                <a:latin typeface="Arial"/>
                <a:ea typeface="Arial"/>
                <a:cs typeface="Arial"/>
              </a:rPr>
              <a:t>Application 810004 stays blocked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35495B-9BA9-462D-A366-A0E19230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197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Source comes from the Git-built archive. No live export from C and no copied developer data.</a:t>
            </a:r>
          </a:p>
        </p:txBody>
      </p:sp>
    </p:spTree>
    <p:extLst>
      <p:ext uri="{BB962C8B-B14F-4D97-AF65-F5344CB8AC3E}">
        <p14:creationId xmlns:p14="http://schemas.microsoft.com/office/powerpoint/2010/main" val="139015343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5CB8A4-E239-4E8E-A362-4E1CAA85E3D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667625" y="230981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9F688-2BD0-4956-AB00-FEBCCD33E386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810000" y="2309813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24E95-1E7E-4896-8EF4-B2BB8D95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D: verify before publication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993B9C-1B8B-4083-ADA6-926124FF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A3B4C2-E5F9-42BD-8C70-1EAB61E9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31908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Automated integrity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and unit checks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DDBD1-7EE2-47B3-966A-3B5B9653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1908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VERIFIER browser check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Save Hello World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F77394-2AF9-4F97-B334-E0D59431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09750"/>
            <a:ext cx="31908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Publish ready state</a:t>
            </a:r>
          </a:p>
          <a:p xmlns:a="http://schemas.openxmlformats.org/drawingml/2006/main">
            <a:pPr algn="ctr">
              <a:defRPr sz="2025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F3B"/>
                </a:solidFill>
                <a:latin typeface="Arial"/>
                <a:ea typeface="Arial"/>
                <a:cs typeface="Arial"/>
              </a:rPr>
              <a:t>Fingerprint + receipt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4F4483-1413-4B85-9AB2-178FAC2E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2425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python3 scripts/cicd-password.py VERIFIER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CCFEFD-B18B-4250-B346-322909F0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3387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35F63"/>
                </a:solidFill>
                <a:latin typeface="Arial"/>
                <a:ea typeface="Arial"/>
                <a:cs typeface="Arial"/>
              </a:rPr>
              <a:t>Open http://127.0.0.1:8080/ords/f?p=810004:1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3BE632-9637-4AFC-A814-B00F1219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85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 missing required greeting repeats the verification prompt.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B8B0FF-66E5-4C16-B9C7-8CAF5B9D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15000"/>
            <a:ext cx="1085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After publication, LAB_USER can use the complete application.</a:t>
            </a:r>
          </a:p>
        </p:txBody>
      </p:sp>
    </p:spTree>
    <p:extLst>
      <p:ext uri="{BB962C8B-B14F-4D97-AF65-F5344CB8AC3E}">
        <p14:creationId xmlns:p14="http://schemas.microsoft.com/office/powerpoint/2010/main" val="3355472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F8D074-789D-49B9-99A1-21C99B24D83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095875" y="33813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35F63"/>
            </a:solidFill>
            <a:tailEnd type="triangle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46C757-3BEB-42B4-AE75-8FCE90DE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E: promote the same initial archive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ECECA9-F07A-4FE7-BB6E-8B782356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44821-A9E3-479F-A350-D1C8B233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scripts/cicd-walkthrough-E_promotion.sh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6B7E67-BAAF-4B8F-BA0C-023D557A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1433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F3B"/>
                </a:solidFill>
                <a:latin typeface="Arial"/>
                <a:ea typeface="Arial"/>
                <a:cs typeface="Arial"/>
              </a:rPr>
              <a:t>integration_test</a:t>
            </a:r>
          </a:p>
          <a:p xmlns:a="http://schemas.openxmlformats.org/drawingml/2006/main">
            <a: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F3B"/>
                </a:solidFill>
                <a:latin typeface="Arial"/>
                <a:ea typeface="Arial"/>
                <a:cs typeface="Arial"/>
              </a:rPr>
              <a:t>Successful 1.0.0 receipt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AD6C7-8C6D-4CB7-BF4F-E8A7AE14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62250"/>
            <a:ext cx="41433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14288">
            <a:solidFill>
              <a:srgbClr val="AAB9BE"/>
            </a:solidFill>
          </a:ln>
        </p:spPr>
        <p:txBody>
          <a:bodyPr xmlns:a="http://schemas.openxmlformats.org/drawingml/2006/main" lIns="114300" tIns="114300" rIns="114300" bIns="114300" anchor="ctr">
            <a:noAutofit/>
          </a:bodyPr>
          <a:lstStyle xmlns:a="http://schemas.openxmlformats.org/drawingml/2006/main">
            <a:def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F3B"/>
                </a:solidFill>
                <a:latin typeface="Arial"/>
                <a:ea typeface="Arial"/>
                <a:cs typeface="Arial"/>
              </a:rPr>
              <a:t>user_acceptance_test</a:t>
            </a:r>
          </a:p>
          <a:p xmlns:a="http://schemas.openxmlformats.org/drawingml/2006/main">
            <a:pPr algn="ctr">
              <a:defRPr sz="210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72F3B"/>
                </a:solidFill>
                <a:latin typeface="Arial"/>
                <a:ea typeface="Arial"/>
                <a:cs typeface="Arial"/>
              </a:rPr>
              <a:t>Same archive hash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99274-E025-4516-B65C-B5A5CD6F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625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UAT application 810005 becomes available to LAB_USER.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3F1594-BCA8-43F0-89AD-C44907CE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245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Capture the field-level history/configuration baseline for F.</a:t>
            </a:r>
          </a:p>
        </p:txBody>
      </p:sp>
    </p:spTree>
    <p:extLst>
      <p:ext uri="{BB962C8B-B14F-4D97-AF65-F5344CB8AC3E}">
        <p14:creationId xmlns:p14="http://schemas.microsoft.com/office/powerpoint/2010/main" val="13285189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9571A5-EC7A-41EE-B6B3-54B4ED68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F: Hello 1.0.1 with preserved history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DB7CD-A79A-411F-BA91-C69DFD0D8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6E8ED8-A3CC-43B2-8B8D-0304E96D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scripts/cicd-walkthrough-F_hello_patch.sh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61C28-0E1F-49A3-86AC-354DC1A4471A}"/>
              </a:ext>
            </a:extLst>
          </p:cNvPr>
          <p:cNvGraphicFramePr/>
          <p:nvPr/>
        </p:nvGraphicFramePr>
        <p:xfrm>
          <a:off xmlns:a="http://schemas.openxmlformats.org/drawingml/2006/main" x="619125" y="2524125"/>
          <a:ext xmlns:a="http://schemas.openxmlformats.org/drawingml/2006/main" cx="10858500" cy="2428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3619500"/>
                <a:gridCol w="3619500"/>
              </a:tblGrid>
              <a:tr h="607219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Component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AAB9BE"/>
                      </a:solidFill>
                      <a:prstDash val="solid"/>
                    </a:lnL>
                    <a:lnR w="9525">
                      <a:solidFill>
                        <a:srgbClr val="AAB9BE"/>
                      </a:solidFill>
                      <a:prstDash val="solid"/>
                    </a:lnR>
                    <a:lnT w="9525">
                      <a:solidFill>
                        <a:srgbClr val="AAB9BE"/>
                      </a:solidFill>
                      <a:prstDash val="solid"/>
                    </a:lnT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172F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Before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T w="9525">
                      <a:solidFill>
                        <a:srgbClr val="AAB9BE"/>
                      </a:solidFill>
                      <a:prstDash val="solid"/>
                    </a:lnT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172F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After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T w="9525">
                      <a:solidFill>
                        <a:srgbClr val="AAB9BE"/>
                      </a:solidFill>
                      <a:prstDash val="solid"/>
                    </a:lnT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172F3B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Foundation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AAB9BE"/>
                      </a:solidFill>
                      <a:prstDash val="solid"/>
                    </a:lnL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Hello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AAB9BE"/>
                      </a:solidFill>
                      <a:prstDash val="solid"/>
                    </a:lnL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World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AAB9BE"/>
                      </a:solidFill>
                      <a:prstDash val="solid"/>
                    </a:lnL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F3B"/>
                          </a:solidFill>
                          <a:latin typeface="Arial"/>
                          <a:ea typeface="Arial"/>
                          <a:cs typeface="Arial"/>
                        </a:rPr>
                        <a:t>1.0.0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AAB9BE"/>
                      </a:solidFill>
                      <a:prstDash val="solid"/>
                    </a:lnR>
                    <a:lnB w="9525">
                      <a:solidFill>
                        <a:srgbClr val="AAB9B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E46AE3-348B-4D9F-B4D3-D80C40B1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1085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Integration test checks fresh install and upgrade from 1.0.0.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24CB2-7F45-4F4F-A9DB-683BA4BB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57875"/>
            <a:ext cx="10858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same patch archive upgrades UAT. All 21 baseline history rows and settings remain unchanged.</a:t>
            </a:r>
          </a:p>
        </p:txBody>
      </p:sp>
    </p:spTree>
    <p:extLst>
      <p:ext uri="{BB962C8B-B14F-4D97-AF65-F5344CB8AC3E}">
        <p14:creationId xmlns:p14="http://schemas.microsoft.com/office/powerpoint/2010/main" val="8899929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2ACE0-8E90-4785-BE0A-FC9B6C0D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G: reject a known incompatibility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10339-663A-46D1-BACE-2467BB1B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9B449A-79A0-4360-AC09-FD7DF403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scripts/cicd-walkthrough-G_incompatible_upgrade.sh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783CC8-4BE1-4CAD-A882-4DB19387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085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Proposal: Foundation 2.0.0 with Hello 1.0.1 and World 1.0.0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9A8B1A-DF27-47BA-A333-D555EEA1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1085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Hello and World still declare Foundation 1.0.0 as required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917ED-AD2D-46CC-AB1E-06998429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38625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43224"/>
                </a:solidFill>
                <a:latin typeface="Arial"/>
                <a:ea typeface="Arial"/>
                <a:cs typeface="Arial"/>
              </a:rPr>
              <a:t>REJECTED INCOMPATIBLE:</a:t>
            </a:r>
          </a:p>
          <a:p xmlns:a="http://schemas.openxmlformats.org/drawingml/2006/main">
            <a:pPr>
              <a:defRPr sz="2175" b="1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43224"/>
                </a:solidFill>
                <a:latin typeface="Arial"/>
                <a:ea typeface="Arial"/>
                <a:cs typeface="Arial"/>
              </a:rPr>
              <a:t>Hello requires Foundation 1.0.0; proposed Foundation 2.0.0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8A0F55-C7D5-4E23-A565-726E70AA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245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Stops before maintenance, migration or import. Target and release records remain unchanged.</a:t>
            </a:r>
          </a:p>
        </p:txBody>
      </p:sp>
    </p:spTree>
    <p:extLst>
      <p:ext uri="{BB962C8B-B14F-4D97-AF65-F5344CB8AC3E}">
        <p14:creationId xmlns:p14="http://schemas.microsoft.com/office/powerpoint/2010/main" val="18759250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F84E74-2C56-4040-8FA0-8CE0CCAF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H: one drift check, three situations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C36E0B-413B-4A48-AC67-FBF3B8D7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736C3-F870-45EB-B862-A2D4C27B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scripts/cicd-protection-check.sh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BF6D0-9F46-45D6-9705-A7A4AC3E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6700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1. Before an edit: NO DRIFT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07FE22-7F3C-4025-85A9-2168337C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71875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2. After a real Page Designer save: DETECTED DRIFT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9301F3-B5FD-4C69-98E5-6E2F4E0D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76750"/>
            <a:ext cx="10858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3. After the scripted fixture: DETECTED DRIFT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0ABA5B-927C-4C9A-A985-BD1CFF45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197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Restore the original definition between cases. The check never overwrites the edit.</a:t>
            </a:r>
          </a:p>
        </p:txBody>
      </p:sp>
    </p:spTree>
    <p:extLst>
      <p:ext uri="{BB962C8B-B14F-4D97-AF65-F5344CB8AC3E}">
        <p14:creationId xmlns:p14="http://schemas.microsoft.com/office/powerpoint/2010/main" val="160927207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BAB159-6104-45FD-B540-EA34E0CB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H: inspect the changed source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047BC4-2F0F-45BF-AFAA-3E2A61EE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30D18B-BA4A-4C77-AE0C-290C0907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7637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scripts/cicd-protection-check.sh drift --show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F1BD5-09A4-4695-B2CC-84495979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Published code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F1B06-EA12-4691-BF01-B02721CA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241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C4B3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BC4B3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C4B35"/>
                </a:solidFill>
                <a:latin typeface="Arial"/>
                <a:ea typeface="Arial"/>
                <a:cs typeface="Arial"/>
              </a:rPr>
              <a:t>Live edit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891BE-2A8F-4C2F-AF40-0553FBA2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Page title</a:t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APEX Delivery Laboratory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Region name</a:t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APEX Delivery Laboratory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C0D30-4598-45EA-AEF0-EE0ACD2C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33375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Page title</a:t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Manual drift demonstration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Region name</a:t>
            </a:r>
          </a:p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APEX Delivery XX Laboratory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27762B-9B00-4A11-8A66-4BDDC40A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02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command preserves both source trees and complete diffs. No restoration occurs.</a:t>
            </a:r>
          </a:p>
        </p:txBody>
      </p:sp>
    </p:spTree>
    <p:extLst>
      <p:ext uri="{BB962C8B-B14F-4D97-AF65-F5344CB8AC3E}">
        <p14:creationId xmlns:p14="http://schemas.microsoft.com/office/powerpoint/2010/main" val="18944905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6ACA6-DABB-4BF4-8613-D17C54EE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H: the Product Owner chooses restoration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C593A-71B2-4C96-A8B2-E150BC8E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D85A5-7B60-4630-8660-CAD79419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Undo: restore the published Title and region Name in Page Designer, then Save.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996F7E-6031-4801-AF8C-C95F8247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Keep: retain the export, capture/review it in Git and deliver a new release.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27C75-2EEA-4147-802C-4FFA667B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6237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Deployment remains blocked while unexpected drift remains.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5F1D70-E850-4AB5-93A4-DAAAD04C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006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scripts/cicd-protection-check.sh drift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6648CC-8D0B-44AC-A0BB-68B967B9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35F63"/>
                </a:solidFill>
                <a:latin typeface="Arial"/>
                <a:ea typeface="Arial"/>
                <a:cs typeface="Arial"/>
              </a:rPr>
              <a:t>Restoration passes only when the check returns NO DRIFT against the original receipt.</a:t>
            </a:r>
          </a:p>
        </p:txBody>
      </p:sp>
    </p:spTree>
    <p:extLst>
      <p:ext uri="{BB962C8B-B14F-4D97-AF65-F5344CB8AC3E}">
        <p14:creationId xmlns:p14="http://schemas.microsoft.com/office/powerpoint/2010/main" val="132471097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0D4FB-AC0E-4024-8A28-580F5B7E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Verification and recovery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673821-B80A-4F9E-A8F4-933BCFEF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4A6161-11A0-4571-9EEA-69F6C33C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Missing VERIFIER greeting: publication stops, then the prompt allows correction.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A8111-FF68-4B8F-8BF9-FFD36F37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Post-publication fixture failure: delivery stays successful and history stays saved.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E944B-1787-4145-9B09-FCFFA811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62375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 bounded continuation resumes the matching checkpoint without reinstalling.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8C7A49-E910-41D3-9104-AD2CD79A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435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235F6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35F63"/>
                </a:solidFill>
                <a:latin typeface="Arial"/>
                <a:ea typeface="Arial"/>
                <a:cs typeface="Arial"/>
              </a:rPr>
              <a:t>bash scripts/cicd-walkthrough-E_promotion.sh --resume-examples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F47B1-180A-4F17-8A44-962406EC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5787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43224"/>
                </a:solidFill>
                <a:latin typeface="Arial"/>
                <a:ea typeface="Arial"/>
                <a:cs typeface="Arial"/>
              </a:rPr>
              <a:t>These operator continuations do not prove automated repair of a failed database migration.</a:t>
            </a:r>
          </a:p>
        </p:txBody>
      </p:sp>
    </p:spTree>
    <p:extLst>
      <p:ext uri="{BB962C8B-B14F-4D97-AF65-F5344CB8AC3E}">
        <p14:creationId xmlns:p14="http://schemas.microsoft.com/office/powerpoint/2010/main" val="1385160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72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D55CE-0652-4C0B-A972-32579892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and remaining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03CBFF-F791-4995-A2CE-3B518872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8D7DC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64389-99F7-458F-A621-4439B542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86000"/>
            <a:ext cx="1076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selected journey works.</a:t>
            </a:r>
          </a:p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broader architecture still needs proof.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7E46CD-248C-44BA-B80F-FE8A36A8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05375"/>
            <a:ext cx="1076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CE7EB"/>
                </a:solidFill>
                <a:latin typeface="Arial"/>
                <a:ea typeface="Arial"/>
                <a:cs typeface="Arial"/>
              </a:rPr>
              <a:t>Prototype results and full sprint acceptance are separate decisions</a:t>
            </a:r>
          </a:p>
        </p:txBody>
      </p:sp>
    </p:spTree>
    <p:extLst>
      <p:ext uri="{BB962C8B-B14F-4D97-AF65-F5344CB8AC3E}">
        <p14:creationId xmlns:p14="http://schemas.microsoft.com/office/powerpoint/2010/main" val="172281913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E14D12-A355-4543-A394-D7D2C50E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Delivered evidence and official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806DF5-38FF-47B4-ACA2-EF749AF0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6C1243-65A6-4FB0-9C49-35E53472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PBI-011.1 and 011.3: tested on the board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2305D0-D70A-439C-BACD-D32AB7E8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7650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PBI-011.2, 011.4, 011.6 and 011.7: under construction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B1031-0039-47AF-B915-E8C833CD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PBI-011.5: under construction, with concurrent integration still unproved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F3183-DBF7-46D0-9877-B932047F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9100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PBI-011.8: failed additive deployment and repair remain unimplemented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AA54FC-EEC7-4ED7-8FA7-9913FB3C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2925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A4322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43224"/>
                </a:solidFill>
                <a:latin typeface="Arial"/>
                <a:ea typeface="Arial"/>
                <a:cs typeface="Arial"/>
              </a:rPr>
              <a:t>PBI-012–016 remain under_design. This handover proposes conclusions and follow-up, not status changes.</a:t>
            </a:r>
          </a:p>
        </p:txBody>
      </p:sp>
    </p:spTree>
    <p:extLst>
      <p:ext uri="{BB962C8B-B14F-4D97-AF65-F5344CB8AC3E}">
        <p14:creationId xmlns:p14="http://schemas.microsoft.com/office/powerpoint/2010/main" val="81275590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FE669-65B6-49B5-853E-35862846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The remaining Elaboration proofs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82559-1D10-4114-A9F8-6CA1302C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027BE-EA15-46E5-82D8-95CF9AB2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1085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Atomic contention: synchronized Hello competitors, exactly one winner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F3999-4ABA-411E-B7A9-2C01A40D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47950"/>
            <a:ext cx="1085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Parallel work: independent Hello/World contributions and safe integration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DE6F2-8D5F-4A3E-96AD-3255D34D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76650"/>
            <a:ext cx="1085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Maintenance: stale workers, in-flight sessions and verifier revocation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5F503-5B62-4F39-B3E3-C9607E68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05350"/>
            <a:ext cx="1085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Recovery: schema drift and one failed additive deployment with history-preserving repair</a:t>
            </a:r>
          </a:p>
        </p:txBody>
      </p:sp>
    </p:spTree>
    <p:extLst>
      <p:ext uri="{BB962C8B-B14F-4D97-AF65-F5344CB8AC3E}">
        <p14:creationId xmlns:p14="http://schemas.microsoft.com/office/powerpoint/2010/main" val="21169152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37C0B-5AF4-44A9-B9B8-F497D4A7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F3B"/>
                </a:solidFill>
                <a:latin typeface="Arial"/>
                <a:ea typeface="Arial"/>
                <a:cs typeface="Arial"/>
              </a:rPr>
              <a:t>Recommended next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02673B-C691-4132-AE43-267FCD86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6FCC2-2EE3-403B-ABAD-1A3189A3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Retain the demonstrated delivery and protection slice as E.1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1BE080-7727-491A-BA51-99D27B78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5750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Run one bounded Elaboration follow-up for concurrency, fencing and forward repair.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D61EB-57F2-499F-B9FD-DBEBBC69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528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F3B"/>
                </a:solidFill>
                <a:latin typeface="Arial"/>
                <a:ea typeface="Arial"/>
                <a:cs typeface="Arial"/>
              </a:rPr>
              <a:t>Reassess Lifecycle Architecture before committing to full Construction.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DB8F42-8C81-4B89-96E7-1B7288ED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150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3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36B"/>
                </a:solidFill>
                <a:latin typeface="Arial"/>
                <a:ea typeface="Arial"/>
                <a:cs typeface="Arial"/>
              </a:rPr>
              <a:t>A follow-up sprint and revised scope require Product Owner selection. No new sprint is activated here.</a:t>
            </a:r>
          </a:p>
        </p:txBody>
      </p:sp>
    </p:spTree>
    <p:extLst>
      <p:ext uri="{BB962C8B-B14F-4D97-AF65-F5344CB8AC3E}">
        <p14:creationId xmlns:p14="http://schemas.microsoft.com/office/powerpoint/2010/main" val="37197508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72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0C6AE3-0864-4E6A-B91E-8DA82E34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 Owner review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C07F0-6B69-4A47-BD65-5F3E1B41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428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C8D7D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8D7DC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C0E2E-83E1-4F5F-8C0E-804764F4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0500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Does the handover explain and demonstrate the selected A–H outcomes?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DC944D-397F-44CE-9D2A-ABCCD3C7F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03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Should the current manual edit be restored or retained for Git review?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12504E-C040-4268-8341-8B0989F6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9575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2F3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remaining proofs should the next Elaboration increment prioritize?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A907DA-AF45-46F0-BECB-84EA8FC8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02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DCE7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DCE7EB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DCE7EB"/>
                </a:solidFill>
                <a:latin typeface="Arial"/>
                <a:ea typeface="Arial"/>
                <a:cs typeface="Arial"/>
              </a:rPr>
              <a:t>E.1 remains open pending review and scope decisions</a:t>
            </a:r>
          </a:p>
        </p:txBody>
      </p:sp>
    </p:spTree>
    <p:extLst>
      <p:ext uri="{BB962C8B-B14F-4D97-AF65-F5344CB8AC3E}">
        <p14:creationId xmlns:p14="http://schemas.microsoft.com/office/powerpoint/2010/main" val="966614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2026-10-18T15:38:23.9540000Z</dcterms:created>
  <dcterms:modified xsi:type="dcterms:W3CDTF">2026-10-18T15:38:23.9540000Z</dcterms:modified>
</coreProperties>
</file>
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6d7447fbf7e466d" /><Relationship Type="http://schemas.openxmlformats.org/officeDocument/2006/relationships/extended-properties" Target="/docProps/app.xml" Id="R266ddefb6286491e" /><Relationship Type="http://schemas.openxmlformats.org/officeDocument/2006/relationships/officeDocument" Target="/ppt/presentation.xml" Id="Rb8a0e6a26bc4407d" /></Relationships>
</file>

<file path=ppt/presentation.xml><?xml version="1.0" encoding="utf-8"?>
<p:presentation xmlns:p="http://schemas.openxmlformats.org/presentationml/2006/main">
  <p:sldMasterIdLst>
    <p:sldMasterId xmlns:r="http://schemas.openxmlformats.org/officeDocument/2006/relationships" id="2147483648" r:id="Ra8cde0dd05764112"/>
  </p:sldMasterIdLst>
  <p:notesMasterIdLst>
    <p:notesMasterId xmlns:r="http://schemas.openxmlformats.org/officeDocument/2006/relationships" r:id="Rc935ff478b274390"/>
  </p:notesMasterIdLst>
  <p:sldIdLst>
    <p:sldId xmlns:r="http://schemas.openxmlformats.org/officeDocument/2006/relationships" id="256" r:id="R6ab2a4640dfd468d"/>
    <p:sldId xmlns:r="http://schemas.openxmlformats.org/officeDocument/2006/relationships" id="257" r:id="R19f77a3c2cc64c4d"/>
    <p:sldId xmlns:r="http://schemas.openxmlformats.org/officeDocument/2006/relationships" id="258" r:id="Rc05a0e3cd2a54045"/>
    <p:sldId xmlns:r="http://schemas.openxmlformats.org/officeDocument/2006/relationships" id="259" r:id="R797e9ae9f9f44ebe"/>
    <p:sldId xmlns:r="http://schemas.openxmlformats.org/officeDocument/2006/relationships" id="260" r:id="R040d5f8262314a04"/>
    <p:sldId xmlns:r="http://schemas.openxmlformats.org/officeDocument/2006/relationships" id="261" r:id="R5b3d9fe3d0704fe5"/>
    <p:sldId xmlns:r="http://schemas.openxmlformats.org/officeDocument/2006/relationships" id="262" r:id="Rf23268c6373f4a3d"/>
    <p:sldId xmlns:r="http://schemas.openxmlformats.org/officeDocument/2006/relationships" id="263" r:id="R62a1055fd396422f"/>
    <p:sldId xmlns:r="http://schemas.openxmlformats.org/officeDocument/2006/relationships" id="264" r:id="R54f50c2f732f4d1f"/>
    <p:sldId xmlns:r="http://schemas.openxmlformats.org/officeDocument/2006/relationships" id="265" r:id="R388dafdb2f0846c5"/>
    <p:sldId xmlns:r="http://schemas.openxmlformats.org/officeDocument/2006/relationships" id="266" r:id="Rbbbfe0523bc64e9f"/>
    <p:sldId xmlns:r="http://schemas.openxmlformats.org/officeDocument/2006/relationships" id="267" r:id="Rf42dadb463fc4659"/>
    <p:sldId xmlns:r="http://schemas.openxmlformats.org/officeDocument/2006/relationships" id="268" r:id="Rf6e9b78bc26a4d2e"/>
    <p:sldId xmlns:r="http://schemas.openxmlformats.org/officeDocument/2006/relationships" id="269" r:id="R5f51980595be4b62"/>
    <p:sldId xmlns:r="http://schemas.openxmlformats.org/officeDocument/2006/relationships" id="270" r:id="R15664c9c112749dc"/>
    <p:sldId xmlns:r="http://schemas.openxmlformats.org/officeDocument/2006/relationships" id="271" r:id="Re5c1314a4ed0405c"/>
    <p:sldId xmlns:r="http://schemas.openxmlformats.org/officeDocument/2006/relationships" id="272" r:id="R89bc0b0fbf1640e0"/>
    <p:sldId xmlns:r="http://schemas.openxmlformats.org/officeDocument/2006/relationships" id="273" r:id="R84ba16b9f2ef4331"/>
    <p:sldId xmlns:r="http://schemas.openxmlformats.org/officeDocument/2006/relationships" id="274" r:id="Rc207f38a9d954ce7"/>
    <p:sldId xmlns:r="http://schemas.openxmlformats.org/officeDocument/2006/relationships" id="275" r:id="R8aca8623b42046a5"/>
    <p:sldId xmlns:r="http://schemas.openxmlformats.org/officeDocument/2006/relationships" id="276" r:id="Rb45c0b6e2b054e57"/>
    <p:sldId xmlns:r="http://schemas.openxmlformats.org/officeDocument/2006/relationships" id="277" r:id="Rff42431320b3452f"/>
    <p:sldId xmlns:r="http://schemas.openxmlformats.org/officeDocument/2006/relationships" id="278" r:id="R7ef8a574053d4b3e"/>
    <p:sldId xmlns:r="http://schemas.openxmlformats.org/officeDocument/2006/relationships" id="279" r:id="Rb1f8965ce43c4be9"/>
    <p:sldId xmlns:r="http://schemas.openxmlformats.org/officeDocument/2006/relationships" id="280" r:id="Rbd8500a1ce0d4827"/>
    <p:sldId xmlns:r="http://schemas.openxmlformats.org/officeDocument/2006/relationships" id="281" r:id="Ra20e16b0cad64014"/>
    <p:sldId xmlns:r="http://schemas.openxmlformats.org/officeDocument/2006/relationships" id="282" r:id="R3584eb8786e74eff"/>
    <p:sldId xmlns:r="http://schemas.openxmlformats.org/officeDocument/2006/relationships" id="283" r:id="Rfbc7bc0a48464e17"/>
    <p:sldId xmlns:r="http://schemas.openxmlformats.org/officeDocument/2006/relationships" id="284" r:id="R52d4ed7a6fff49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e69f9685c646e8" /><Relationship Type="http://schemas.openxmlformats.org/officeDocument/2006/relationships/slideMaster" Target="/ppt/slideMasters/slideMaster1.xml" Id="Ra8cde0dd05764112" /><Relationship Type="http://schemas.openxmlformats.org/officeDocument/2006/relationships/notesMaster" Target="/ppt/notesMasters/notesMaster1.xml" Id="Rc935ff478b274390" /><Relationship Type="http://schemas.openxmlformats.org/officeDocument/2006/relationships/presProps" Target="/ppt/presProps.xml" Id="R3125ba0dd4104c7b" /><Relationship Type="http://schemas.openxmlformats.org/officeDocument/2006/relationships/tableStyles" Target="/ppt/tableStyles.xml" Id="Raf669977f7a74c42" /><Relationship Type="http://schemas.openxmlformats.org/officeDocument/2006/relationships/slide" Target="/ppt/slides/slide1.xml" Id="R6ab2a4640dfd468d" /><Relationship Type="http://schemas.openxmlformats.org/officeDocument/2006/relationships/slide" Target="/ppt/slides/slide2.xml" Id="R19f77a3c2cc64c4d" /><Relationship Type="http://schemas.openxmlformats.org/officeDocument/2006/relationships/slide" Target="/ppt/slides/slide3.xml" Id="Rc05a0e3cd2a54045" /><Relationship Type="http://schemas.openxmlformats.org/officeDocument/2006/relationships/slide" Target="/ppt/slides/slide4.xml" Id="R797e9ae9f9f44ebe" /><Relationship Type="http://schemas.openxmlformats.org/officeDocument/2006/relationships/slide" Target="/ppt/slides/slide5.xml" Id="R040d5f8262314a04" /><Relationship Type="http://schemas.openxmlformats.org/officeDocument/2006/relationships/slide" Target="/ppt/slides/slide6.xml" Id="R5b3d9fe3d0704fe5" /><Relationship Type="http://schemas.openxmlformats.org/officeDocument/2006/relationships/slide" Target="/ppt/slides/slide7.xml" Id="Rf23268c6373f4a3d" /><Relationship Type="http://schemas.openxmlformats.org/officeDocument/2006/relationships/slide" Target="/ppt/slides/slide8.xml" Id="R62a1055fd396422f" /><Relationship Type="http://schemas.openxmlformats.org/officeDocument/2006/relationships/slide" Target="/ppt/slides/slide9.xml" Id="R54f50c2f732f4d1f" /><Relationship Type="http://schemas.openxmlformats.org/officeDocument/2006/relationships/slide" Target="/ppt/slides/slide10.xml" Id="R388dafdb2f0846c5" /><Relationship Type="http://schemas.openxmlformats.org/officeDocument/2006/relationships/slide" Target="/ppt/slides/slide11.xml" Id="Rbbbfe0523bc64e9f" /><Relationship Type="http://schemas.openxmlformats.org/officeDocument/2006/relationships/slide" Target="/ppt/slides/slide12.xml" Id="Rf42dadb463fc4659" /><Relationship Type="http://schemas.openxmlformats.org/officeDocument/2006/relationships/slide" Target="/ppt/slides/slide13.xml" Id="Rf6e9b78bc26a4d2e" /><Relationship Type="http://schemas.openxmlformats.org/officeDocument/2006/relationships/slide" Target="/ppt/slides/slide14.xml" Id="R5f51980595be4b62" /><Relationship Type="http://schemas.openxmlformats.org/officeDocument/2006/relationships/slide" Target="/ppt/slides/slide15.xml" Id="R15664c9c112749dc" /><Relationship Type="http://schemas.openxmlformats.org/officeDocument/2006/relationships/slide" Target="/ppt/slides/slide16.xml" Id="Re5c1314a4ed0405c" /><Relationship Type="http://schemas.openxmlformats.org/officeDocument/2006/relationships/slide" Target="/ppt/slides/slide17.xml" Id="R89bc0b0fbf1640e0" /><Relationship Type="http://schemas.openxmlformats.org/officeDocument/2006/relationships/slide" Target="/ppt/slides/slide18.xml" Id="R84ba16b9f2ef4331" /><Relationship Type="http://schemas.openxmlformats.org/officeDocument/2006/relationships/slide" Target="/ppt/slides/slide19.xml" Id="Rc207f38a9d954ce7" /><Relationship Type="http://schemas.openxmlformats.org/officeDocument/2006/relationships/slide" Target="/ppt/slides/slide20.xml" Id="R8aca8623b42046a5" /><Relationship Type="http://schemas.openxmlformats.org/officeDocument/2006/relationships/slide" Target="/ppt/slides/slide21.xml" Id="Rb45c0b6e2b054e57" /><Relationship Type="http://schemas.openxmlformats.org/officeDocument/2006/relationships/slide" Target="/ppt/slides/slide22.xml" Id="Rff42431320b3452f" /><Relationship Type="http://schemas.openxmlformats.org/officeDocument/2006/relationships/slide" Target="/ppt/slides/slide23.xml" Id="R7ef8a574053d4b3e" /><Relationship Type="http://schemas.openxmlformats.org/officeDocument/2006/relationships/slide" Target="/ppt/slides/slide24.xml" Id="Rb1f8965ce43c4be9" /><Relationship Type="http://schemas.openxmlformats.org/officeDocument/2006/relationships/slide" Target="/ppt/slides/slide25.xml" Id="Rbd8500a1ce0d4827" /><Relationship Type="http://schemas.openxmlformats.org/officeDocument/2006/relationships/slide" Target="/ppt/slides/slide26.xml" Id="Ra20e16b0cad64014" /><Relationship Type="http://schemas.openxmlformats.org/officeDocument/2006/relationships/slide" Target="/ppt/slides/slide27.xml" Id="R3584eb8786e74eff" /><Relationship Type="http://schemas.openxmlformats.org/officeDocument/2006/relationships/slide" Target="/ppt/slides/slide28.xml" Id="Rfbc7bc0a48464e17" /><Relationship Type="http://schemas.openxmlformats.org/officeDocument/2006/relationships/slide" Target="/ppt/slides/slide29.xml" Id="R52d4ed7a6fff49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fd17788372473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ba767742754082" /><Relationship Type="http://schemas.openxmlformats.org/officeDocument/2006/relationships/notesMaster" Target="/ppt/notesMasters/notesMaster1.xml" Id="R7d4ee156db6d4d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4ea3d6ef4a44402" /><Relationship Type="http://schemas.openxmlformats.org/officeDocument/2006/relationships/notesMaster" Target="/ppt/notesMasters/notesMaster1.xml" Id="Re47f383c471e47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717437c445d244d0" /><Relationship Type="http://schemas.openxmlformats.org/officeDocument/2006/relationships/notesMaster" Target="/ppt/notesMasters/notesMaster1.xml" Id="Rd64c667373ad48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1cea228b414f9d" /><Relationship Type="http://schemas.openxmlformats.org/officeDocument/2006/relationships/notesMaster" Target="/ppt/notesMasters/notesMaster1.xml" Id="Re325994e768c46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2d32b1a86144f2" /><Relationship Type="http://schemas.openxmlformats.org/officeDocument/2006/relationships/notesMaster" Target="/ppt/notesMasters/notesMaster1.xml" Id="R3d52589653e942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75d9c44e1b469f" /><Relationship Type="http://schemas.openxmlformats.org/officeDocument/2006/relationships/notesMaster" Target="/ppt/notesMasters/notesMaster1.xml" Id="Rd6f4d9a50e944a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fcddc673c646f3" /><Relationship Type="http://schemas.openxmlformats.org/officeDocument/2006/relationships/notesMaster" Target="/ppt/notesMasters/notesMaster1.xml" Id="Rc2a07da1b6044a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2a775eca7d44b35" /><Relationship Type="http://schemas.openxmlformats.org/officeDocument/2006/relationships/notesMaster" Target="/ppt/notesMasters/notesMaster1.xml" Id="R8340c40500b646e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050a6eb54cd42e6" /><Relationship Type="http://schemas.openxmlformats.org/officeDocument/2006/relationships/notesMaster" Target="/ppt/notesMasters/notesMaster1.xml" Id="R43fac4a8971846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3d2f8f97c44a06" /><Relationship Type="http://schemas.openxmlformats.org/officeDocument/2006/relationships/notesMaster" Target="/ppt/notesMasters/notesMaster1.xml" Id="Ra4fe6f5b26454b6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650834938cb4435" /><Relationship Type="http://schemas.openxmlformats.org/officeDocument/2006/relationships/notesMaster" Target="/ppt/notesMasters/notesMaster1.xml" Id="R14b51ab2be2d4c5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a39211837f4fc7" /><Relationship Type="http://schemas.openxmlformats.org/officeDocument/2006/relationships/notesMaster" Target="/ppt/notesMasters/notesMaster1.xml" Id="R915ce535fa864ed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c487dc0d81445ed" /><Relationship Type="http://schemas.openxmlformats.org/officeDocument/2006/relationships/notesMaster" Target="/ppt/notesMasters/notesMaster1.xml" Id="Rc874569e1f1649d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ce743a30e43401c" /><Relationship Type="http://schemas.openxmlformats.org/officeDocument/2006/relationships/notesMaster" Target="/ppt/notesMasters/notesMaster1.xml" Id="R13a2c4aa11c2463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18d847c68443f6" /><Relationship Type="http://schemas.openxmlformats.org/officeDocument/2006/relationships/notesMaster" Target="/ppt/notesMasters/notesMaster1.xml" Id="R5ce9270ca186497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5bb6247f9cb4b05" /><Relationship Type="http://schemas.openxmlformats.org/officeDocument/2006/relationships/notesMaster" Target="/ppt/notesMasters/notesMaster1.xml" Id="R7579ad65ab9046a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4557abf0631465e" /><Relationship Type="http://schemas.openxmlformats.org/officeDocument/2006/relationships/notesMaster" Target="/ppt/notesMasters/notesMaster1.xml" Id="Rb421ba03ffdf48a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e5d93acd0f54a9a" /><Relationship Type="http://schemas.openxmlformats.org/officeDocument/2006/relationships/notesMaster" Target="/ppt/notesMasters/notesMaster1.xml" Id="R4243c4600bd04ac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4611bfc326a473d" /><Relationship Type="http://schemas.openxmlformats.org/officeDocument/2006/relationships/notesMaster" Target="/ppt/notesMasters/notesMaster1.xml" Id="R162395dcd41347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365063dd2cd4bfc" /><Relationship Type="http://schemas.openxmlformats.org/officeDocument/2006/relationships/notesMaster" Target="/ppt/notesMasters/notesMaster1.xml" Id="R4dfbac2ace6f48d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1ed1761a4144a40" /><Relationship Type="http://schemas.openxmlformats.org/officeDocument/2006/relationships/notesMaster" Target="/ppt/notesMasters/notesMaster1.xml" Id="R22f3604f866e4de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ff8c2bb96654fc1" /><Relationship Type="http://schemas.openxmlformats.org/officeDocument/2006/relationships/notesMaster" Target="/ppt/notesMasters/notesMaster1.xml" Id="R05caf25426374da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6281b144d594683" /><Relationship Type="http://schemas.openxmlformats.org/officeDocument/2006/relationships/notesMaster" Target="/ppt/notesMasters/notesMaster1.xml" Id="R7831c7e79f32463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563cd5e59d74962" /><Relationship Type="http://schemas.openxmlformats.org/officeDocument/2006/relationships/notesMaster" Target="/ppt/notesMasters/notesMaster1.xml" Id="R1764de76d4564e9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bdc23937f034026" /><Relationship Type="http://schemas.openxmlformats.org/officeDocument/2006/relationships/notesMaster" Target="/ppt/notesMasters/notesMaster1.xml" Id="Re6409e108f5b4b2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20ef5cbc42d46ed" /><Relationship Type="http://schemas.openxmlformats.org/officeDocument/2006/relationships/notesMaster" Target="/ppt/notesMasters/notesMaster1.xml" Id="R2643dee890654f1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ae66fedd5be49db" /><Relationship Type="http://schemas.openxmlformats.org/officeDocument/2006/relationships/notesMaster" Target="/ppt/notesMasters/notesMaster1.xml" Id="Re829fb12adae4bb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d2aa0dd0bfa4716" /><Relationship Type="http://schemas.openxmlformats.org/officeDocument/2006/relationships/notesMaster" Target="/ppt/notesMasters/notesMaster1.xml" Id="R1c6452b54cfe49b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6ecb1eb4a794415" /><Relationship Type="http://schemas.openxmlformats.org/officeDocument/2006/relationships/notesMaster" Target="/ppt/notesMasters/notesMaster1.xml" Id="R31f522b3dace40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progress/E.1/cicd-walkthrough.md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progress/E.1/cicd-walkthrough.md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progress/E.1/sprint_E.1_design.md; config/areas.json</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progress/E.1/model.drawio; progress/E.1/repo_layout.md</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Editable presentation adaptation of model.drawio page 'lifecycle', cells dev, git, q, t, packager, build, qarchive, same. Source SHA256 317050eb8f9705de970d64cf1f3f81a1b58a8cdf976ef7239e7c66b2087c0ffe. Full cell labels: dev: Development — A/B/C</a:t>
            </a:r>
          </a:p>
          <a:p xmlns:a="http://schemas.openxmlformats.org/drawingml/2006/main">
            <a:r>
              <a:t>git: Shared source and package</a:t>
            </a:r>
          </a:p>
          <a:p xmlns:a="http://schemas.openxmlformats.org/drawingml/2006/main">
            <a:r>
              <a:t>q: D — integration_test · 810004</a:t>
            </a:r>
          </a:p>
          <a:p xmlns:a="http://schemas.openxmlformats.org/drawingml/2006/main">
            <a:r>
              <a:t>t: E — user_acceptance_test · 810005</a:t>
            </a:r>
          </a:p>
          <a:p xmlns:a="http://schemas.openxmlformats.org/drawingml/2006/main">
            <a:r>
              <a:t>build: Development team releases package</a:t>
            </a:r>
          </a:p>
          <a:p xmlns:a="http://schemas.openxmlformats.org/drawingml/2006/main">
            <a:r>
              <a:t>Accepted Git + candidate evidence</a:t>
            </a:r>
          </a:p>
          <a:p xmlns:a="http://schemas.openxmlformats.org/drawingml/2006/main">
            <a:r>
              <a:t>Build once: archive, manifest, SHA-256</a:t>
            </a:r>
          </a:p>
          <a:p xmlns:a="http://schemas.openxmlformats.org/drawingml/2006/main">
            <a:r>
              <a:t>qarchive: Install and qualify this exact archive</a:t>
            </a:r>
          </a:p>
          <a:p xmlns:a="http://schemas.openxmlformats.org/drawingml/2006/main">
            <a:r>
              <a:t>No developer business data copied</a:t>
            </a:r>
          </a:p>
          <a:p xmlns:a="http://schemas.openxmlformats.org/drawingml/2006/main">
            <a:r>
              <a:t>same: Promote the SAME qualified archive</a:t>
            </a:r>
          </a:p>
          <a:p xmlns:a="http://schemas.openxmlformats.org/drawingml/2006/main">
            <a:r>
              <a:t>Require its successful integration_test receipt</a:t>
            </a:r>
          </a:p>
          <a:p xmlns:a="http://schemas.openxmlformats.org/drawingml/2006/main">
            <a:r>
              <a:t>packager: Packager / verifier — A-02</a:t>
            </a:r>
          </a:p>
          <a:p xmlns:a="http://schemas.openxmlformats.org/drawingml/2006/main">
            <a:r>
              <a:t>Development team</a:t>
            </a:r>
          </a:p>
          <a:p xmlns:a="http://schemas.openxmlformats.org/drawingml/2006/main">
            <a:r>
              <a:t>Smoke-check C → release reviewed package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progress/E.1/model.drawio; docs/architecture.md</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Editable presentation adaptation of model.drawio page 'lifecycle', cells f, h, w, hf, wf. Source SHA256 317050eb8f9705de970d64cf1f3f81a1b58a8cdf976ef7239e7c66b2087c0ffe. Full cell labels: f: Foundation</a:t>
            </a:r>
          </a:p>
          <a:p xmlns:a="http://schemas.openxmlformats.org/drawingml/2006/main">
            <a:r>
              <a:t>h: Hello</a:t>
            </a:r>
          </a:p>
          <a:p xmlns:a="http://schemas.openxmlformats.org/drawingml/2006/main">
            <a:r>
              <a:t>w: World</a:t>
            </a:r>
          </a:p>
          <a:p xmlns:a="http://schemas.openxmlformats.org/drawingml/2006/main">
            <a:r>
              <a:t>hf: </a:t>
            </a:r>
          </a:p>
          <a:p xmlns:a="http://schemas.openxmlformats.org/drawingml/2006/main">
            <a:r>
              <a:t>wf: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docs/architecture.md; progress/E.1/cicd-walkthrough.md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deploy/operator/capture.sql; deploy/operator/import.sql; docs/architecture.md; scripts/cicd-drift-diff.py</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Capture uses apex export -applicationid with -split -skipExportDate -expOriginalIds -expSupportingObjects N and a staging -dir. Import sets workspace, application ID, schema, alias and supported offset context before executing native exported install.sql. APEX_EXPORT.GET_APPLICATION with CHECKSUM-SH256 fingerprints live APEX metadata. ORDS serves runtime HTTP; it is not the release deployment API. APEX export is application metadata, not business data or a database schema migration. Working Copies remain a candidate break-glass option in the architecture; this prototype does not validate their compare/merge workflow. Team Development is not the CI/CD engine.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progress/E.1/repo_layout.md; release/manifest.json</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The repository is the current APEX_CICD checkout. The sprint guide progress/E.1/repo_layout.md is the detailed draft reference. A–C replay existing reviewed Git revisions; there are no separate component repositories or per-environment canonical export trees.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progress/E.1/repo_layout.md; docs/architecture.md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progress/E.1/repo_layout.md; https://docs.oracle.com/en/database/oracle/apex/24.2/aeadm/exporting-one-or-more-applications.html</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Oracle APEX 24.2 Administration Guide, section 3.12.11.1.6.4, recommends split exports for granular source-control review and notes install.sql/create_application.sql change when a page is added. Git merging is a text operation, not an APEX semantic merge. Stable capture options (-skipExportDate/-expOriginalIds) reduce noise but do not guarantee portable identity or semantic safety. Actual parallel capture/merge proof remains unfinished. Binary assets may be managed separately; this slide refers to the generated SQL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progress/E.1/repo_layout.md; progress/E.1/sprint_E.1_assessment.md</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No CI provider, repository server or production target is selected. Existing local scripts establish the delivery path; this slide proposes automation around it rather than claiming hosted CI exists. Candidate checks run against the candidate/base; accepted-source packaging and integration testing precede same-artifact UAT promotion.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progress/E.1/cicd-walkthrough.md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docs/deploy.md; progress/E.1/cicd-walkthrough.md</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Full commands, credentials, separate area provisioning and developer login setup are in companion Markdown stage 2. Infrastructure initialization cannot create project schemas. An independent clean-checkout A–I rehearsal passes at 54c0fd3 using a new empty engine, fresh credentials, reconstructed archives and explicit runtime API fixtures. Browser acceptance is separate.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progress/E.1/cicd-walkthrough.md; progress/E.1/model.drawio</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Editable presentation adaptation of model.drawio page 'lifecycle', cells devnote, a, b, c, f, h, w, devcheck. Source SHA256 317050eb8f9705de970d64cf1f3f81a1b58a8cdf976ef7239e7c66b2087c0ffe. Full cell labels: devnote: Private schemas/workspaces/apps on one host.</a:t>
            </a:r>
          </a:p>
          <a:p xmlns:a="http://schemas.openxmlformats.org/drawingml/2006/main">
            <a:r>
              <a:t>A: Foundation · B: + Hello · C: complete assembly.</a:t>
            </a:r>
          </a:p>
          <a:p xmlns:a="http://schemas.openxmlformats.org/drawingml/2006/main">
            <a:r>
              <a:t>Hello and World both depend on Foundation.</a:t>
            </a:r>
          </a:p>
          <a:p xmlns:a="http://schemas.openxmlformats.org/drawingml/2006/main">
            <a:r>
              <a:t>No World → Hello dependency; no shared editing area.</a:t>
            </a:r>
          </a:p>
          <a:p xmlns:a="http://schemas.openxmlformats.org/drawingml/2006/main">
            <a:r>
              <a:t>a: A</a:t>
            </a:r>
          </a:p>
          <a:p xmlns:a="http://schemas.openxmlformats.org/drawingml/2006/main">
            <a:r>
              <a:t>b: B</a:t>
            </a:r>
          </a:p>
          <a:p xmlns:a="http://schemas.openxmlformats.org/drawingml/2006/main">
            <a:r>
              <a:t>c: C</a:t>
            </a:r>
          </a:p>
          <a:p xmlns:a="http://schemas.openxmlformats.org/drawingml/2006/main">
            <a:r>
              <a:t>f: Foundation</a:t>
            </a:r>
          </a:p>
          <a:p xmlns:a="http://schemas.openxmlformats.org/drawingml/2006/main">
            <a:r>
              <a:t>h: Hello</a:t>
            </a:r>
          </a:p>
          <a:p xmlns:a="http://schemas.openxmlformats.org/drawingml/2006/main">
            <a:r>
              <a:t>w: World</a:t>
            </a:r>
          </a:p>
          <a:p xmlns:a="http://schemas.openxmlformats.org/drawingml/2006/main">
            <a:r>
              <a:t>devcheck: Development team / Packager smoke check</a:t>
            </a:r>
          </a:p>
          <a:p xmlns:a="http://schemas.openxmlformats.org/drawingml/2006/main">
            <a:r>
              <a:t>Uses VERIFIER in C application 810003</a:t>
            </a:r>
          </a:p>
          <a:p xmlns:a="http://schemas.openxmlformats.org/drawingml/2006/main">
            <a:r>
              <a:t>Passing opens C to LAB_USER, not user_acceptance_test</a:t>
            </a:r>
          </a:p>
          <a:p xmlns:a="http://schemas.openxmlformats.org/drawingml/2006/main">
            <a:r>
              <a:t>This walkthrough replays reviewed sequential source checkpoints. Real concurrent Hello/World development is not proved by A–C. C uses independent Hello/World selectors; configure defaults when using the default greeting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progress/E.1/model.drawio; scripts/cicd-walkthrough-D_integration_test.sh</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Editable presentation adaptation of model.drawio page 'D integration_test', cells step2, step3, step4, step5, step6. Source SHA256 317050eb8f9705de970d64cf1f3f81a1b58a8cdf976ef7239e7c66b2087c0ffe. Full cell labels: step2: 2. Select + inspect archive</a:t>
            </a:r>
          </a:p>
          <a:p xmlns:a="http://schemas.openxmlformats.org/drawingml/2006/main">
            <a:r>
              <a:t>initial-selected.txt → immutable reviewed 1.0.0 archive.</a:t>
            </a:r>
          </a:p>
          <a:p xmlns:a="http://schemas.openxmlformats.org/drawingml/2006/main">
            <a:r>
              <a:t>Check SHA-256, members, manifest and source/candidate identity.</a:t>
            </a:r>
          </a:p>
          <a:p xmlns:a="http://schemas.openxmlformats.org/drawingml/2006/main">
            <a:r>
              <a:t>step3: 3. Read status</a:t>
            </a:r>
          </a:p>
          <a:p xmlns:a="http://schemas.openxmlformats.org/drawingml/2006/main">
            <a:r>
              <a:t>Archive controller: status. Read current integration_test epoch.</a:t>
            </a:r>
          </a:p>
          <a:p xmlns:a="http://schemas.openxmlformats.org/drawingml/2006/main">
            <a:r>
              <a:t>step4: 4. Admit empty target</a:t>
            </a:r>
          </a:p>
          <a:p xmlns:a="http://schemas.openxmlformats.org/drawingml/2006/main">
            <a:r>
              <a:t>Prompt → admit with expected epoch.</a:t>
            </a:r>
          </a:p>
          <a:p xmlns:a="http://schemas.openxmlformats.org/drawingml/2006/main">
            <a:r>
              <a:t>Record ownership/attempt; advance epoch; runtime remains gated.</a:t>
            </a:r>
          </a:p>
          <a:p xmlns:a="http://schemas.openxmlformats.org/drawingml/2006/main">
            <a:r>
              <a:t>step5: 5. Migrate</a:t>
            </a:r>
          </a:p>
          <a:p xmlns:a="http://schemas.openxmlformats.org/drawingml/2006/main">
            <a:r>
              <a:t>Prompt → migrate. SQLcl Liquibase validate → update → status.</a:t>
            </a:r>
          </a:p>
          <a:p xmlns:a="http://schemas.openxmlformats.org/drawingml/2006/main">
            <a:r>
              <a:t>Initial archive migrations 001–004, not checkout patch migrations.</a:t>
            </a:r>
          </a:p>
          <a:p xmlns:a="http://schemas.openxmlformats.org/drawingml/2006/main">
            <a:r>
              <a:t>step6: 6. Import</a:t>
            </a:r>
          </a:p>
          <a:p xmlns:a="http://schemas.openxmlformats.org/drawingml/2006/main">
            <a:r>
              <a:t>Prompt → import native split source into app 810004.</a:t>
            </a:r>
          </a:p>
          <a:p xmlns:a="http://schemas.openxmlformats.org/drawingml/2006/main">
            <a:r>
              <a:t>Map E1_INTEGRATION; assert ordinary runtime is still blocked.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progress/E.1/model.drawio; deploy/operator/publish_initial.sql</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Editable presentation adaptation of model.drawio page 'D integration_test', cells step7, step8, step9, step10, step11, step12, step14. Source SHA256 317050eb8f9705de970d64cf1f3f81a1b58a8cdf976ef7239e7c66b2087c0ffe. Full cell labels: step7: 7. Units + integrity</a:t>
            </a:r>
          </a:p>
          <a:p xmlns:a="http://schemas.openxmlformats.org/drawingml/2006/main">
            <a:r>
              <a:t>Prompt → units. Versions/pages/compilation, composition/history.</a:t>
            </a:r>
          </a:p>
          <a:p xmlns:a="http://schemas.openxmlformats.org/drawingml/2006/main">
            <a:r>
              <a:t>Transactional unit fixtures roll back.</a:t>
            </a:r>
          </a:p>
          <a:p xmlns:a="http://schemas.openxmlformats.org/drawingml/2006/main">
            <a:r>
              <a:t>step8: 8. Enable verification</a:t>
            </a:r>
          </a:p>
          <a:p xmlns:a="http://schemas.openxmlformats.org/drawingml/2006/main">
            <a:r>
              <a:t>Prompt → verify. Integrity + no packaged business data.</a:t>
            </a:r>
          </a:p>
          <a:p xmlns:a="http://schemas.openxmlformats.org/drawingml/2006/main">
            <a:r>
              <a:t>Allow VERIFIER; mark attempt verifying. Browser test is next.</a:t>
            </a:r>
          </a:p>
          <a:p xmlns:a="http://schemas.openxmlformats.org/drawingml/2006/main">
            <a:r>
              <a:t>step9: 9. Retrieve VERIFIER password</a:t>
            </a:r>
          </a:p>
          <a:p xmlns:a="http://schemas.openxmlformats.org/drawingml/2006/main">
            <a:r>
              <a:t>Second terminal: python3 scripts/cicd-password.py VERIFIER</a:t>
            </a:r>
          </a:p>
          <a:p xmlns:a="http://schemas.openxmlformats.org/drawingml/2006/main">
            <a:r>
              <a:t>step10: 10. Browser as VERIFIER</a:t>
            </a:r>
          </a:p>
          <a:p xmlns:a="http://schemas.openxmlformats.org/drawingml/2006/main">
            <a:r>
              <a:t>integration_test URL: create Hello/World, configure defaults,</a:t>
            </a:r>
          </a:p>
          <a:p xmlns:a="http://schemas.openxmlformats.org/drawingml/2006/main">
            <a:r>
              <a:t>save Hello World and refresh history. Leave CLI waiting.</a:t>
            </a:r>
          </a:p>
          <a:p xmlns:a="http://schemas.openxmlformats.org/drawingml/2006/main">
            <a:r>
              <a:t>step11: 11. Publish integration_test</a:t>
            </a:r>
          </a:p>
          <a:p xmlns:a="http://schemas.openxmlformats.org/drawingml/2006/main">
            <a:r>
              <a:t>Continue CLI. Require saved VERIFIER snapshot; prepare native</a:t>
            </a:r>
          </a:p>
          <a:p xmlns:a="http://schemas.openxmlformats.org/drawingml/2006/main">
            <a:r>
              <a:t>availability; fingerprint; commit ready gate + success receipt.</a:t>
            </a:r>
          </a:p>
          <a:p xmlns:a="http://schemas.openxmlformats.org/drawingml/2006/main">
            <a:r>
              <a:t>step12: 12. Check result</a:t>
            </a:r>
          </a:p>
          <a:p xmlns:a="http://schemas.openxmlformats.org/drawingml/2006/main">
            <a:r>
              <a:t>Ready state, versions, same archive hash and matching live</a:t>
            </a:r>
          </a:p>
          <a:p xmlns:a="http://schemas.openxmlformats.org/drawingml/2006/main">
            <a:r>
              <a:t>fingerprint. Mark D complete only after result succeeds.</a:t>
            </a:r>
          </a:p>
          <a:p xmlns:a="http://schemas.openxmlformats.org/drawingml/2006/main">
            <a:r>
              <a:t>step14: 14. Browser as LAB_USER</a:t>
            </a:r>
          </a:p>
          <a:p xmlns:a="http://schemas.openxmlformats.org/drawingml/2006/main">
            <a:r>
              <a:t>Sign out of VERIFIER; use integration_test app; create a greeting</a:t>
            </a:r>
          </a:p>
          <a:p xmlns:a="http://schemas.openxmlformats.org/drawingml/2006/main">
            <a:r>
              <a:t>and refresh history. Confirm ordinary access after publication.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scripts/cicd-walkthrough-E_promotion.sh; progress/E.1/tests/environment_rename_20261018.txt</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Editable presentation adaptation of model.drawio page 'lifecycle', cells qarchive, same, retain. Source SHA256 317050eb8f9705de970d64cf1f3f81a1b58a8cdf976ef7239e7c66b2087c0ffe. Full cell labels: qarchive: Install and qualify this exact archive</a:t>
            </a:r>
          </a:p>
          <a:p xmlns:a="http://schemas.openxmlformats.org/drawingml/2006/main">
            <a:r>
              <a:t>No developer business data copied</a:t>
            </a:r>
          </a:p>
          <a:p xmlns:a="http://schemas.openxmlformats.org/drawingml/2006/main">
            <a:r>
              <a:t>retain: Normal upgrades preserve</a:t>
            </a:r>
          </a:p>
          <a:p xmlns:a="http://schemas.openxmlformats.org/drawingml/2006/main">
            <a:r>
              <a:t>user_acceptance_test settings and greeting history.</a:t>
            </a:r>
          </a:p>
          <a:p xmlns:a="http://schemas.openxmlformats.org/drawingml/2006/main">
            <a:r>
              <a:t>Whole-lab destruction is separate.</a:t>
            </a:r>
          </a:p>
          <a:p xmlns:a="http://schemas.openxmlformats.org/drawingml/2006/main">
            <a:r>
              <a:t>same: Promote the SAME qualified archive</a:t>
            </a:r>
          </a:p>
          <a:p xmlns:a="http://schemas.openxmlformats.org/drawingml/2006/main">
            <a:r>
              <a:t>Require its successful integration_test receipt</a:t>
            </a:r>
          </a:p>
          <a:p xmlns:a="http://schemas.openxmlformats.org/drawingml/2006/main">
            <a:r>
              <a:t>Initial archive SHA256 d99fe83ec3d149739a12ec0cf2f01081ae027d1ec015e16d5a971ff3c602ab45. Source 08a5cf27e8a31ff7b77b6fd694f673847726eda1. E and F passed in the Product Owner walkthrough. The initial runtime is historical after F; do not downgrade UAT to replay it. A successful UAT deployment is not Product Owner acceptance of the full product.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scripts/cicd-walkthrough-F_hello_patch.sh; release/manifest.json</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Current handover read-only comparison: PASS all fields of 21 prior history rows, old entries and complete configuration unchanged. New rows may append. Patch SHA256 4ba3abb8709f256c7a47e3e9294d3e7303f742145a95cb58d808ca6c6bcf7200, source ee8f1af8e35f81bb3b75051243df2ab9c6e4c0e5. Complete application archive contains the Hello-only version change and additive migration; Foundation and World versions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release/proposals/foundation-major.json; scripts/cicd-compatibility.py</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Dependency rules live in release/manifest.json and the breaking proposal. Controller executes the archived checker before its deployment connection. Explicit exact versions and supported triples are prototype policy, not SQL semantic inference. G passed in the Product Owner walkthrough.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scripts/cicd-protection-check.sh; progress/E.1/cicd-walkthrough.md</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The checker exits successfully after a recognized clean/protected outcome and unchanged snapshots. DETECTED DRIFT is a blocked deployment, not permission to deploy. Unexpected errors fail. Manual detection is observed in current E1_UAT. Synthetic fixture remains optional repeatable test setup.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scripts/cicd-drift-diff.py; progress/E.1/tests/handover_live_drift_20261018.txt</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Observed on 18 October 2026 in the current retained UAT. Source comparison validates exact successful archive/source/configuration receipt. review.diff omits import offset lines and generated Manifest comments only; raw.diff retains every exported difference. Other source/export differences remain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progress/E.1/cicd-walkthrough.md; docs/srs.md</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Current manual restoration is pending the Product Owner decision. Do not report it complete. Synthetic H has its own saved-definition restoration and must not be interleaved with the manual edit. No automatic adoption or overwrite of unexpected edits.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progress/E.1/sprint_E.1_tests.md; scripts/cicd-walkthrough-E_promotion.sh</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Observed E failures were ORA-20619 missing runtime snapshot and ORA-20304 fixture relying on an unset World default. Fixes: checkpoint-bound verification resume/missing-data retry, and explicit active-entry selections with post-publication example continuation. No new application release or general recovery contract was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scripts/cicd-walkthrough-I_repair.sh; progress/E.1/tests/recovery_proof_20261018.txt</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Bounded integration_test experiment only. A deliberately failed Liquibase changeset follows one successful additive index. A separate source-bound repair archive retains the first successful changeset identity and adds forward completion. Observation hash approval and database recheck precede repair. No checksum clearing, rollback of business history or arbitrary recovery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PROGRESS_BOARD.md; progress/E.1/sprint_E.1_tests.md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PROGRESS_BOARD.md; progress/E.1/sprint_E.1_assessment.md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progress/E.1/sprint_E.1_design.md; docs/test-profile.md</a:t>
            </a:r>
          </a:p>
          <a:p xmlns:a="http://schemas.openxmlformats.org/drawingml/2006/main">
            <a:r>
              <a:t>E.1 handover snapshot, 18 October 2026. PLAN: Progress; PROGRESS_BOARD: under_construction. No sprint closure or full quality-gate acceptance is implied.</a:t>
            </a:r>
          </a:p>
          <a:p xmlns:a="http://schemas.openxmlformats.org/drawingml/2006/main">
            <a:r>
              <a:t>Existing scope: PBI-011.2/.5/.7/.8, validation under PBI-012; original IT-6/7/8/9/12. These are registered child definitions, not newly scheduled sprints. Dedicated measurements and all full-suite gates remain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progress/E.1/sprint_E.1_assessment.md; ROADMAP.md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progress/E.1/sprint_E.1_handover.md</a:t>
            </a:r>
          </a:p>
          <a:p xmlns:a="http://schemas.openxmlformats.org/drawingml/2006/main">
            <a:r>
              <a:t>E.1 handover snapshot, 18 October 2026. PLAN: Progress; PROGRESS_BOARD: under_construction. No sprint closure or full quality-gate acceptance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858a4cf3ad48a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2f78a17bf93452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f52a7e2987488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bef1b6955e4f5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06a49fe19cd4a3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58c04ecebc745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0E3409-6E01-40DF-9010-450EE4598DD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570FD6A-FE8A-45FA-8B44-66386189834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D6F097-001E-45B6-8764-68219404066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02DAFF-45DE-40DC-A155-4B4838EB67D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D2C52FE-CA0B-4E8C-BC9B-FB434109E0E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2DDCAF-9003-42AB-87CF-B49F620D6E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59DDA23-0B82-4216-AC8C-4588E90AF25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72733B5-AA37-494A-BDE6-B1B3449B27A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E0C380-19C5-47EE-8762-1145924973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C0A641-BC5F-4113-AFF0-BF2E56B6B2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2acdbbc079249be" /><Relationship Type="http://schemas.openxmlformats.org/officeDocument/2006/relationships/slideLayout" Target="/ppt/slideLayouts/slideLayout1.xml" Id="R9933d1266b444a80" /><Relationship Type="http://schemas.openxmlformats.org/officeDocument/2006/relationships/slideLayout" Target="/ppt/slideLayouts/slideLayout2.xml" Id="R597af760d45847de" /><Relationship Type="http://schemas.openxmlformats.org/officeDocument/2006/relationships/slideLayout" Target="/ppt/slideLayouts/slideLayout3.xml" Id="Rcd9fe068f9d74cce" /><Relationship Type="http://schemas.openxmlformats.org/officeDocument/2006/relationships/slideLayout" Target="/ppt/slideLayouts/slideLayout4.xml" Id="R645b0b42cb1b4be8" /><Relationship Type="http://schemas.openxmlformats.org/officeDocument/2006/relationships/slideLayout" Target="/ppt/slideLayouts/slideLayout5.xml" Id="R98c2af7b8a1c4665" /><Relationship Type="http://schemas.openxmlformats.org/officeDocument/2006/relationships/slideLayout" Target="/ppt/slideLayouts/slideLayout6.xml" Id="R9cca21633a1544a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33d1266b444a80"/>
    <p:sldLayoutId xmlns:r="http://schemas.openxmlformats.org/officeDocument/2006/relationships" id="2147483650" r:id="R597af760d45847de"/>
    <p:sldLayoutId xmlns:r="http://schemas.openxmlformats.org/officeDocument/2006/relationships" id="2147483651" r:id="Rcd9fe068f9d74cce"/>
    <p:sldLayoutId xmlns:r="http://schemas.openxmlformats.org/officeDocument/2006/relationships" id="2147483652" r:id="R645b0b42cb1b4be8"/>
    <p:sldLayoutId xmlns:r="http://schemas.openxmlformats.org/officeDocument/2006/relationships" id="2147483653" r:id="R98c2af7b8a1c4665"/>
    <p:sldLayoutId xmlns:r="http://schemas.openxmlformats.org/officeDocument/2006/relationships" id="2147483654" r:id="R9cca21633a1544a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40c66ec8bbe4c26" /><Relationship Type="http://schemas.openxmlformats.org/officeDocument/2006/relationships/notesSlide" Target="/ppt/notesSlides/notesSlide1.xml" Id="R2405e50cd85f44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a391b5ed6a144b5" /><Relationship Type="http://schemas.openxmlformats.org/officeDocument/2006/relationships/notesSlide" Target="/ppt/notesSlides/notesSlide2.xml" Id="Rded25d317f7044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cdfbcff035c4c5d" /><Relationship Type="http://schemas.openxmlformats.org/officeDocument/2006/relationships/notesSlide" Target="/ppt/notesSlides/notesSlide3.xml" Id="R3985a5cec19744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7be9bf560474157" /><Relationship Type="http://schemas.openxmlformats.org/officeDocument/2006/relationships/notesSlide" Target="/ppt/notesSlides/notesSlide4.xml" Id="R6254825c10df4a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ef20325351c4a2f" /><Relationship Type="http://schemas.openxmlformats.org/officeDocument/2006/relationships/notesSlide" Target="/ppt/notesSlides/notesSlide5.xml" Id="Rbd541ef64d5f4f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42dd8397a59447e" /><Relationship Type="http://schemas.openxmlformats.org/officeDocument/2006/relationships/notesSlide" Target="/ppt/notesSlides/notesSlide6.xml" Id="Rf6090c4684ba48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687285c50ac4990" /><Relationship Type="http://schemas.openxmlformats.org/officeDocument/2006/relationships/notesSlide" Target="/ppt/notesSlides/notesSlide7.xml" Id="R8e5e6ce16cdd4c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4b39c3fd94d4867" /><Relationship Type="http://schemas.openxmlformats.org/officeDocument/2006/relationships/notesSlide" Target="/ppt/notesSlides/notesSlide8.xml" Id="R041153f4a9014b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09304e6cf854770" /><Relationship Type="http://schemas.openxmlformats.org/officeDocument/2006/relationships/notesSlide" Target="/ppt/notesSlides/notesSlide9.xml" Id="Ra3f7e16bd9824e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d7a284754f44b7a" /><Relationship Type="http://schemas.openxmlformats.org/officeDocument/2006/relationships/notesSlide" Target="/ppt/notesSlides/notesSlide10.xml" Id="R99e8d2972b484b9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3e705ff7d1542e7" /><Relationship Type="http://schemas.openxmlformats.org/officeDocument/2006/relationships/notesSlide" Target="/ppt/notesSlides/notesSlide11.xml" Id="Ra72f40f16e9247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a6ec073d00f4679" /><Relationship Type="http://schemas.openxmlformats.org/officeDocument/2006/relationships/notesSlide" Target="/ppt/notesSlides/notesSlide12.xml" Id="Re545854bcbf048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c71f0a6c7004350" /><Relationship Type="http://schemas.openxmlformats.org/officeDocument/2006/relationships/notesSlide" Target="/ppt/notesSlides/notesSlide13.xml" Id="R90675244df6b46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95c7cb79c10401c" /><Relationship Type="http://schemas.openxmlformats.org/officeDocument/2006/relationships/notesSlide" Target="/ppt/notesSlides/notesSlide14.xml" Id="R712aea0830eb42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a2a433d08a84432" /><Relationship Type="http://schemas.openxmlformats.org/officeDocument/2006/relationships/notesSlide" Target="/ppt/notesSlides/notesSlide15.xml" Id="Rdbbca0e2710d45a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9e2e178ea43410e" /><Relationship Type="http://schemas.openxmlformats.org/officeDocument/2006/relationships/notesSlide" Target="/ppt/notesSlides/notesSlide16.xml" Id="Rf9ced80b9c6942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a4e2ba724a54066" /><Relationship Type="http://schemas.openxmlformats.org/officeDocument/2006/relationships/notesSlide" Target="/ppt/notesSlides/notesSlide17.xml" Id="Rb425ea291f834fb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7c0ab45433843cd" /><Relationship Type="http://schemas.openxmlformats.org/officeDocument/2006/relationships/notesSlide" Target="/ppt/notesSlides/notesSlide18.xml" Id="R6d04e42f61b5495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f4df531d033481b" /><Relationship Type="http://schemas.openxmlformats.org/officeDocument/2006/relationships/notesSlide" Target="/ppt/notesSlides/notesSlide19.xml" Id="R8ed603a1b95243e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05243aac3844642" /><Relationship Type="http://schemas.openxmlformats.org/officeDocument/2006/relationships/notesSlide" Target="/ppt/notesSlides/notesSlide20.xml" Id="R7c70761180f744c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58b2f38b4bd4e96" /><Relationship Type="http://schemas.openxmlformats.org/officeDocument/2006/relationships/notesSlide" Target="/ppt/notesSlides/notesSlide21.xml" Id="R1c26ecaf46d841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e000ed1b036492c" /><Relationship Type="http://schemas.openxmlformats.org/officeDocument/2006/relationships/notesSlide" Target="/ppt/notesSlides/notesSlide22.xml" Id="Rdbfe8df1801d42a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2773ce005ab497a" /><Relationship Type="http://schemas.openxmlformats.org/officeDocument/2006/relationships/notesSlide" Target="/ppt/notesSlides/notesSlide23.xml" Id="R62ec513455614c7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820186d75594280" /><Relationship Type="http://schemas.openxmlformats.org/officeDocument/2006/relationships/notesSlide" Target="/ppt/notesSlides/notesSlide24.xml" Id="Ra8ca0f6f62644b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83b136469124f3b" /><Relationship Type="http://schemas.openxmlformats.org/officeDocument/2006/relationships/notesSlide" Target="/ppt/notesSlides/notesSlide25.xml" Id="R946ccb6f87a24e2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716de2e966e49b7" /><Relationship Type="http://schemas.openxmlformats.org/officeDocument/2006/relationships/notesSlide" Target="/ppt/notesSlides/notesSlide26.xml" Id="Re74c922cdbb34b9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51c38969d3645fd" /><Relationship Type="http://schemas.openxmlformats.org/officeDocument/2006/relationships/notesSlide" Target="/ppt/notesSlides/notesSlide27.xml" Id="R54ad9334d6a1497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036210d543f4153" /><Relationship Type="http://schemas.openxmlformats.org/officeDocument/2006/relationships/notesSlide" Target="/ppt/notesSlides/notesSlide28.xml" Id="Re8e625673222467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93dae3683ad4067" /><Relationship Type="http://schemas.openxmlformats.org/officeDocument/2006/relationships/notesSlide" Target="/ppt/notesSlides/notesSlide29.xml" Id="Rd37bcf001c0b4980" /></Relationships>
</file>

<file path=ppt/slides/slide1.xml><?xml version="1.0" encoding="utf-8"?>
<p:sld xmlns:p="http://schemas.openxmlformats.org/presentationml/2006/main">
  <p:cSld>
    <p:bg>
      <p:bgPr>
        <a:solidFill xmlns:a="http://schemas.openxmlformats.org/drawingml/2006/main">
          <a:srgbClr val="172F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5CA2EA9-8AFA-49BC-B367-73EF1A780DC7}"/>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FFFFFF"/>
                </a:solidFill>
                <a:latin typeface="Arial"/>
                <a:ea typeface="Arial"/>
                <a:cs typeface="Arial"/>
              </a:defRPr>
            </a:defPPr>
          </a:lstStyle>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From Git to APEX</a:t>
            </a:r>
          </a:p>
        </p:txBody>
      </p:sp>
      <p:sp>
        <p:nvSpPr>
          <p:cNvPr id="2" name="">
            <a:extLst xmlns:a="http://schemas.openxmlformats.org/drawingml/2006/main">
              <a:ext uri="{FF2B5EF4-FFF2-40B4-BE49-F238E27FC236}">
                <a16:creationId xmlns:a16="http://schemas.microsoft.com/office/drawing/2014/main" id="{2A8BCF38-B28B-499F-8AEC-4252CED2B118}"/>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8D7DC"/>
                </a:solidFill>
                <a:latin typeface="Arial"/>
                <a:ea typeface="Arial"/>
                <a:cs typeface="Arial"/>
              </a:defRPr>
            </a:defPPr>
          </a:lstStyle>
          <a:p xmlns:a="http://schemas.openxmlformats.org/drawingml/2006/main">
            <a:pPr>
              <a:defRPr sz="1350" b="0">
                <a:solidFill>
                  <a:srgbClr val="C8D7DC"/>
                </a:solidFill>
                <a:latin typeface="Arial"/>
                <a:ea typeface="Arial"/>
                <a:cs typeface="Arial"/>
              </a:defRPr>
            </a:pPr>
            <a:r>
              <a:rPr sz="1350" b="0">
                <a:solidFill>
                  <a:srgbClr val="C8D7DC"/>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0BEF8098-EBC0-4F74-A6D8-FD7FCE5CF273}"/>
              </a:ext>
            </a:extLst>
          </p:cNvPr>
          <p:cNvSpPr>
            <a:spLocks xmlns:a="http://schemas.openxmlformats.org/drawingml/2006/main" noGrp="1"/>
          </p:cNvSpPr>
          <p:nvPr/>
        </p:nvSpPr>
        <p:spPr>
          <a:xfrm xmlns:a="http://schemas.openxmlformats.org/drawingml/2006/main">
            <a:off x="619125" y="2000250"/>
            <a:ext cx="10477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Traceable releases. Safe upgrades.</a:t>
            </a:r>
          </a:p>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Protected deployments.</a:t>
            </a:r>
          </a:p>
        </p:txBody>
      </p:sp>
      <p:sp>
        <p:nvSpPr>
          <p:cNvPr id="4" name="">
            <a:extLst xmlns:a="http://schemas.openxmlformats.org/drawingml/2006/main">
              <a:ext uri="{FF2B5EF4-FFF2-40B4-BE49-F238E27FC236}">
                <a16:creationId xmlns:a16="http://schemas.microsoft.com/office/drawing/2014/main" id="{735B1A64-2CD4-4DCC-ABCE-AE5B98114BC3}"/>
              </a:ext>
            </a:extLst>
          </p:cNvPr>
          <p:cNvSpPr>
            <a:spLocks xmlns:a="http://schemas.openxmlformats.org/drawingml/2006/main" noGrp="1"/>
          </p:cNvSpPr>
          <p:nvPr/>
        </p:nvSpPr>
        <p:spPr>
          <a:xfrm xmlns:a="http://schemas.openxmlformats.org/drawingml/2006/main">
            <a:off x="619125" y="3810000"/>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0">
                <a:solidFill>
                  <a:srgbClr val="DCE7EB"/>
                </a:solidFill>
                <a:latin typeface="Arial"/>
                <a:ea typeface="Arial"/>
                <a:cs typeface="Arial"/>
              </a:defRPr>
            </a:defPPr>
          </a:lstStyle>
          <a:p xmlns:a="http://schemas.openxmlformats.org/drawingml/2006/main">
            <a:pPr>
              <a:defRPr sz="2400" b="0">
                <a:solidFill>
                  <a:srgbClr val="DCE7EB"/>
                </a:solidFill>
                <a:latin typeface="Arial"/>
                <a:ea typeface="Arial"/>
                <a:cs typeface="Arial"/>
              </a:defRPr>
            </a:pPr>
            <a:r>
              <a:rPr sz="2400" b="0">
                <a:solidFill>
                  <a:srgbClr val="DCE7EB"/>
                </a:solidFill>
                <a:latin typeface="Arial"/>
                <a:ea typeface="Arial"/>
                <a:cs typeface="Arial"/>
              </a:rPr>
              <a:t>One application. A repeatable delivery path.</a:t>
            </a:r>
          </a:p>
          <a:p xmlns:a="http://schemas.openxmlformats.org/drawingml/2006/main">
            <a:pPr>
              <a:defRPr sz="2400" b="0">
                <a:solidFill>
                  <a:srgbClr val="DCE7EB"/>
                </a:solidFill>
                <a:latin typeface="Arial"/>
                <a:ea typeface="Arial"/>
                <a:cs typeface="Arial"/>
              </a:defRPr>
            </a:pPr>
            <a:r>
              <a:rPr sz="2400" b="0">
                <a:solidFill>
                  <a:srgbClr val="DCE7EB"/>
                </a:solidFill>
                <a:latin typeface="Arial"/>
                <a:ea typeface="Arial"/>
                <a:cs typeface="Arial"/>
              </a:rPr>
              <a:t>Evidence at every gate.</a:t>
            </a:r>
          </a:p>
        </p:txBody>
      </p:sp>
      <p:sp>
        <p:nvSpPr>
          <p:cNvPr id="5" name="">
            <a:extLst xmlns:a="http://schemas.openxmlformats.org/drawingml/2006/main">
              <a:ext uri="{FF2B5EF4-FFF2-40B4-BE49-F238E27FC236}">
                <a16:creationId xmlns:a16="http://schemas.microsoft.com/office/drawing/2014/main" id="{10176779-3DB3-4366-963D-9B92BF67FCAB}"/>
              </a:ext>
            </a:extLst>
          </p:cNvPr>
          <p:cNvSpPr>
            <a:spLocks xmlns:a="http://schemas.openxmlformats.org/drawingml/2006/main" noGrp="1"/>
          </p:cNvSpPr>
          <p:nvPr/>
        </p:nvSpPr>
        <p:spPr>
          <a:xfrm xmlns:a="http://schemas.openxmlformats.org/drawingml/2006/main">
            <a:off x="619125" y="5619750"/>
            <a:ext cx="1000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DCE7EB"/>
                </a:solidFill>
                <a:latin typeface="Arial"/>
                <a:ea typeface="Arial"/>
                <a:cs typeface="Arial"/>
              </a:defRPr>
            </a:defPPr>
          </a:lstStyle>
          <a:p xmlns:a="http://schemas.openxmlformats.org/drawingml/2006/main">
            <a:pPr>
              <a:defRPr sz="1800" b="0">
                <a:solidFill>
                  <a:srgbClr val="DCE7EB"/>
                </a:solidFill>
                <a:latin typeface="Arial"/>
                <a:ea typeface="Arial"/>
                <a:cs typeface="Arial"/>
              </a:defRPr>
            </a:pPr>
            <a:r>
              <a:rPr sz="1800" b="0">
                <a:solidFill>
                  <a:srgbClr val="DCE7EB"/>
                </a:solidFill>
                <a:latin typeface="Arial"/>
                <a:ea typeface="Arial"/>
                <a:cs typeface="Arial"/>
              </a:rPr>
              <a:t>Oracle APEX CI/CD Laboratory · 18 October 2026</a:t>
            </a:r>
          </a:p>
        </p:txBody>
      </p:sp>
    </p:spTree>
    <p:extLst>
      <p:ext uri="{BB962C8B-B14F-4D97-AF65-F5344CB8AC3E}">
        <p14:creationId xmlns:p14="http://schemas.microsoft.com/office/powerpoint/2010/main" val="7683328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9E754D-A276-462C-AC71-7D73363C32DA}"/>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Review agenda</a:t>
            </a:r>
          </a:p>
        </p:txBody>
      </p:sp>
      <p:sp>
        <p:nvSpPr>
          <p:cNvPr id="2" name="">
            <a:extLst xmlns:a="http://schemas.openxmlformats.org/drawingml/2006/main">
              <a:ext uri="{FF2B5EF4-FFF2-40B4-BE49-F238E27FC236}">
                <a16:creationId xmlns:a16="http://schemas.microsoft.com/office/drawing/2014/main" id="{C0B059C7-D000-4AEA-967D-FEEAB6ED9A7A}"/>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FC643C8F-711C-42F4-96B5-A46B89E4EF8F}"/>
              </a:ext>
            </a:extLst>
          </p:cNvPr>
          <p:cNvSpPr>
            <a:spLocks xmlns:a="http://schemas.openxmlformats.org/drawingml/2006/main" noGrp="1"/>
          </p:cNvSpPr>
          <p:nvPr/>
        </p:nvSpPr>
        <p:spPr>
          <a:xfrm xmlns:a="http://schemas.openxmlformats.org/drawingml/2006/main">
            <a:off x="619125" y="1666875"/>
            <a:ext cx="10858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1. The application, source and delivery roles</a:t>
            </a:r>
          </a:p>
        </p:txBody>
      </p:sp>
      <p:sp>
        <p:nvSpPr>
          <p:cNvPr id="4" name="">
            <a:extLst xmlns:a="http://schemas.openxmlformats.org/drawingml/2006/main">
              <a:ext uri="{FF2B5EF4-FFF2-40B4-BE49-F238E27FC236}">
                <a16:creationId xmlns:a16="http://schemas.microsoft.com/office/drawing/2014/main" id="{D4728313-5639-4813-8B16-5C0E577F0FE2}"/>
              </a:ext>
            </a:extLst>
          </p:cNvPr>
          <p:cNvSpPr>
            <a:spLocks xmlns:a="http://schemas.openxmlformats.org/drawingml/2006/main" noGrp="1"/>
          </p:cNvSpPr>
          <p:nvPr/>
        </p:nvSpPr>
        <p:spPr>
          <a:xfrm xmlns:a="http://schemas.openxmlformats.org/drawingml/2006/main">
            <a:off x="619125" y="2657475"/>
            <a:ext cx="10858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2. A–F: assembly, release and compatible patch</a:t>
            </a:r>
          </a:p>
        </p:txBody>
      </p:sp>
      <p:sp>
        <p:nvSpPr>
          <p:cNvPr id="5" name="">
            <a:extLst xmlns:a="http://schemas.openxmlformats.org/drawingml/2006/main">
              <a:ext uri="{FF2B5EF4-FFF2-40B4-BE49-F238E27FC236}">
                <a16:creationId xmlns:a16="http://schemas.microsoft.com/office/drawing/2014/main" id="{E9986DA9-51A7-4B46-962E-A072BCE29220}"/>
              </a:ext>
            </a:extLst>
          </p:cNvPr>
          <p:cNvSpPr>
            <a:spLocks xmlns:a="http://schemas.openxmlformats.org/drawingml/2006/main" noGrp="1"/>
          </p:cNvSpPr>
          <p:nvPr/>
        </p:nvSpPr>
        <p:spPr>
          <a:xfrm xmlns:a="http://schemas.openxmlformats.org/drawingml/2006/main">
            <a:off x="619125" y="3648075"/>
            <a:ext cx="10858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3. G–I: incompatibility, drift and forward repair</a:t>
            </a:r>
          </a:p>
        </p:txBody>
      </p:sp>
      <p:sp>
        <p:nvSpPr>
          <p:cNvPr id="6" name="">
            <a:extLst xmlns:a="http://schemas.openxmlformats.org/drawingml/2006/main">
              <a:ext uri="{FF2B5EF4-FFF2-40B4-BE49-F238E27FC236}">
                <a16:creationId xmlns:a16="http://schemas.microsoft.com/office/drawing/2014/main" id="{F074D7F1-6F15-43DB-A7BA-ECF921668DD3}"/>
              </a:ext>
            </a:extLst>
          </p:cNvPr>
          <p:cNvSpPr>
            <a:spLocks xmlns:a="http://schemas.openxmlformats.org/drawingml/2006/main" noGrp="1"/>
          </p:cNvSpPr>
          <p:nvPr/>
        </p:nvSpPr>
        <p:spPr>
          <a:xfrm xmlns:a="http://schemas.openxmlformats.org/drawingml/2006/main">
            <a:off x="619125" y="4638675"/>
            <a:ext cx="10858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4. Evidence, remaining risks and next decision</a:t>
            </a:r>
          </a:p>
        </p:txBody>
      </p:sp>
    </p:spTree>
    <p:extLst>
      <p:ext uri="{BB962C8B-B14F-4D97-AF65-F5344CB8AC3E}">
        <p14:creationId xmlns:p14="http://schemas.microsoft.com/office/powerpoint/2010/main" val="21396890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8AF2A34-0BCA-4439-98EA-F5DF08AAC106}"/>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The selected prototype</a:t>
            </a:r>
          </a:p>
        </p:txBody>
      </p:sp>
      <p:sp>
        <p:nvSpPr>
          <p:cNvPr id="2" name="">
            <a:extLst xmlns:a="http://schemas.openxmlformats.org/drawingml/2006/main">
              <a:ext uri="{FF2B5EF4-FFF2-40B4-BE49-F238E27FC236}">
                <a16:creationId xmlns:a16="http://schemas.microsoft.com/office/drawing/2014/main" id="{3F7148A5-0490-4E4E-A29B-16C3BC18B1F9}"/>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CA81BD68-837F-4A97-934C-54737465864F}"/>
              </a:ext>
            </a:extLst>
          </p:cNvPr>
          <p:cNvSpPr>
            <a:spLocks xmlns:a="http://schemas.openxmlformats.org/drawingml/2006/main" noGrp="1"/>
          </p:cNvSpPr>
          <p:nvPr/>
        </p:nvSpPr>
        <p:spPr>
          <a:xfrm xmlns:a="http://schemas.openxmlformats.org/drawingml/2006/main">
            <a:off x="619125" y="1666875"/>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One APEX application per area on one Oracle host</a:t>
            </a:r>
          </a:p>
        </p:txBody>
      </p:sp>
      <p:sp>
        <p:nvSpPr>
          <p:cNvPr id="4" name="">
            <a:extLst xmlns:a="http://schemas.openxmlformats.org/drawingml/2006/main">
              <a:ext uri="{FF2B5EF4-FFF2-40B4-BE49-F238E27FC236}">
                <a16:creationId xmlns:a16="http://schemas.microsoft.com/office/drawing/2014/main" id="{F5C9E7A2-7A1D-440C-B749-0A33DFA7B284}"/>
              </a:ext>
            </a:extLst>
          </p:cNvPr>
          <p:cNvSpPr>
            <a:spLocks xmlns:a="http://schemas.openxmlformats.org/drawingml/2006/main" noGrp="1"/>
          </p:cNvSpPr>
          <p:nvPr/>
        </p:nvSpPr>
        <p:spPr>
          <a:xfrm xmlns:a="http://schemas.openxmlformats.org/drawingml/2006/main">
            <a:off x="619125" y="2524125"/>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Foundation, Hello and World share one Git repository</a:t>
            </a:r>
          </a:p>
        </p:txBody>
      </p:sp>
      <p:sp>
        <p:nvSpPr>
          <p:cNvPr id="5" name="">
            <a:extLst xmlns:a="http://schemas.openxmlformats.org/drawingml/2006/main">
              <a:ext uri="{FF2B5EF4-FFF2-40B4-BE49-F238E27FC236}">
                <a16:creationId xmlns:a16="http://schemas.microsoft.com/office/drawing/2014/main" id="{FF82482E-FC1D-4247-A3FF-1B5E897625E3}"/>
              </a:ext>
            </a:extLst>
          </p:cNvPr>
          <p:cNvSpPr>
            <a:spLocks xmlns:a="http://schemas.openxmlformats.org/drawingml/2006/main" noGrp="1"/>
          </p:cNvSpPr>
          <p:nvPr/>
        </p:nvSpPr>
        <p:spPr>
          <a:xfrm xmlns:a="http://schemas.openxmlformats.org/drawingml/2006/main">
            <a:off x="619125" y="3381375"/>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Private A/B/C areas, disposable integration_test, retained UAT</a:t>
            </a:r>
          </a:p>
        </p:txBody>
      </p:sp>
      <p:sp>
        <p:nvSpPr>
          <p:cNvPr id="6" name="">
            <a:extLst xmlns:a="http://schemas.openxmlformats.org/drawingml/2006/main">
              <a:ext uri="{FF2B5EF4-FFF2-40B4-BE49-F238E27FC236}">
                <a16:creationId xmlns:a16="http://schemas.microsoft.com/office/drawing/2014/main" id="{AB3C89F4-92E2-4816-97E2-A62474275E18}"/>
              </a:ext>
            </a:extLst>
          </p:cNvPr>
          <p:cNvSpPr>
            <a:spLocks xmlns:a="http://schemas.openxmlformats.org/drawingml/2006/main" noGrp="1"/>
          </p:cNvSpPr>
          <p:nvPr/>
        </p:nvSpPr>
        <p:spPr>
          <a:xfrm xmlns:a="http://schemas.openxmlformats.org/drawingml/2006/main">
            <a:off x="619125" y="4238625"/>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Supported Oracle interfaces and small operator scripts</a:t>
            </a:r>
          </a:p>
        </p:txBody>
      </p:sp>
      <p:sp>
        <p:nvSpPr>
          <p:cNvPr id="7" name="">
            <a:extLst xmlns:a="http://schemas.openxmlformats.org/drawingml/2006/main">
              <a:ext uri="{FF2B5EF4-FFF2-40B4-BE49-F238E27FC236}">
                <a16:creationId xmlns:a16="http://schemas.microsoft.com/office/drawing/2014/main" id="{987F173F-DBBA-4814-9427-312E03D5BDA0}"/>
              </a:ext>
            </a:extLst>
          </p:cNvPr>
          <p:cNvSpPr>
            <a:spLocks xmlns:a="http://schemas.openxmlformats.org/drawingml/2006/main" noGrp="1"/>
          </p:cNvSpPr>
          <p:nvPr/>
        </p:nvSpPr>
        <p:spPr>
          <a:xfrm xmlns:a="http://schemas.openxmlformats.org/drawingml/2006/main">
            <a:off x="619125" y="5381625"/>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A43224"/>
                </a:solidFill>
                <a:latin typeface="Arial"/>
                <a:ea typeface="Arial"/>
                <a:cs typeface="Arial"/>
              </a:defRPr>
            </a:defPPr>
          </a:lstStyle>
          <a:p xmlns:a="http://schemas.openxmlformats.org/drawingml/2006/main">
            <a:pPr>
              <a:defRPr sz="1950" b="0">
                <a:solidFill>
                  <a:srgbClr val="A43224"/>
                </a:solidFill>
                <a:latin typeface="Arial"/>
                <a:ea typeface="Arial"/>
                <a:cs typeface="Arial"/>
              </a:defRPr>
            </a:pPr>
            <a:r>
              <a:rPr sz="1950" b="0">
                <a:solidFill>
                  <a:srgbClr val="A43224"/>
                </a:solidFill>
                <a:latin typeface="Arial"/>
                <a:ea typeface="Arial"/>
                <a:cs typeface="Arial"/>
              </a:rPr>
              <a:t>Bounded repair is proved; concurrency and complete fencing remain open</a:t>
            </a:r>
          </a:p>
        </p:txBody>
      </p:sp>
    </p:spTree>
    <p:extLst>
      <p:ext uri="{BB962C8B-B14F-4D97-AF65-F5344CB8AC3E}">
        <p14:creationId xmlns:p14="http://schemas.microsoft.com/office/powerpoint/2010/main" val="213080892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FE7FF95E-F111-43D3-8E09-610F9306F054}"/>
              </a:ext>
            </a:extLst>
          </p:cNvPr>
          <p:cNvCxnSpPr>
            <a:stCxn xmlns:a="http://schemas.openxmlformats.org/drawingml/2006/main" id="8" idx="3"/>
            <a:endCxn xmlns:a="http://schemas.openxmlformats.org/drawingml/2006/main" id="10" idx="1"/>
          </p:cNvCxnSpPr>
          <p:nvPr/>
        </p:nvCxnSpPr>
        <p:spPr>
          <a:xfrm xmlns:a="http://schemas.openxmlformats.org/drawingml/2006/main">
            <a:off x="8715375" y="3714750"/>
            <a:ext cx="47625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12" name="">
            <a:extLst xmlns:a="http://schemas.openxmlformats.org/drawingml/2006/main">
              <a:ext uri="{FF2B5EF4-FFF2-40B4-BE49-F238E27FC236}">
                <a16:creationId xmlns:a16="http://schemas.microsoft.com/office/drawing/2014/main" id="{E622C1E1-0247-4819-83C2-5849AB555E8D}"/>
              </a:ext>
            </a:extLst>
          </p:cNvPr>
          <p:cNvCxnSpPr>
            <a:stCxn xmlns:a="http://schemas.openxmlformats.org/drawingml/2006/main" id="6" idx="3"/>
            <a:endCxn xmlns:a="http://schemas.openxmlformats.org/drawingml/2006/main" id="8" idx="1"/>
          </p:cNvCxnSpPr>
          <p:nvPr/>
        </p:nvCxnSpPr>
        <p:spPr>
          <a:xfrm xmlns:a="http://schemas.openxmlformats.org/drawingml/2006/main">
            <a:off x="5857875" y="3714750"/>
            <a:ext cx="47625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11" name="">
            <a:extLst xmlns:a="http://schemas.openxmlformats.org/drawingml/2006/main">
              <a:ext uri="{FF2B5EF4-FFF2-40B4-BE49-F238E27FC236}">
                <a16:creationId xmlns:a16="http://schemas.microsoft.com/office/drawing/2014/main" id="{C7999331-D5DA-46A2-B041-A2E33418227C}"/>
              </a:ext>
            </a:extLst>
          </p:cNvPr>
          <p:cNvCxnSpPr>
            <a:stCxn xmlns:a="http://schemas.openxmlformats.org/drawingml/2006/main" id="4" idx="3"/>
            <a:endCxn xmlns:a="http://schemas.openxmlformats.org/drawingml/2006/main" id="6" idx="1"/>
          </p:cNvCxnSpPr>
          <p:nvPr/>
        </p:nvCxnSpPr>
        <p:spPr>
          <a:xfrm xmlns:a="http://schemas.openxmlformats.org/drawingml/2006/main">
            <a:off x="3000375" y="3714750"/>
            <a:ext cx="476250" cy="0"/>
          </a:xfrm>
          <a:prstGeom xmlns:a="http://schemas.openxmlformats.org/drawingml/2006/main" prst="straightConnector1">
            <a:avLst/>
          </a:prstGeom>
          <a:ln xmlns:a="http://schemas.openxmlformats.org/drawingml/2006/main" w="23813">
            <a:solidFill>
              <a:srgbClr val="235F63"/>
            </a:solidFill>
            <a:tailEnd type="triangle" w="med" len="med"/>
          </a:ln>
        </p:spPr>
      </p:cxnSp>
      <p:sp>
        <p:nvSpPr>
          <p:cNvPr id="15" name="">
            <a:extLst xmlns:a="http://schemas.openxmlformats.org/drawingml/2006/main">
              <a:ext uri="{FF2B5EF4-FFF2-40B4-BE49-F238E27FC236}">
                <a16:creationId xmlns:a16="http://schemas.microsoft.com/office/drawing/2014/main" id="{DB3C61AB-115B-4129-80C2-8315C98E36D3}"/>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The delivery path</a:t>
            </a:r>
          </a:p>
        </p:txBody>
      </p:sp>
      <p:sp>
        <p:nvSpPr>
          <p:cNvPr id="2" name="">
            <a:extLst xmlns:a="http://schemas.openxmlformats.org/drawingml/2006/main">
              <a:ext uri="{FF2B5EF4-FFF2-40B4-BE49-F238E27FC236}">
                <a16:creationId xmlns:a16="http://schemas.microsoft.com/office/drawing/2014/main" id="{5F94E148-5569-4746-BAF2-3A015B4BBEB0}"/>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2B980132-10DD-404D-824C-D74856EB24E8}"/>
              </a:ext>
            </a:extLst>
          </p:cNvPr>
          <p:cNvSpPr>
            <a:spLocks xmlns:a="http://schemas.openxmlformats.org/drawingml/2006/main" noGrp="1"/>
          </p:cNvSpPr>
          <p:nvPr/>
        </p:nvSpPr>
        <p:spPr>
          <a:xfrm xmlns:a="http://schemas.openxmlformats.org/drawingml/2006/main">
            <a:off x="619125" y="1714500"/>
            <a:ext cx="2428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35F63"/>
                </a:solidFill>
                <a:latin typeface="Arial"/>
                <a:ea typeface="Arial"/>
                <a:cs typeface="Arial"/>
              </a:defRPr>
            </a:defPPr>
          </a:lstStyle>
          <a:p xmlns:a="http://schemas.openxmlformats.org/drawingml/2006/main">
            <a:pPr>
              <a:defRPr sz="2175" b="1">
                <a:solidFill>
                  <a:srgbClr val="235F63"/>
                </a:solidFill>
                <a:latin typeface="Arial"/>
                <a:ea typeface="Arial"/>
                <a:cs typeface="Arial"/>
              </a:defRPr>
            </a:pPr>
            <a:r>
              <a:rPr sz="2175" b="1">
                <a:solidFill>
                  <a:srgbClr val="235F63"/>
                </a:solidFill>
                <a:latin typeface="Arial"/>
                <a:ea typeface="Arial"/>
                <a:cs typeface="Arial"/>
              </a:rPr>
              <a:t>Development</a:t>
            </a:r>
          </a:p>
        </p:txBody>
      </p:sp>
      <p:sp>
        <p:nvSpPr>
          <p:cNvPr id="4" name="">
            <a:extLst xmlns:a="http://schemas.openxmlformats.org/drawingml/2006/main">
              <a:ext uri="{FF2B5EF4-FFF2-40B4-BE49-F238E27FC236}">
                <a16:creationId xmlns:a16="http://schemas.microsoft.com/office/drawing/2014/main" id="{93F1BBB4-E0F7-405E-A32E-B9AB16E7FA37}"/>
              </a:ext>
            </a:extLst>
          </p:cNvPr>
          <p:cNvSpPr>
            <a:spLocks xmlns:a="http://schemas.openxmlformats.org/drawingml/2006/main" noGrp="1"/>
          </p:cNvSpPr>
          <p:nvPr/>
        </p:nvSpPr>
        <p:spPr>
          <a:xfrm xmlns:a="http://schemas.openxmlformats.org/drawingml/2006/main">
            <a:off x="6191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Private A / B / C</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Author and capture</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Smoke-check C</a:t>
            </a:r>
          </a:p>
        </p:txBody>
      </p:sp>
      <p:sp>
        <p:nvSpPr>
          <p:cNvPr id="5" name="">
            <a:extLst xmlns:a="http://schemas.openxmlformats.org/drawingml/2006/main">
              <a:ext uri="{FF2B5EF4-FFF2-40B4-BE49-F238E27FC236}">
                <a16:creationId xmlns:a16="http://schemas.microsoft.com/office/drawing/2014/main" id="{CF684A9B-1841-4E99-8529-1D0D5BC555E8}"/>
              </a:ext>
            </a:extLst>
          </p:cNvPr>
          <p:cNvSpPr>
            <a:spLocks xmlns:a="http://schemas.openxmlformats.org/drawingml/2006/main" noGrp="1"/>
          </p:cNvSpPr>
          <p:nvPr/>
        </p:nvSpPr>
        <p:spPr>
          <a:xfrm xmlns:a="http://schemas.openxmlformats.org/drawingml/2006/main">
            <a:off x="3476625" y="1714500"/>
            <a:ext cx="2428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35F63"/>
                </a:solidFill>
                <a:latin typeface="Arial"/>
                <a:ea typeface="Arial"/>
                <a:cs typeface="Arial"/>
              </a:defRPr>
            </a:defPPr>
          </a:lstStyle>
          <a:p xmlns:a="http://schemas.openxmlformats.org/drawingml/2006/main">
            <a:pPr>
              <a:defRPr sz="2175" b="1">
                <a:solidFill>
                  <a:srgbClr val="235F63"/>
                </a:solidFill>
                <a:latin typeface="Arial"/>
                <a:ea typeface="Arial"/>
                <a:cs typeface="Arial"/>
              </a:defRPr>
            </a:pPr>
            <a:r>
              <a:rPr sz="2175" b="1">
                <a:solidFill>
                  <a:srgbClr val="235F63"/>
                </a:solidFill>
                <a:latin typeface="Arial"/>
                <a:ea typeface="Arial"/>
                <a:cs typeface="Arial"/>
              </a:rPr>
              <a:t>Shared Git</a:t>
            </a:r>
          </a:p>
        </p:txBody>
      </p:sp>
      <p:sp>
        <p:nvSpPr>
          <p:cNvPr id="6" name="">
            <a:extLst xmlns:a="http://schemas.openxmlformats.org/drawingml/2006/main">
              <a:ext uri="{FF2B5EF4-FFF2-40B4-BE49-F238E27FC236}">
                <a16:creationId xmlns:a16="http://schemas.microsoft.com/office/drawing/2014/main" id="{D1FCFB2F-1FFB-4233-AD9E-6E4FD2D27A15}"/>
              </a:ext>
            </a:extLst>
          </p:cNvPr>
          <p:cNvSpPr>
            <a:spLocks xmlns:a="http://schemas.openxmlformats.org/drawingml/2006/main" noGrp="1"/>
          </p:cNvSpPr>
          <p:nvPr/>
        </p:nvSpPr>
        <p:spPr>
          <a:xfrm xmlns:a="http://schemas.openxmlformats.org/drawingml/2006/main">
            <a:off x="34766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Reviewed source</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Candidate evidence</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One release archive</a:t>
            </a:r>
          </a:p>
        </p:txBody>
      </p:sp>
      <p:sp>
        <p:nvSpPr>
          <p:cNvPr id="7" name="">
            <a:extLst xmlns:a="http://schemas.openxmlformats.org/drawingml/2006/main">
              <a:ext uri="{FF2B5EF4-FFF2-40B4-BE49-F238E27FC236}">
                <a16:creationId xmlns:a16="http://schemas.microsoft.com/office/drawing/2014/main" id="{D12655F4-193D-4414-AAB9-CC9DE828EF3C}"/>
              </a:ext>
            </a:extLst>
          </p:cNvPr>
          <p:cNvSpPr>
            <a:spLocks xmlns:a="http://schemas.openxmlformats.org/drawingml/2006/main" noGrp="1"/>
          </p:cNvSpPr>
          <p:nvPr/>
        </p:nvSpPr>
        <p:spPr>
          <a:xfrm xmlns:a="http://schemas.openxmlformats.org/drawingml/2006/main">
            <a:off x="6334125" y="1714500"/>
            <a:ext cx="2428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35F63"/>
                </a:solidFill>
                <a:latin typeface="Arial"/>
                <a:ea typeface="Arial"/>
                <a:cs typeface="Arial"/>
              </a:defRPr>
            </a:defPPr>
          </a:lstStyle>
          <a:p xmlns:a="http://schemas.openxmlformats.org/drawingml/2006/main">
            <a:pPr>
              <a:defRPr sz="2175" b="1">
                <a:solidFill>
                  <a:srgbClr val="235F63"/>
                </a:solidFill>
                <a:latin typeface="Arial"/>
                <a:ea typeface="Arial"/>
                <a:cs typeface="Arial"/>
              </a:defRPr>
            </a:pPr>
            <a:r>
              <a:rPr sz="2175" b="1">
                <a:solidFill>
                  <a:srgbClr val="235F63"/>
                </a:solidFill>
                <a:latin typeface="Arial"/>
                <a:ea typeface="Arial"/>
                <a:cs typeface="Arial"/>
              </a:rPr>
              <a:t>Integration test</a:t>
            </a:r>
          </a:p>
        </p:txBody>
      </p:sp>
      <p:sp>
        <p:nvSpPr>
          <p:cNvPr id="8" name="">
            <a:extLst xmlns:a="http://schemas.openxmlformats.org/drawingml/2006/main">
              <a:ext uri="{FF2B5EF4-FFF2-40B4-BE49-F238E27FC236}">
                <a16:creationId xmlns:a16="http://schemas.microsoft.com/office/drawing/2014/main" id="{6C1F1C07-FBA3-4CF9-AC52-F5293500C75E}"/>
              </a:ext>
            </a:extLst>
          </p:cNvPr>
          <p:cNvSpPr>
            <a:spLocks xmlns:a="http://schemas.openxmlformats.org/drawingml/2006/main" noGrp="1"/>
          </p:cNvSpPr>
          <p:nvPr/>
        </p:nvSpPr>
        <p:spPr>
          <a:xfrm xmlns:a="http://schemas.openxmlformats.org/drawingml/2006/main">
            <a:off x="63341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Install that archive</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Verify the application</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Record successful receipt</a:t>
            </a:r>
          </a:p>
        </p:txBody>
      </p:sp>
      <p:sp>
        <p:nvSpPr>
          <p:cNvPr id="9" name="">
            <a:extLst xmlns:a="http://schemas.openxmlformats.org/drawingml/2006/main">
              <a:ext uri="{FF2B5EF4-FFF2-40B4-BE49-F238E27FC236}">
                <a16:creationId xmlns:a16="http://schemas.microsoft.com/office/drawing/2014/main" id="{E85D7A70-6306-4867-BC60-7E57D381F263}"/>
              </a:ext>
            </a:extLst>
          </p:cNvPr>
          <p:cNvSpPr>
            <a:spLocks xmlns:a="http://schemas.openxmlformats.org/drawingml/2006/main" noGrp="1"/>
          </p:cNvSpPr>
          <p:nvPr/>
        </p:nvSpPr>
        <p:spPr>
          <a:xfrm xmlns:a="http://schemas.openxmlformats.org/drawingml/2006/main">
            <a:off x="9191625" y="1714500"/>
            <a:ext cx="2428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35F63"/>
                </a:solidFill>
                <a:latin typeface="Arial"/>
                <a:ea typeface="Arial"/>
                <a:cs typeface="Arial"/>
              </a:defRPr>
            </a:defPPr>
          </a:lstStyle>
          <a:p xmlns:a="http://schemas.openxmlformats.org/drawingml/2006/main">
            <a:pPr>
              <a:defRPr sz="2175" b="1">
                <a:solidFill>
                  <a:srgbClr val="235F63"/>
                </a:solidFill>
                <a:latin typeface="Arial"/>
                <a:ea typeface="Arial"/>
                <a:cs typeface="Arial"/>
              </a:defRPr>
            </a:pPr>
            <a:r>
              <a:rPr sz="2175" b="1">
                <a:solidFill>
                  <a:srgbClr val="235F63"/>
                </a:solidFill>
                <a:latin typeface="Arial"/>
                <a:ea typeface="Arial"/>
                <a:cs typeface="Arial"/>
              </a:rPr>
              <a:t>User acceptance test</a:t>
            </a:r>
          </a:p>
        </p:txBody>
      </p:sp>
      <p:sp>
        <p:nvSpPr>
          <p:cNvPr id="10" name="">
            <a:extLst xmlns:a="http://schemas.openxmlformats.org/drawingml/2006/main">
              <a:ext uri="{FF2B5EF4-FFF2-40B4-BE49-F238E27FC236}">
                <a16:creationId xmlns:a16="http://schemas.microsoft.com/office/drawing/2014/main" id="{2BA39EAB-169E-4363-B62E-21A79D7802BA}"/>
              </a:ext>
            </a:extLst>
          </p:cNvPr>
          <p:cNvSpPr>
            <a:spLocks xmlns:a="http://schemas.openxmlformats.org/drawingml/2006/main" noGrp="1"/>
          </p:cNvSpPr>
          <p:nvPr/>
        </p:nvSpPr>
        <p:spPr>
          <a:xfrm xmlns:a="http://schemas.openxmlformats.org/drawingml/2006/main">
            <a:off x="91916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Promote same archive</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Preserve history/settings</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LAB_USER uses release</a:t>
            </a:r>
          </a:p>
        </p:txBody>
      </p:sp>
      <p:sp>
        <p:nvSpPr>
          <p:cNvPr id="14" name="">
            <a:extLst xmlns:a="http://schemas.openxmlformats.org/drawingml/2006/main">
              <a:ext uri="{FF2B5EF4-FFF2-40B4-BE49-F238E27FC236}">
                <a16:creationId xmlns:a16="http://schemas.microsoft.com/office/drawing/2014/main" id="{D84F785D-775E-4FAA-BAF4-65DA990F0344}"/>
              </a:ext>
            </a:extLst>
          </p:cNvPr>
          <p:cNvSpPr>
            <a:spLocks xmlns:a="http://schemas.openxmlformats.org/drawingml/2006/main" noGrp="1"/>
          </p:cNvSpPr>
          <p:nvPr/>
        </p:nvSpPr>
        <p:spPr>
          <a:xfrm xmlns:a="http://schemas.openxmlformats.org/drawingml/2006/main">
            <a:off x="619125" y="53816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172F3B"/>
                </a:solidFill>
                <a:latin typeface="Arial"/>
                <a:ea typeface="Arial"/>
                <a:cs typeface="Arial"/>
              </a:defRPr>
            </a:defPPr>
          </a:lstStyle>
          <a:p xmlns:a="http://schemas.openxmlformats.org/drawingml/2006/main">
            <a:pPr>
              <a:defRPr sz="1950" b="0">
                <a:solidFill>
                  <a:srgbClr val="172F3B"/>
                </a:solidFill>
                <a:latin typeface="Arial"/>
                <a:ea typeface="Arial"/>
                <a:cs typeface="Arial"/>
              </a:defRPr>
            </a:pPr>
            <a:r>
              <a:rPr sz="1950" b="0">
                <a:solidFill>
                  <a:srgbClr val="172F3B"/>
                </a:solidFill>
                <a:latin typeface="Arial"/>
                <a:ea typeface="Arial"/>
                <a:cs typeface="Arial"/>
              </a:rPr>
              <a:t>The development team releases the package. The Deployer moves the same bytes through both targets.</a:t>
            </a:r>
          </a:p>
        </p:txBody>
      </p:sp>
    </p:spTree>
    <p:extLst>
      <p:ext uri="{BB962C8B-B14F-4D97-AF65-F5344CB8AC3E}">
        <p14:creationId xmlns:p14="http://schemas.microsoft.com/office/powerpoint/2010/main" val="19975149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4E97D6CF-CE41-4053-A394-3A9047E69B57}"/>
              </a:ext>
            </a:extLst>
          </p:cNvPr>
          <p:cNvCxnSpPr>
            <a:stCxn xmlns:a="http://schemas.openxmlformats.org/drawingml/2006/main" id="5" idx="0"/>
            <a:endCxn xmlns:a="http://schemas.openxmlformats.org/drawingml/2006/main" id="3" idx="2"/>
          </p:cNvCxnSpPr>
          <p:nvPr/>
        </p:nvCxnSpPr>
        <p:spPr>
          <a:xfrm xmlns:a="http://schemas.openxmlformats.org/drawingml/2006/main" flipH="1" flipV="1">
            <a:off x="6096000" y="2762250"/>
            <a:ext cx="2571750" cy="952500"/>
          </a:xfrm>
          <a:prstGeom xmlns:a="http://schemas.openxmlformats.org/drawingml/2006/main" prst="bentConnector4">
            <a:avLst>
              <a:gd name="adj1" fmla="val 0"/>
              <a:gd name="adj2" fmla="val 50000"/>
            </a:avLst>
          </a:prstGeom>
          <a:ln xmlns:a="http://schemas.openxmlformats.org/drawingml/2006/main" w="23813">
            <a:solidFill>
              <a:srgbClr val="235F63"/>
            </a:solidFill>
            <a:tailEnd type="triangle" w="med" len="med"/>
          </a:ln>
        </p:spPr>
      </p:cxnSp>
      <p:cxnSp>
        <p:nvCxnSpPr>
          <p:cNvPr id="6" name="">
            <a:extLst xmlns:a="http://schemas.openxmlformats.org/drawingml/2006/main">
              <a:ext uri="{FF2B5EF4-FFF2-40B4-BE49-F238E27FC236}">
                <a16:creationId xmlns:a16="http://schemas.microsoft.com/office/drawing/2014/main" id="{8F9C0E1E-F074-4B6E-B291-A2B882774785}"/>
              </a:ext>
            </a:extLst>
          </p:cNvPr>
          <p:cNvCxnSpPr>
            <a:stCxn xmlns:a="http://schemas.openxmlformats.org/drawingml/2006/main" id="4" idx="0"/>
            <a:endCxn xmlns:a="http://schemas.openxmlformats.org/drawingml/2006/main" id="3" idx="2"/>
          </p:cNvCxnSpPr>
          <p:nvPr/>
        </p:nvCxnSpPr>
        <p:spPr>
          <a:xfrm xmlns:a="http://schemas.openxmlformats.org/drawingml/2006/main" flipV="1">
            <a:off x="3524250" y="2762250"/>
            <a:ext cx="2571750" cy="952500"/>
          </a:xfrm>
          <a:prstGeom xmlns:a="http://schemas.openxmlformats.org/drawingml/2006/main" prst="bentConnector4">
            <a:avLst>
              <a:gd name="adj1" fmla="val 0"/>
              <a:gd name="adj2" fmla="val 50000"/>
            </a:avLst>
          </a:prstGeom>
          <a:ln xmlns:a="http://schemas.openxmlformats.org/drawingml/2006/main" w="23813">
            <a:solidFill>
              <a:srgbClr val="235F63"/>
            </a:solidFill>
            <a:tailEnd type="triangle" w="med" len="med"/>
          </a:ln>
        </p:spPr>
      </p:cxnSp>
      <p:sp>
        <p:nvSpPr>
          <p:cNvPr id="9" name="">
            <a:extLst xmlns:a="http://schemas.openxmlformats.org/drawingml/2006/main">
              <a:ext uri="{FF2B5EF4-FFF2-40B4-BE49-F238E27FC236}">
                <a16:creationId xmlns:a16="http://schemas.microsoft.com/office/drawing/2014/main" id="{AF9D636C-C068-4296-8038-A6F0A4748896}"/>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Foundation, Hello and World</a:t>
            </a:r>
          </a:p>
        </p:txBody>
      </p:sp>
      <p:sp>
        <p:nvSpPr>
          <p:cNvPr id="2" name="">
            <a:extLst xmlns:a="http://schemas.openxmlformats.org/drawingml/2006/main">
              <a:ext uri="{FF2B5EF4-FFF2-40B4-BE49-F238E27FC236}">
                <a16:creationId xmlns:a16="http://schemas.microsoft.com/office/drawing/2014/main" id="{8E775669-681A-488D-9AC6-1A76DAE2F66D}"/>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441ED5C4-FB4D-4CB3-BBEA-A1E3CAE5DDD9}"/>
              </a:ext>
            </a:extLst>
          </p:cNvPr>
          <p:cNvSpPr>
            <a:spLocks xmlns:a="http://schemas.openxmlformats.org/drawingml/2006/main" noGrp="1"/>
          </p:cNvSpPr>
          <p:nvPr/>
        </p:nvSpPr>
        <p:spPr>
          <a:xfrm xmlns:a="http://schemas.openxmlformats.org/drawingml/2006/main">
            <a:off x="3714750" y="1666875"/>
            <a:ext cx="4762500" cy="1095375"/>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025">
                <a:solidFill>
                  <a:srgbClr val="172F3B"/>
                </a:solidFill>
                <a:latin typeface="Arial"/>
                <a:ea typeface="Arial"/>
                <a:cs typeface="Arial"/>
              </a:defRPr>
            </a:defPPr>
          </a:lstStyle>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Foundation</a:t>
            </a:r>
          </a:p>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Composition, history and runtime state</a:t>
            </a:r>
          </a:p>
        </p:txBody>
      </p:sp>
      <p:sp>
        <p:nvSpPr>
          <p:cNvPr id="4" name="">
            <a:extLst xmlns:a="http://schemas.openxmlformats.org/drawingml/2006/main">
              <a:ext uri="{FF2B5EF4-FFF2-40B4-BE49-F238E27FC236}">
                <a16:creationId xmlns:a16="http://schemas.microsoft.com/office/drawing/2014/main" id="{95D952F7-9D7D-450B-A788-818D1179B713}"/>
              </a:ext>
            </a:extLst>
          </p:cNvPr>
          <p:cNvSpPr>
            <a:spLocks xmlns:a="http://schemas.openxmlformats.org/drawingml/2006/main" noGrp="1"/>
          </p:cNvSpPr>
          <p:nvPr/>
        </p:nvSpPr>
        <p:spPr>
          <a:xfrm xmlns:a="http://schemas.openxmlformats.org/drawingml/2006/main">
            <a:off x="1619250" y="3714750"/>
            <a:ext cx="3810000" cy="1047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025">
                <a:solidFill>
                  <a:srgbClr val="172F3B"/>
                </a:solidFill>
                <a:latin typeface="Arial"/>
                <a:ea typeface="Arial"/>
                <a:cs typeface="Arial"/>
              </a:defRPr>
            </a:defPPr>
          </a:lstStyle>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Hello</a:t>
            </a:r>
          </a:p>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Entries and configuration</a:t>
            </a:r>
          </a:p>
        </p:txBody>
      </p:sp>
      <p:sp>
        <p:nvSpPr>
          <p:cNvPr id="5" name="">
            <a:extLst xmlns:a="http://schemas.openxmlformats.org/drawingml/2006/main">
              <a:ext uri="{FF2B5EF4-FFF2-40B4-BE49-F238E27FC236}">
                <a16:creationId xmlns:a16="http://schemas.microsoft.com/office/drawing/2014/main" id="{820194D7-6D46-4886-A3B8-BEB2B54C34F8}"/>
              </a:ext>
            </a:extLst>
          </p:cNvPr>
          <p:cNvSpPr>
            <a:spLocks xmlns:a="http://schemas.openxmlformats.org/drawingml/2006/main" noGrp="1"/>
          </p:cNvSpPr>
          <p:nvPr/>
        </p:nvSpPr>
        <p:spPr>
          <a:xfrm xmlns:a="http://schemas.openxmlformats.org/drawingml/2006/main">
            <a:off x="6762750" y="3714750"/>
            <a:ext cx="3810000" cy="1047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025">
                <a:solidFill>
                  <a:srgbClr val="172F3B"/>
                </a:solidFill>
                <a:latin typeface="Arial"/>
                <a:ea typeface="Arial"/>
                <a:cs typeface="Arial"/>
              </a:defRPr>
            </a:defPPr>
          </a:lstStyle>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World</a:t>
            </a:r>
          </a:p>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Entries and configuration</a:t>
            </a:r>
          </a:p>
        </p:txBody>
      </p:sp>
      <p:sp>
        <p:nvSpPr>
          <p:cNvPr id="8" name="">
            <a:extLst xmlns:a="http://schemas.openxmlformats.org/drawingml/2006/main">
              <a:ext uri="{FF2B5EF4-FFF2-40B4-BE49-F238E27FC236}">
                <a16:creationId xmlns:a16="http://schemas.microsoft.com/office/drawing/2014/main" id="{E65CDA19-654E-400B-8D08-582D9C05FB2E}"/>
              </a:ext>
            </a:extLst>
          </p:cNvPr>
          <p:cNvSpPr>
            <a:spLocks xmlns:a="http://schemas.openxmlformats.org/drawingml/2006/main" noGrp="1"/>
          </p:cNvSpPr>
          <p:nvPr/>
        </p:nvSpPr>
        <p:spPr>
          <a:xfrm xmlns:a="http://schemas.openxmlformats.org/drawingml/2006/main">
            <a:off x="952500" y="533400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Both components depend on Foundation. The release installs the complete application.</a:t>
            </a:r>
          </a:p>
        </p:txBody>
      </p:sp>
    </p:spTree>
    <p:extLst>
      <p:ext uri="{BB962C8B-B14F-4D97-AF65-F5344CB8AC3E}">
        <p14:creationId xmlns:p14="http://schemas.microsoft.com/office/powerpoint/2010/main" val="19449098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1582A6-C34F-48D4-BD99-F44EE271FD57}"/>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Oracle toolchain and responsibilities</a:t>
            </a:r>
          </a:p>
        </p:txBody>
      </p:sp>
      <p:sp>
        <p:nvSpPr>
          <p:cNvPr id="2" name="">
            <a:extLst xmlns:a="http://schemas.openxmlformats.org/drawingml/2006/main">
              <a:ext uri="{FF2B5EF4-FFF2-40B4-BE49-F238E27FC236}">
                <a16:creationId xmlns:a16="http://schemas.microsoft.com/office/drawing/2014/main" id="{5B61766C-9028-42E4-8B4C-14D96107C8D4}"/>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5C0FDC16-A1FE-4B1E-AB5E-38C849624138}"/>
              </a:ext>
            </a:extLst>
          </p:cNvPr>
          <p:cNvSpPr>
            <a:spLocks xmlns:a="http://schemas.openxmlformats.org/drawingml/2006/main" noGrp="1"/>
          </p:cNvSpPr>
          <p:nvPr/>
        </p:nvSpPr>
        <p:spPr>
          <a:xfrm xmlns:a="http://schemas.openxmlformats.org/drawingml/2006/main">
            <a:off x="619125" y="157162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APEX / ORDS: authoring, application metadata and HTTP runtime</a:t>
            </a:r>
          </a:p>
        </p:txBody>
      </p:sp>
      <p:sp>
        <p:nvSpPr>
          <p:cNvPr id="4" name="">
            <a:extLst xmlns:a="http://schemas.openxmlformats.org/drawingml/2006/main">
              <a:ext uri="{FF2B5EF4-FFF2-40B4-BE49-F238E27FC236}">
                <a16:creationId xmlns:a16="http://schemas.microsoft.com/office/drawing/2014/main" id="{017C2A23-1806-411C-B3E0-659C9AC378EB}"/>
              </a:ext>
            </a:extLst>
          </p:cNvPr>
          <p:cNvSpPr>
            <a:spLocks xmlns:a="http://schemas.openxmlformats.org/drawingml/2006/main" noGrp="1"/>
          </p:cNvSpPr>
          <p:nvPr/>
        </p:nvSpPr>
        <p:spPr>
          <a:xfrm xmlns:a="http://schemas.openxmlformats.org/drawingml/2006/main">
            <a:off x="619125" y="231457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SQLcl + Java: saved connections, SQL checks and native capture/import</a:t>
            </a:r>
          </a:p>
        </p:txBody>
      </p:sp>
      <p:sp>
        <p:nvSpPr>
          <p:cNvPr id="5" name="">
            <a:extLst xmlns:a="http://schemas.openxmlformats.org/drawingml/2006/main">
              <a:ext uri="{FF2B5EF4-FFF2-40B4-BE49-F238E27FC236}">
                <a16:creationId xmlns:a16="http://schemas.microsoft.com/office/drawing/2014/main" id="{7CC99483-14AA-46B0-BFB8-690FE0A06ECC}"/>
              </a:ext>
            </a:extLst>
          </p:cNvPr>
          <p:cNvSpPr>
            <a:spLocks xmlns:a="http://schemas.openxmlformats.org/drawingml/2006/main" noGrp="1"/>
          </p:cNvSpPr>
          <p:nvPr/>
        </p:nvSpPr>
        <p:spPr>
          <a:xfrm xmlns:a="http://schemas.openxmlformats.org/drawingml/2006/main">
            <a:off x="619125" y="305752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SQLcl Liquibase: ordered migrations and applied-change checksums</a:t>
            </a:r>
          </a:p>
        </p:txBody>
      </p:sp>
      <p:sp>
        <p:nvSpPr>
          <p:cNvPr id="6" name="">
            <a:extLst xmlns:a="http://schemas.openxmlformats.org/drawingml/2006/main">
              <a:ext uri="{FF2B5EF4-FFF2-40B4-BE49-F238E27FC236}">
                <a16:creationId xmlns:a16="http://schemas.microsoft.com/office/drawing/2014/main" id="{B99988BB-074A-47AC-BB39-A82483849B5F}"/>
              </a:ext>
            </a:extLst>
          </p:cNvPr>
          <p:cNvSpPr>
            <a:spLocks xmlns:a="http://schemas.openxmlformats.org/drawingml/2006/main" noGrp="1"/>
          </p:cNvSpPr>
          <p:nvPr/>
        </p:nvSpPr>
        <p:spPr>
          <a:xfrm xmlns:a="http://schemas.openxmlformats.org/drawingml/2006/main">
            <a:off x="619125" y="380047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E1_CTRL SQL packages: reservations, deployment epochs and receipts</a:t>
            </a:r>
          </a:p>
        </p:txBody>
      </p:sp>
      <p:sp>
        <p:nvSpPr>
          <p:cNvPr id="7" name="">
            <a:extLst xmlns:a="http://schemas.openxmlformats.org/drawingml/2006/main">
              <a:ext uri="{FF2B5EF4-FFF2-40B4-BE49-F238E27FC236}">
                <a16:creationId xmlns:a16="http://schemas.microsoft.com/office/drawing/2014/main" id="{6AEC76AA-A5FF-41ED-9CD2-431F22EC0579}"/>
              </a:ext>
            </a:extLst>
          </p:cNvPr>
          <p:cNvSpPr>
            <a:spLocks xmlns:a="http://schemas.openxmlformats.org/drawingml/2006/main" noGrp="1"/>
          </p:cNvSpPr>
          <p:nvPr/>
        </p:nvSpPr>
        <p:spPr>
          <a:xfrm xmlns:a="http://schemas.openxmlformats.org/drawingml/2006/main">
            <a:off x="619125" y="454342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Git + SHA-256: accepted source and immutable release identity</a:t>
            </a:r>
          </a:p>
        </p:txBody>
      </p:sp>
      <p:sp>
        <p:nvSpPr>
          <p:cNvPr id="8" name="">
            <a:extLst xmlns:a="http://schemas.openxmlformats.org/drawingml/2006/main">
              <a:ext uri="{FF2B5EF4-FFF2-40B4-BE49-F238E27FC236}">
                <a16:creationId xmlns:a16="http://schemas.microsoft.com/office/drawing/2014/main" id="{0D10B821-E073-4307-98B8-1DF994258B16}"/>
              </a:ext>
            </a:extLst>
          </p:cNvPr>
          <p:cNvSpPr>
            <a:spLocks xmlns:a="http://schemas.openxmlformats.org/drawingml/2006/main" noGrp="1"/>
          </p:cNvSpPr>
          <p:nvPr/>
        </p:nvSpPr>
        <p:spPr>
          <a:xfrm xmlns:a="http://schemas.openxmlformats.org/drawingml/2006/main">
            <a:off x="619125" y="528637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Bash / Python: explicit operator steps and focused lab checks</a:t>
            </a:r>
          </a:p>
        </p:txBody>
      </p:sp>
    </p:spTree>
    <p:extLst>
      <p:ext uri="{BB962C8B-B14F-4D97-AF65-F5344CB8AC3E}">
        <p14:creationId xmlns:p14="http://schemas.microsoft.com/office/powerpoint/2010/main" val="101920702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3ABB6E-8759-4F65-BEBA-8D7F22C280ED}"/>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APEX interfaces: export, import and fingerprint</a:t>
            </a:r>
          </a:p>
        </p:txBody>
      </p:sp>
      <p:sp>
        <p:nvSpPr>
          <p:cNvPr id="2" name="">
            <a:extLst xmlns:a="http://schemas.openxmlformats.org/drawingml/2006/main">
              <a:ext uri="{FF2B5EF4-FFF2-40B4-BE49-F238E27FC236}">
                <a16:creationId xmlns:a16="http://schemas.microsoft.com/office/drawing/2014/main" id="{6DF7BE2B-8880-4E5C-AC4E-F59D1484B9E1}"/>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B7FAF875-FF19-44EB-8C95-220E25134730}"/>
              </a:ext>
            </a:extLst>
          </p:cNvPr>
          <p:cNvSpPr>
            <a:spLocks xmlns:a="http://schemas.openxmlformats.org/drawingml/2006/main" noGrp="1"/>
          </p:cNvSpPr>
          <p:nvPr/>
        </p:nvSpPr>
        <p:spPr>
          <a:xfrm xmlns:a="http://schemas.openxmlformats.org/drawingml/2006/main">
            <a:off x="619125" y="157162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Author: App Builder saves application definitions in a developer area</a:t>
            </a:r>
          </a:p>
        </p:txBody>
      </p:sp>
      <p:sp>
        <p:nvSpPr>
          <p:cNvPr id="4" name="">
            <a:extLst xmlns:a="http://schemas.openxmlformats.org/drawingml/2006/main">
              <a:ext uri="{FF2B5EF4-FFF2-40B4-BE49-F238E27FC236}">
                <a16:creationId xmlns:a16="http://schemas.microsoft.com/office/drawing/2014/main" id="{2FD05F69-34F1-4387-8CD8-0C310972156D}"/>
              </a:ext>
            </a:extLst>
          </p:cNvPr>
          <p:cNvSpPr>
            <a:spLocks xmlns:a="http://schemas.openxmlformats.org/drawingml/2006/main" noGrp="1"/>
          </p:cNvSpPr>
          <p:nvPr/>
        </p:nvSpPr>
        <p:spPr>
          <a:xfrm xmlns:a="http://schemas.openxmlformats.org/drawingml/2006/main">
            <a:off x="619125" y="231457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Capture: SQLcl apex export writes split SQL files for Git review</a:t>
            </a:r>
          </a:p>
        </p:txBody>
      </p:sp>
      <p:sp>
        <p:nvSpPr>
          <p:cNvPr id="5" name="">
            <a:extLst xmlns:a="http://schemas.openxmlformats.org/drawingml/2006/main">
              <a:ext uri="{FF2B5EF4-FFF2-40B4-BE49-F238E27FC236}">
                <a16:creationId xmlns:a16="http://schemas.microsoft.com/office/drawing/2014/main" id="{079C698F-5905-4BF3-97E1-5F1C80A9E4F8}"/>
              </a:ext>
            </a:extLst>
          </p:cNvPr>
          <p:cNvSpPr>
            <a:spLocks xmlns:a="http://schemas.openxmlformats.org/drawingml/2006/main" noGrp="1"/>
          </p:cNvSpPr>
          <p:nvPr/>
        </p:nvSpPr>
        <p:spPr>
          <a:xfrm xmlns:a="http://schemas.openxmlformats.org/drawingml/2006/main">
            <a:off x="619125" y="305752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Deploy: APEX_APPLICATION_INSTALL maps the target; install.sql imports</a:t>
            </a:r>
          </a:p>
        </p:txBody>
      </p:sp>
      <p:sp>
        <p:nvSpPr>
          <p:cNvPr id="6" name="">
            <a:extLst xmlns:a="http://schemas.openxmlformats.org/drawingml/2006/main">
              <a:ext uri="{FF2B5EF4-FFF2-40B4-BE49-F238E27FC236}">
                <a16:creationId xmlns:a16="http://schemas.microsoft.com/office/drawing/2014/main" id="{A55E45EB-C042-4162-B684-E5B77B99E6D6}"/>
              </a:ext>
            </a:extLst>
          </p:cNvPr>
          <p:cNvSpPr>
            <a:spLocks xmlns:a="http://schemas.openxmlformats.org/drawingml/2006/main" noGrp="1"/>
          </p:cNvSpPr>
          <p:nvPr/>
        </p:nvSpPr>
        <p:spPr>
          <a:xfrm xmlns:a="http://schemas.openxmlformats.org/drawingml/2006/main">
            <a:off x="619125" y="380047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Guard: APEX_EXPORT.GET_APPLICATION computes the live fingerprint</a:t>
            </a:r>
          </a:p>
        </p:txBody>
      </p:sp>
      <p:sp>
        <p:nvSpPr>
          <p:cNvPr id="7" name="">
            <a:extLst xmlns:a="http://schemas.openxmlformats.org/drawingml/2006/main">
              <a:ext uri="{FF2B5EF4-FFF2-40B4-BE49-F238E27FC236}">
                <a16:creationId xmlns:a16="http://schemas.microsoft.com/office/drawing/2014/main" id="{084B06F9-FF27-47DE-8686-2AC7389AD314}"/>
              </a:ext>
            </a:extLst>
          </p:cNvPr>
          <p:cNvSpPr>
            <a:spLocks xmlns:a="http://schemas.openxmlformats.org/drawingml/2006/main" noGrp="1"/>
          </p:cNvSpPr>
          <p:nvPr/>
        </p:nvSpPr>
        <p:spPr>
          <a:xfrm xmlns:a="http://schemas.openxmlformats.org/drawingml/2006/main">
            <a:off x="619125" y="4543425"/>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Database: separate Liquibase migrations change schema objects</a:t>
            </a:r>
          </a:p>
        </p:txBody>
      </p:sp>
      <p:sp>
        <p:nvSpPr>
          <p:cNvPr id="8" name="">
            <a:extLst xmlns:a="http://schemas.openxmlformats.org/drawingml/2006/main">
              <a:ext uri="{FF2B5EF4-FFF2-40B4-BE49-F238E27FC236}">
                <a16:creationId xmlns:a16="http://schemas.microsoft.com/office/drawing/2014/main" id="{D308C2BB-1C11-43D3-8859-8D4883900759}"/>
              </a:ext>
            </a:extLst>
          </p:cNvPr>
          <p:cNvSpPr>
            <a:spLocks xmlns:a="http://schemas.openxmlformats.org/drawingml/2006/main" noGrp="1"/>
          </p:cNvSpPr>
          <p:nvPr/>
        </p:nvSpPr>
        <p:spPr>
          <a:xfrm xmlns:a="http://schemas.openxmlformats.org/drawingml/2006/main">
            <a:off x="619125" y="54768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235F63"/>
                </a:solidFill>
                <a:latin typeface="Arial"/>
                <a:ea typeface="Arial"/>
                <a:cs typeface="Arial"/>
              </a:defRPr>
            </a:defPPr>
          </a:lstStyle>
          <a:p xmlns:a="http://schemas.openxmlformats.org/drawingml/2006/main">
            <a:pPr>
              <a:defRPr sz="1875" b="0">
                <a:solidFill>
                  <a:srgbClr val="235F63"/>
                </a:solidFill>
                <a:latin typeface="Arial"/>
                <a:ea typeface="Arial"/>
                <a:cs typeface="Arial"/>
              </a:defRPr>
            </a:pPr>
            <a:r>
              <a:rPr sz="1875" b="0">
                <a:solidFill>
                  <a:srgbClr val="235F63"/>
                </a:solidFill>
                <a:latin typeface="Arial"/>
                <a:ea typeface="Arial"/>
                <a:cs typeface="Arial"/>
              </a:rPr>
              <a:t>Git and immutable archives carry releases. APEX Working Copies and Team Development are not used for release integration or promotion.</a:t>
            </a:r>
          </a:p>
        </p:txBody>
      </p:sp>
    </p:spTree>
    <p:extLst>
      <p:ext uri="{BB962C8B-B14F-4D97-AF65-F5344CB8AC3E}">
        <p14:creationId xmlns:p14="http://schemas.microsoft.com/office/powerpoint/2010/main" val="48389879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5E84943-25CB-475C-BF1E-8152A9946A47}"/>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Git repository layout</a:t>
            </a:r>
          </a:p>
        </p:txBody>
      </p:sp>
      <p:sp>
        <p:nvSpPr>
          <p:cNvPr id="2" name="">
            <a:extLst xmlns:a="http://schemas.openxmlformats.org/drawingml/2006/main">
              <a:ext uri="{FF2B5EF4-FFF2-40B4-BE49-F238E27FC236}">
                <a16:creationId xmlns:a16="http://schemas.microsoft.com/office/drawing/2014/main" id="{CF969DDF-B424-4E5B-82A7-CFF5DD13CF9D}"/>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031FFCB0-66A8-400A-AEE3-733B1CE5D18A}"/>
              </a:ext>
            </a:extLst>
          </p:cNvPr>
          <p:cNvSpPr>
            <a:spLocks xmlns:a="http://schemas.openxmlformats.org/drawingml/2006/main" noGrp="1"/>
          </p:cNvSpPr>
          <p:nvPr/>
        </p:nvSpPr>
        <p:spPr>
          <a:xfrm xmlns:a="http://schemas.openxmlformats.org/drawingml/2006/main">
            <a:off x="619125" y="15240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a:solidFill>
                  <a:srgbClr val="235F63"/>
                </a:solidFill>
                <a:latin typeface="Arial"/>
                <a:ea typeface="Arial"/>
                <a:cs typeface="Arial"/>
              </a:defRPr>
            </a:defPPr>
          </a:lstStyle>
          <a:p xmlns:a="http://schemas.openxmlformats.org/drawingml/2006/main">
            <a:pPr>
              <a:defRPr sz="2400" b="1">
                <a:solidFill>
                  <a:srgbClr val="235F63"/>
                </a:solidFill>
                <a:latin typeface="Arial"/>
                <a:ea typeface="Arial"/>
                <a:cs typeface="Arial"/>
              </a:defRPr>
            </a:pPr>
            <a:r>
              <a:rPr sz="2400" b="1">
                <a:solidFill>
                  <a:srgbClr val="235F63"/>
                </a:solidFill>
                <a:latin typeface="Arial"/>
                <a:ea typeface="Arial"/>
                <a:cs typeface="Arial"/>
              </a:rPr>
              <a:t>APEX_CICD/</a:t>
            </a:r>
          </a:p>
        </p:txBody>
      </p:sp>
      <p:sp>
        <p:nvSpPr>
          <p:cNvPr id="4" name="">
            <a:extLst xmlns:a="http://schemas.openxmlformats.org/drawingml/2006/main">
              <a:ext uri="{FF2B5EF4-FFF2-40B4-BE49-F238E27FC236}">
                <a16:creationId xmlns:a16="http://schemas.microsoft.com/office/drawing/2014/main" id="{E887C9F2-06CE-4BBA-99A4-87407A3CF9F7}"/>
              </a:ext>
            </a:extLst>
          </p:cNvPr>
          <p:cNvSpPr>
            <a:spLocks xmlns:a="http://schemas.openxmlformats.org/drawingml/2006/main" noGrp="1"/>
          </p:cNvSpPr>
          <p:nvPr/>
        </p:nvSpPr>
        <p:spPr>
          <a:xfrm xmlns:a="http://schemas.openxmlformats.org/drawingml/2006/main">
            <a:off x="619125" y="21431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72F3B"/>
                </a:solidFill>
                <a:latin typeface="Arial"/>
                <a:ea typeface="Arial"/>
                <a:cs typeface="Arial"/>
              </a:defRPr>
            </a:defPPr>
          </a:lstStyle>
          <a:p xmlns:a="http://schemas.openxmlformats.org/drawingml/2006/main">
            <a:pPr>
              <a:defRPr sz="2025" b="1">
                <a:solidFill>
                  <a:srgbClr val="172F3B"/>
                </a:solidFill>
                <a:latin typeface="Arial"/>
                <a:ea typeface="Arial"/>
                <a:cs typeface="Arial"/>
              </a:defRPr>
            </a:pPr>
            <a:r>
              <a:rPr sz="2025" b="1">
                <a:solidFill>
                  <a:srgbClr val="172F3B"/>
                </a:solidFill>
                <a:latin typeface="Arial"/>
                <a:ea typeface="Arial"/>
                <a:cs typeface="Arial"/>
              </a:rPr>
              <a:t>apex/f810001/</a:t>
            </a:r>
          </a:p>
        </p:txBody>
      </p:sp>
      <p:sp>
        <p:nvSpPr>
          <p:cNvPr id="5" name="">
            <a:extLst xmlns:a="http://schemas.openxmlformats.org/drawingml/2006/main">
              <a:ext uri="{FF2B5EF4-FFF2-40B4-BE49-F238E27FC236}">
                <a16:creationId xmlns:a16="http://schemas.microsoft.com/office/drawing/2014/main" id="{DB57F8B4-913C-4E60-A19D-8F866023A4C1}"/>
              </a:ext>
            </a:extLst>
          </p:cNvPr>
          <p:cNvSpPr>
            <a:spLocks xmlns:a="http://schemas.openxmlformats.org/drawingml/2006/main" noGrp="1"/>
          </p:cNvSpPr>
          <p:nvPr/>
        </p:nvSpPr>
        <p:spPr>
          <a:xfrm xmlns:a="http://schemas.openxmlformats.org/drawingml/2006/main">
            <a:off x="3810000" y="2143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Complete split APEX application export</a:t>
            </a:r>
          </a:p>
        </p:txBody>
      </p:sp>
      <p:sp>
        <p:nvSpPr>
          <p:cNvPr id="6" name="">
            <a:extLst xmlns:a="http://schemas.openxmlformats.org/drawingml/2006/main">
              <a:ext uri="{FF2B5EF4-FFF2-40B4-BE49-F238E27FC236}">
                <a16:creationId xmlns:a16="http://schemas.microsoft.com/office/drawing/2014/main" id="{6516F27B-51E2-4A2C-BA5D-59123BC688D0}"/>
              </a:ext>
            </a:extLst>
          </p:cNvPr>
          <p:cNvSpPr>
            <a:spLocks xmlns:a="http://schemas.openxmlformats.org/drawingml/2006/main" noGrp="1"/>
          </p:cNvSpPr>
          <p:nvPr/>
        </p:nvSpPr>
        <p:spPr>
          <a:xfrm xmlns:a="http://schemas.openxmlformats.org/drawingml/2006/main">
            <a:off x="619125" y="26860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72F3B"/>
                </a:solidFill>
                <a:latin typeface="Arial"/>
                <a:ea typeface="Arial"/>
                <a:cs typeface="Arial"/>
              </a:defRPr>
            </a:defPPr>
          </a:lstStyle>
          <a:p xmlns:a="http://schemas.openxmlformats.org/drawingml/2006/main">
            <a:pPr>
              <a:defRPr sz="2025" b="1">
                <a:solidFill>
                  <a:srgbClr val="172F3B"/>
                </a:solidFill>
                <a:latin typeface="Arial"/>
                <a:ea typeface="Arial"/>
                <a:cs typeface="Arial"/>
              </a:defRPr>
            </a:pPr>
            <a:r>
              <a:rPr sz="2025" b="1">
                <a:solidFill>
                  <a:srgbClr val="172F3B"/>
                </a:solidFill>
                <a:latin typeface="Arial"/>
                <a:ea typeface="Arial"/>
                <a:cs typeface="Arial"/>
              </a:rPr>
              <a:t>db/changes/</a:t>
            </a:r>
          </a:p>
        </p:txBody>
      </p:sp>
      <p:sp>
        <p:nvSpPr>
          <p:cNvPr id="7" name="">
            <a:extLst xmlns:a="http://schemas.openxmlformats.org/drawingml/2006/main">
              <a:ext uri="{FF2B5EF4-FFF2-40B4-BE49-F238E27FC236}">
                <a16:creationId xmlns:a16="http://schemas.microsoft.com/office/drawing/2014/main" id="{9C31C74C-BD7A-4BE6-9E35-FCC95B97EBB6}"/>
              </a:ext>
            </a:extLst>
          </p:cNvPr>
          <p:cNvSpPr>
            <a:spLocks xmlns:a="http://schemas.openxmlformats.org/drawingml/2006/main" noGrp="1"/>
          </p:cNvSpPr>
          <p:nvPr/>
        </p:nvSpPr>
        <p:spPr>
          <a:xfrm xmlns:a="http://schemas.openxmlformats.org/drawingml/2006/main">
            <a:off x="3810000" y="26860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Ordered database migrations</a:t>
            </a:r>
          </a:p>
        </p:txBody>
      </p:sp>
      <p:sp>
        <p:nvSpPr>
          <p:cNvPr id="8" name="">
            <a:extLst xmlns:a="http://schemas.openxmlformats.org/drawingml/2006/main">
              <a:ext uri="{FF2B5EF4-FFF2-40B4-BE49-F238E27FC236}">
                <a16:creationId xmlns:a16="http://schemas.microsoft.com/office/drawing/2014/main" id="{E7D95794-031F-4FA6-8317-AF8FE6E18C6D}"/>
              </a:ext>
            </a:extLst>
          </p:cNvPr>
          <p:cNvSpPr>
            <a:spLocks xmlns:a="http://schemas.openxmlformats.org/drawingml/2006/main" noGrp="1"/>
          </p:cNvSpPr>
          <p:nvPr/>
        </p:nvSpPr>
        <p:spPr>
          <a:xfrm xmlns:a="http://schemas.openxmlformats.org/drawingml/2006/main">
            <a:off x="619125" y="32289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72F3B"/>
                </a:solidFill>
                <a:latin typeface="Arial"/>
                <a:ea typeface="Arial"/>
                <a:cs typeface="Arial"/>
              </a:defRPr>
            </a:defPPr>
          </a:lstStyle>
          <a:p xmlns:a="http://schemas.openxmlformats.org/drawingml/2006/main">
            <a:pPr>
              <a:defRPr sz="2025" b="1">
                <a:solidFill>
                  <a:srgbClr val="172F3B"/>
                </a:solidFill>
                <a:latin typeface="Arial"/>
                <a:ea typeface="Arial"/>
                <a:cs typeface="Arial"/>
              </a:defRPr>
            </a:pPr>
            <a:r>
              <a:rPr sz="2025" b="1">
                <a:solidFill>
                  <a:srgbClr val="172F3B"/>
                </a:solidFill>
                <a:latin typeface="Arial"/>
                <a:ea typeface="Arial"/>
                <a:cs typeface="Arial"/>
              </a:rPr>
              <a:t>release/</a:t>
            </a:r>
          </a:p>
        </p:txBody>
      </p:sp>
      <p:sp>
        <p:nvSpPr>
          <p:cNvPr id="9" name="">
            <a:extLst xmlns:a="http://schemas.openxmlformats.org/drawingml/2006/main">
              <a:ext uri="{FF2B5EF4-FFF2-40B4-BE49-F238E27FC236}">
                <a16:creationId xmlns:a16="http://schemas.microsoft.com/office/drawing/2014/main" id="{C736779A-7942-4751-9936-9698EA0F5C40}"/>
              </a:ext>
            </a:extLst>
          </p:cNvPr>
          <p:cNvSpPr>
            <a:spLocks xmlns:a="http://schemas.openxmlformats.org/drawingml/2006/main" noGrp="1"/>
          </p:cNvSpPr>
          <p:nvPr/>
        </p:nvSpPr>
        <p:spPr>
          <a:xfrm xmlns:a="http://schemas.openxmlformats.org/drawingml/2006/main">
            <a:off x="3810000" y="322897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Versions, dependencies and release proposals</a:t>
            </a:r>
          </a:p>
        </p:txBody>
      </p:sp>
      <p:sp>
        <p:nvSpPr>
          <p:cNvPr id="10" name="">
            <a:extLst xmlns:a="http://schemas.openxmlformats.org/drawingml/2006/main">
              <a:ext uri="{FF2B5EF4-FFF2-40B4-BE49-F238E27FC236}">
                <a16:creationId xmlns:a16="http://schemas.microsoft.com/office/drawing/2014/main" id="{EC39F583-9367-4217-8C78-CF4C957B3E40}"/>
              </a:ext>
            </a:extLst>
          </p:cNvPr>
          <p:cNvSpPr>
            <a:spLocks xmlns:a="http://schemas.openxmlformats.org/drawingml/2006/main" noGrp="1"/>
          </p:cNvSpPr>
          <p:nvPr/>
        </p:nvSpPr>
        <p:spPr>
          <a:xfrm xmlns:a="http://schemas.openxmlformats.org/drawingml/2006/main">
            <a:off x="619125" y="377190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72F3B"/>
                </a:solidFill>
                <a:latin typeface="Arial"/>
                <a:ea typeface="Arial"/>
                <a:cs typeface="Arial"/>
              </a:defRPr>
            </a:defPPr>
          </a:lstStyle>
          <a:p xmlns:a="http://schemas.openxmlformats.org/drawingml/2006/main">
            <a:pPr>
              <a:defRPr sz="2025" b="1">
                <a:solidFill>
                  <a:srgbClr val="172F3B"/>
                </a:solidFill>
                <a:latin typeface="Arial"/>
                <a:ea typeface="Arial"/>
                <a:cs typeface="Arial"/>
              </a:defRPr>
            </a:pPr>
            <a:r>
              <a:rPr sz="2025" b="1">
                <a:solidFill>
                  <a:srgbClr val="172F3B"/>
                </a:solidFill>
                <a:latin typeface="Arial"/>
                <a:ea typeface="Arial"/>
                <a:cs typeface="Arial"/>
              </a:rPr>
              <a:t>deploy/</a:t>
            </a:r>
          </a:p>
        </p:txBody>
      </p:sp>
      <p:sp>
        <p:nvSpPr>
          <p:cNvPr id="11" name="">
            <a:extLst xmlns:a="http://schemas.openxmlformats.org/drawingml/2006/main">
              <a:ext uri="{FF2B5EF4-FFF2-40B4-BE49-F238E27FC236}">
                <a16:creationId xmlns:a16="http://schemas.microsoft.com/office/drawing/2014/main" id="{3AFBA62D-EB55-4E38-9FE7-18B32CF2A296}"/>
              </a:ext>
            </a:extLst>
          </p:cNvPr>
          <p:cNvSpPr>
            <a:spLocks xmlns:a="http://schemas.openxmlformats.org/drawingml/2006/main" noGrp="1"/>
          </p:cNvSpPr>
          <p:nvPr/>
        </p:nvSpPr>
        <p:spPr>
          <a:xfrm xmlns:a="http://schemas.openxmlformats.org/drawingml/2006/main">
            <a:off x="3810000" y="377190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Target guards, import and publication SQL</a:t>
            </a:r>
          </a:p>
        </p:txBody>
      </p:sp>
      <p:sp>
        <p:nvSpPr>
          <p:cNvPr id="12" name="">
            <a:extLst xmlns:a="http://schemas.openxmlformats.org/drawingml/2006/main">
              <a:ext uri="{FF2B5EF4-FFF2-40B4-BE49-F238E27FC236}">
                <a16:creationId xmlns:a16="http://schemas.microsoft.com/office/drawing/2014/main" id="{6CEE831B-FC84-4FE6-B290-B8103E41D5F2}"/>
              </a:ext>
            </a:extLst>
          </p:cNvPr>
          <p:cNvSpPr>
            <a:spLocks xmlns:a="http://schemas.openxmlformats.org/drawingml/2006/main" noGrp="1"/>
          </p:cNvSpPr>
          <p:nvPr/>
        </p:nvSpPr>
        <p:spPr>
          <a:xfrm xmlns:a="http://schemas.openxmlformats.org/drawingml/2006/main">
            <a:off x="619125" y="43148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72F3B"/>
                </a:solidFill>
                <a:latin typeface="Arial"/>
                <a:ea typeface="Arial"/>
                <a:cs typeface="Arial"/>
              </a:defRPr>
            </a:defPPr>
          </a:lstStyle>
          <a:p xmlns:a="http://schemas.openxmlformats.org/drawingml/2006/main">
            <a:pPr>
              <a:defRPr sz="2025" b="1">
                <a:solidFill>
                  <a:srgbClr val="172F3B"/>
                </a:solidFill>
                <a:latin typeface="Arial"/>
                <a:ea typeface="Arial"/>
                <a:cs typeface="Arial"/>
              </a:defRPr>
            </a:pPr>
            <a:r>
              <a:rPr sz="2025" b="1">
                <a:solidFill>
                  <a:srgbClr val="172F3B"/>
                </a:solidFill>
                <a:latin typeface="Arial"/>
                <a:ea typeface="Arial"/>
                <a:cs typeface="Arial"/>
              </a:rPr>
              <a:t>config/areas.json</a:t>
            </a:r>
          </a:p>
        </p:txBody>
      </p:sp>
      <p:sp>
        <p:nvSpPr>
          <p:cNvPr id="13" name="">
            <a:extLst xmlns:a="http://schemas.openxmlformats.org/drawingml/2006/main">
              <a:ext uri="{FF2B5EF4-FFF2-40B4-BE49-F238E27FC236}">
                <a16:creationId xmlns:a16="http://schemas.microsoft.com/office/drawing/2014/main" id="{E2023885-CF78-41D7-85BC-5AF513824417}"/>
              </a:ext>
            </a:extLst>
          </p:cNvPr>
          <p:cNvSpPr>
            <a:spLocks xmlns:a="http://schemas.openxmlformats.org/drawingml/2006/main" noGrp="1"/>
          </p:cNvSpPr>
          <p:nvPr/>
        </p:nvSpPr>
        <p:spPr>
          <a:xfrm xmlns:a="http://schemas.openxmlformats.org/drawingml/2006/main">
            <a:off x="3810000" y="43148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Workspace, schema and application mappings</a:t>
            </a:r>
          </a:p>
        </p:txBody>
      </p:sp>
      <p:sp>
        <p:nvSpPr>
          <p:cNvPr id="14" name="">
            <a:extLst xmlns:a="http://schemas.openxmlformats.org/drawingml/2006/main">
              <a:ext uri="{FF2B5EF4-FFF2-40B4-BE49-F238E27FC236}">
                <a16:creationId xmlns:a16="http://schemas.microsoft.com/office/drawing/2014/main" id="{F718B064-125A-4185-A9F8-89C7F0903876}"/>
              </a:ext>
            </a:extLst>
          </p:cNvPr>
          <p:cNvSpPr>
            <a:spLocks xmlns:a="http://schemas.openxmlformats.org/drawingml/2006/main" noGrp="1"/>
          </p:cNvSpPr>
          <p:nvPr/>
        </p:nvSpPr>
        <p:spPr>
          <a:xfrm xmlns:a="http://schemas.openxmlformats.org/drawingml/2006/main">
            <a:off x="619125" y="48577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72F3B"/>
                </a:solidFill>
                <a:latin typeface="Arial"/>
                <a:ea typeface="Arial"/>
                <a:cs typeface="Arial"/>
              </a:defRPr>
            </a:defPPr>
          </a:lstStyle>
          <a:p xmlns:a="http://schemas.openxmlformats.org/drawingml/2006/main">
            <a:pPr>
              <a:defRPr sz="2025" b="1">
                <a:solidFill>
                  <a:srgbClr val="172F3B"/>
                </a:solidFill>
                <a:latin typeface="Arial"/>
                <a:ea typeface="Arial"/>
                <a:cs typeface="Arial"/>
              </a:defRPr>
            </a:pPr>
            <a:r>
              <a:rPr sz="2025" b="1">
                <a:solidFill>
                  <a:srgbClr val="172F3B"/>
                </a:solidFill>
                <a:latin typeface="Arial"/>
                <a:ea typeface="Arial"/>
                <a:cs typeface="Arial"/>
              </a:rPr>
              <a:t>scripts/ + tests/</a:t>
            </a:r>
          </a:p>
        </p:txBody>
      </p:sp>
      <p:sp>
        <p:nvSpPr>
          <p:cNvPr id="15" name="">
            <a:extLst xmlns:a="http://schemas.openxmlformats.org/drawingml/2006/main">
              <a:ext uri="{FF2B5EF4-FFF2-40B4-BE49-F238E27FC236}">
                <a16:creationId xmlns:a16="http://schemas.microsoft.com/office/drawing/2014/main" id="{B13D9A4C-F891-41F3-B32C-8F42BF6F952C}"/>
              </a:ext>
            </a:extLst>
          </p:cNvPr>
          <p:cNvSpPr>
            <a:spLocks xmlns:a="http://schemas.openxmlformats.org/drawingml/2006/main" noGrp="1"/>
          </p:cNvSpPr>
          <p:nvPr/>
        </p:nvSpPr>
        <p:spPr>
          <a:xfrm xmlns:a="http://schemas.openxmlformats.org/drawingml/2006/main">
            <a:off x="3810000" y="4857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Operator steps and executable checks</a:t>
            </a:r>
          </a:p>
        </p:txBody>
      </p:sp>
      <p:sp>
        <p:nvSpPr>
          <p:cNvPr id="16" name="">
            <a:extLst xmlns:a="http://schemas.openxmlformats.org/drawingml/2006/main">
              <a:ext uri="{FF2B5EF4-FFF2-40B4-BE49-F238E27FC236}">
                <a16:creationId xmlns:a16="http://schemas.microsoft.com/office/drawing/2014/main" id="{CCB41022-8322-4DA6-8404-80607BB18C5B}"/>
              </a:ext>
            </a:extLst>
          </p:cNvPr>
          <p:cNvSpPr>
            <a:spLocks xmlns:a="http://schemas.openxmlformats.org/drawingml/2006/main" noGrp="1"/>
          </p:cNvSpPr>
          <p:nvPr/>
        </p:nvSpPr>
        <p:spPr>
          <a:xfrm xmlns:a="http://schemas.openxmlformats.org/drawingml/2006/main">
            <a:off x="619125" y="57150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235F63"/>
                </a:solidFill>
                <a:latin typeface="Arial"/>
                <a:ea typeface="Arial"/>
                <a:cs typeface="Arial"/>
              </a:defRPr>
            </a:defPPr>
          </a:lstStyle>
          <a:p xmlns:a="http://schemas.openxmlformats.org/drawingml/2006/main">
            <a:pPr>
              <a:defRPr sz="1800" b="0">
                <a:solidFill>
                  <a:srgbClr val="235F63"/>
                </a:solidFill>
                <a:latin typeface="Arial"/>
                <a:ea typeface="Arial"/>
                <a:cs typeface="Arial"/>
              </a:defRPr>
            </a:pPr>
            <a:r>
              <a:rPr sz="1800" b="0">
                <a:solidFill>
                  <a:srgbClr val="235F63"/>
                </a:solidFill>
                <a:latin typeface="Arial"/>
                <a:ea typeface="Arial"/>
                <a:cs typeface="Arial"/>
              </a:rPr>
              <a:t>Real Git history; one shared application source tree. Private A/B/C schema/workspace areas are separate from Git. Credentials and runtime history stay outside source control.</a:t>
            </a:r>
          </a:p>
        </p:txBody>
      </p:sp>
    </p:spTree>
    <p:extLst>
      <p:ext uri="{BB962C8B-B14F-4D97-AF65-F5344CB8AC3E}">
        <p14:creationId xmlns:p14="http://schemas.microsoft.com/office/powerpoint/2010/main" val="158572134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9BB6C2-BCC3-4556-8BE9-C2BF044CA98F}"/>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Developer cooperation: proposed branch workflow</a:t>
            </a:r>
          </a:p>
        </p:txBody>
      </p:sp>
      <p:sp>
        <p:nvSpPr>
          <p:cNvPr id="2" name="">
            <a:extLst xmlns:a="http://schemas.openxmlformats.org/drawingml/2006/main">
              <a:ext uri="{FF2B5EF4-FFF2-40B4-BE49-F238E27FC236}">
                <a16:creationId xmlns:a16="http://schemas.microsoft.com/office/drawing/2014/main" id="{FBB24893-EBE0-463B-9E78-1033CB9495B7}"/>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8F42285E-A83B-4809-AB0C-2DD8496B53C4}"/>
              </a:ext>
            </a:extLst>
          </p:cNvPr>
          <p:cNvSpPr>
            <a:spLocks xmlns:a="http://schemas.openxmlformats.org/drawingml/2006/main" noGrp="1"/>
          </p:cNvSpPr>
          <p:nvPr/>
        </p:nvSpPr>
        <p:spPr>
          <a:xfrm xmlns:a="http://schemas.openxmlformats.org/drawingml/2006/main">
            <a:off x="619125" y="161925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1. Reserve scope; start a task branch from the accepted Git base</a:t>
            </a:r>
          </a:p>
        </p:txBody>
      </p:sp>
      <p:sp>
        <p:nvSpPr>
          <p:cNvPr id="4" name="">
            <a:extLst xmlns:a="http://schemas.openxmlformats.org/drawingml/2006/main">
              <a:ext uri="{FF2B5EF4-FFF2-40B4-BE49-F238E27FC236}">
                <a16:creationId xmlns:a16="http://schemas.microsoft.com/office/drawing/2014/main" id="{A17F5653-5444-4D83-AE82-CBB3ED71AA49}"/>
              </a:ext>
            </a:extLst>
          </p:cNvPr>
          <p:cNvSpPr>
            <a:spLocks xmlns:a="http://schemas.openxmlformats.org/drawingml/2006/main" noGrp="1"/>
          </p:cNvSpPr>
          <p:nvPr/>
        </p:nvSpPr>
        <p:spPr>
          <a:xfrm xmlns:a="http://schemas.openxmlformats.org/drawingml/2006/main">
            <a:off x="619125" y="235267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2. Author in a private APEX area; export owned changes to that branch</a:t>
            </a:r>
          </a:p>
        </p:txBody>
      </p:sp>
      <p:sp>
        <p:nvSpPr>
          <p:cNvPr id="5" name="">
            <a:extLst xmlns:a="http://schemas.openxmlformats.org/drawingml/2006/main">
              <a:ext uri="{FF2B5EF4-FFF2-40B4-BE49-F238E27FC236}">
                <a16:creationId xmlns:a16="http://schemas.microsoft.com/office/drawing/2014/main" id="{7A4703B3-289A-4A33-9BA2-4AB6DDF6BF88}"/>
              </a:ext>
            </a:extLst>
          </p:cNvPr>
          <p:cNvSpPr>
            <a:spLocks xmlns:a="http://schemas.openxmlformats.org/drawingml/2006/main" noGrp="1"/>
          </p:cNvSpPr>
          <p:nvPr/>
        </p:nvSpPr>
        <p:spPr>
          <a:xfrm xmlns:a="http://schemas.openxmlformats.org/drawingml/2006/main">
            <a:off x="619125" y="30861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3. Review pages, shared files, migrations and dependency metadata</a:t>
            </a:r>
          </a:p>
        </p:txBody>
      </p:sp>
      <p:sp>
        <p:nvSpPr>
          <p:cNvPr id="6" name="">
            <a:extLst xmlns:a="http://schemas.openxmlformats.org/drawingml/2006/main">
              <a:ext uri="{FF2B5EF4-FFF2-40B4-BE49-F238E27FC236}">
                <a16:creationId xmlns:a16="http://schemas.microsoft.com/office/drawing/2014/main" id="{EBFC58C8-2223-4664-B823-AA4A6E1D5CAC}"/>
              </a:ext>
            </a:extLst>
          </p:cNvPr>
          <p:cNvSpPr>
            <a:spLocks xmlns:a="http://schemas.openxmlformats.org/drawingml/2006/main" noGrp="1"/>
          </p:cNvSpPr>
          <p:nvPr/>
        </p:nvSpPr>
        <p:spPr>
          <a:xfrm xmlns:a="http://schemas.openxmlformats.org/drawingml/2006/main">
            <a:off x="619125" y="38195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4. Validate the combined candidate in a disposable area</a:t>
            </a:r>
          </a:p>
        </p:txBody>
      </p:sp>
      <p:sp>
        <p:nvSpPr>
          <p:cNvPr id="7" name="">
            <a:extLst xmlns:a="http://schemas.openxmlformats.org/drawingml/2006/main">
              <a:ext uri="{FF2B5EF4-FFF2-40B4-BE49-F238E27FC236}">
                <a16:creationId xmlns:a16="http://schemas.microsoft.com/office/drawing/2014/main" id="{3683942E-CA76-434A-A5A4-51508C8625B6}"/>
              </a:ext>
            </a:extLst>
          </p:cNvPr>
          <p:cNvSpPr>
            <a:spLocks xmlns:a="http://schemas.openxmlformats.org/drawingml/2006/main" noGrp="1"/>
          </p:cNvSpPr>
          <p:nvPr/>
        </p:nvSpPr>
        <p:spPr>
          <a:xfrm xmlns:a="http://schemas.openxmlformats.org/drawingml/2006/main">
            <a:off x="619125" y="455295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5. Accept the source; package one immutable release archive</a:t>
            </a:r>
          </a:p>
        </p:txBody>
      </p:sp>
      <p:sp>
        <p:nvSpPr>
          <p:cNvPr id="8" name="">
            <a:extLst xmlns:a="http://schemas.openxmlformats.org/drawingml/2006/main">
              <a:ext uri="{FF2B5EF4-FFF2-40B4-BE49-F238E27FC236}">
                <a16:creationId xmlns:a16="http://schemas.microsoft.com/office/drawing/2014/main" id="{778A53D2-01F3-49B0-A453-B6EA957E8243}"/>
              </a:ext>
            </a:extLst>
          </p:cNvPr>
          <p:cNvSpPr>
            <a:spLocks xmlns:a="http://schemas.openxmlformats.org/drawingml/2006/main" noGrp="1"/>
          </p:cNvSpPr>
          <p:nvPr/>
        </p:nvSpPr>
        <p:spPr>
          <a:xfrm xmlns:a="http://schemas.openxmlformats.org/drawingml/2006/main">
            <a:off x="619125" y="56197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A43224"/>
                </a:solidFill>
                <a:latin typeface="Arial"/>
                <a:ea typeface="Arial"/>
                <a:cs typeface="Arial"/>
              </a:defRPr>
            </a:defPPr>
          </a:lstStyle>
          <a:p xmlns:a="http://schemas.openxmlformats.org/drawingml/2006/main">
            <a:pPr>
              <a:defRPr sz="1800" b="0">
                <a:solidFill>
                  <a:srgbClr val="A43224"/>
                </a:solidFill>
                <a:latin typeface="Arial"/>
                <a:ea typeface="Arial"/>
                <a:cs typeface="Arial"/>
              </a:defRPr>
            </a:pPr>
            <a:r>
              <a:rPr sz="1800" b="0">
                <a:solidFill>
                  <a:srgbClr val="A43224"/>
                </a:solidFill>
                <a:latin typeface="Arial"/>
                <a:ea typeface="Arial"/>
                <a:cs typeface="Arial"/>
              </a:rPr>
              <a:t>Future validation: concurrent Hello/World branches and competing Hello tasks. Today A–C replay reviewed sequential snapshots; live PR/parallel integration is not demonstrated.</a:t>
            </a:r>
          </a:p>
        </p:txBody>
      </p:sp>
    </p:spTree>
    <p:extLst>
      <p:ext uri="{BB962C8B-B14F-4D97-AF65-F5344CB8AC3E}">
        <p14:creationId xmlns:p14="http://schemas.microsoft.com/office/powerpoint/2010/main" val="14372475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3EC5BD-DE0C-45A2-8643-1EB3BA817870}"/>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APEX SQL exports can be merged as text</a:t>
            </a:r>
          </a:p>
        </p:txBody>
      </p:sp>
      <p:sp>
        <p:nvSpPr>
          <p:cNvPr id="2" name="">
            <a:extLst xmlns:a="http://schemas.openxmlformats.org/drawingml/2006/main">
              <a:ext uri="{FF2B5EF4-FFF2-40B4-BE49-F238E27FC236}">
                <a16:creationId xmlns:a16="http://schemas.microsoft.com/office/drawing/2014/main" id="{0E63E70E-1768-461E-9923-E5509C92BB80}"/>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287B42B1-8D01-4783-9E4B-135BF769615E}"/>
              </a:ext>
            </a:extLst>
          </p:cNvPr>
          <p:cNvSpPr>
            <a:spLocks xmlns:a="http://schemas.openxmlformats.org/drawingml/2006/main" noGrp="1"/>
          </p:cNvSpPr>
          <p:nvPr/>
        </p:nvSpPr>
        <p:spPr>
          <a:xfrm xmlns:a="http://schemas.openxmlformats.org/drawingml/2006/main">
            <a:off x="619125" y="161925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Split SQL exports belong in Git as text, not as binary application blobs</a:t>
            </a:r>
          </a:p>
        </p:txBody>
      </p:sp>
      <p:sp>
        <p:nvSpPr>
          <p:cNvPr id="4" name="">
            <a:extLst xmlns:a="http://schemas.openxmlformats.org/drawingml/2006/main">
              <a:ext uri="{FF2B5EF4-FFF2-40B4-BE49-F238E27FC236}">
                <a16:creationId xmlns:a16="http://schemas.microsoft.com/office/drawing/2014/main" id="{C9ACDA7E-8CA4-42C7-A61C-AA623FD63364}"/>
              </a:ext>
            </a:extLst>
          </p:cNvPr>
          <p:cNvSpPr>
            <a:spLocks xmlns:a="http://schemas.openxmlformats.org/drawingml/2006/main" noGrp="1"/>
          </p:cNvSpPr>
          <p:nvPr/>
        </p:nvSpPr>
        <p:spPr>
          <a:xfrm xmlns:a="http://schemas.openxmlformats.org/drawingml/2006/main">
            <a:off x="619125" y="235267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Different page files usually reduce conflicts; shared definitions still overlap</a:t>
            </a:r>
          </a:p>
        </p:txBody>
      </p:sp>
      <p:sp>
        <p:nvSpPr>
          <p:cNvPr id="5" name="">
            <a:extLst xmlns:a="http://schemas.openxmlformats.org/drawingml/2006/main">
              <a:ext uri="{FF2B5EF4-FFF2-40B4-BE49-F238E27FC236}">
                <a16:creationId xmlns:a16="http://schemas.microsoft.com/office/drawing/2014/main" id="{D629D6F0-0654-4B98-ACED-C81D286463AC}"/>
              </a:ext>
            </a:extLst>
          </p:cNvPr>
          <p:cNvSpPr>
            <a:spLocks xmlns:a="http://schemas.openxmlformats.org/drawingml/2006/main" noGrp="1"/>
          </p:cNvSpPr>
          <p:nvPr/>
        </p:nvSpPr>
        <p:spPr>
          <a:xfrm xmlns:a="http://schemas.openxmlformats.org/drawingml/2006/main">
            <a:off x="619125" y="30861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Review install.sql, IDs, shared components and cross-page dependencies</a:t>
            </a:r>
          </a:p>
        </p:txBody>
      </p:sp>
      <p:sp>
        <p:nvSpPr>
          <p:cNvPr id="6" name="">
            <a:extLst xmlns:a="http://schemas.openxmlformats.org/drawingml/2006/main">
              <a:ext uri="{FF2B5EF4-FFF2-40B4-BE49-F238E27FC236}">
                <a16:creationId xmlns:a16="http://schemas.microsoft.com/office/drawing/2014/main" id="{49BE8878-0A66-4788-8ADC-6A5A0D517604}"/>
              </a:ext>
            </a:extLst>
          </p:cNvPr>
          <p:cNvSpPr>
            <a:spLocks xmlns:a="http://schemas.openxmlformats.org/drawingml/2006/main" noGrp="1"/>
          </p:cNvSpPr>
          <p:nvPr/>
        </p:nvSpPr>
        <p:spPr>
          <a:xfrm xmlns:a="http://schemas.openxmlformats.org/drawingml/2006/main">
            <a:off x="619125" y="38195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Resolve conflicts with an APEX-aware reviewer; do not blindly pick a side</a:t>
            </a:r>
          </a:p>
        </p:txBody>
      </p:sp>
      <p:sp>
        <p:nvSpPr>
          <p:cNvPr id="7" name="">
            <a:extLst xmlns:a="http://schemas.openxmlformats.org/drawingml/2006/main">
              <a:ext uri="{FF2B5EF4-FFF2-40B4-BE49-F238E27FC236}">
                <a16:creationId xmlns:a16="http://schemas.microsoft.com/office/drawing/2014/main" id="{F0AC3F56-4DEB-43B9-B496-AA2B3E6649AD}"/>
              </a:ext>
            </a:extLst>
          </p:cNvPr>
          <p:cNvSpPr>
            <a:spLocks xmlns:a="http://schemas.openxmlformats.org/drawingml/2006/main" noGrp="1"/>
          </p:cNvSpPr>
          <p:nvPr/>
        </p:nvSpPr>
        <p:spPr>
          <a:xfrm xmlns:a="http://schemas.openxmlformats.org/drawingml/2006/main">
            <a:off x="619125" y="455295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Import the complete merged tree and test it before accepting the release</a:t>
            </a:r>
          </a:p>
        </p:txBody>
      </p:sp>
      <p:sp>
        <p:nvSpPr>
          <p:cNvPr id="8" name="">
            <a:extLst xmlns:a="http://schemas.openxmlformats.org/drawingml/2006/main">
              <a:ext uri="{FF2B5EF4-FFF2-40B4-BE49-F238E27FC236}">
                <a16:creationId xmlns:a16="http://schemas.microsoft.com/office/drawing/2014/main" id="{E3CB5385-4E53-44AD-8E42-8464CAD18B12}"/>
              </a:ext>
            </a:extLst>
          </p:cNvPr>
          <p:cNvSpPr>
            <a:spLocks xmlns:a="http://schemas.openxmlformats.org/drawingml/2006/main" noGrp="1"/>
          </p:cNvSpPr>
          <p:nvPr/>
        </p:nvSpPr>
        <p:spPr>
          <a:xfrm xmlns:a="http://schemas.openxmlformats.org/drawingml/2006/main">
            <a:off x="619125" y="56197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235F63"/>
                </a:solidFill>
                <a:latin typeface="Arial"/>
                <a:ea typeface="Arial"/>
                <a:cs typeface="Arial"/>
              </a:defRPr>
            </a:defPPr>
          </a:lstStyle>
          <a:p xmlns:a="http://schemas.openxmlformats.org/drawingml/2006/main">
            <a:pPr>
              <a:defRPr sz="1875" b="0">
                <a:solidFill>
                  <a:srgbClr val="235F63"/>
                </a:solidFill>
                <a:latin typeface="Arial"/>
                <a:ea typeface="Arial"/>
                <a:cs typeface="Arial"/>
              </a:defRPr>
            </a:pPr>
            <a:r>
              <a:rPr sz="1875" b="0">
                <a:solidFill>
                  <a:srgbClr val="235F63"/>
                </a:solidFill>
                <a:latin typeface="Arial"/>
                <a:ea typeface="Arial"/>
                <a:cs typeface="Arial"/>
              </a:rPr>
              <a:t>A clean Git merge proves only that text combined. It does not prove a valid APEX application. Database migrations need their own order and compatibility review.</a:t>
            </a:r>
          </a:p>
        </p:txBody>
      </p:sp>
    </p:spTree>
    <p:extLst>
      <p:ext uri="{BB962C8B-B14F-4D97-AF65-F5344CB8AC3E}">
        <p14:creationId xmlns:p14="http://schemas.microsoft.com/office/powerpoint/2010/main" val="14990720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082B58DD-ADD7-4322-A0A9-51AFB062EE56}"/>
              </a:ext>
            </a:extLst>
          </p:cNvPr>
          <p:cNvCxnSpPr>
            <a:stCxn xmlns:a="http://schemas.openxmlformats.org/drawingml/2006/main" id="8" idx="3"/>
            <a:endCxn xmlns:a="http://schemas.openxmlformats.org/drawingml/2006/main" id="10" idx="1"/>
          </p:cNvCxnSpPr>
          <p:nvPr/>
        </p:nvCxnSpPr>
        <p:spPr>
          <a:xfrm xmlns:a="http://schemas.openxmlformats.org/drawingml/2006/main">
            <a:off x="8715375" y="3714750"/>
            <a:ext cx="47625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12" name="">
            <a:extLst xmlns:a="http://schemas.openxmlformats.org/drawingml/2006/main">
              <a:ext uri="{FF2B5EF4-FFF2-40B4-BE49-F238E27FC236}">
                <a16:creationId xmlns:a16="http://schemas.microsoft.com/office/drawing/2014/main" id="{CD8EA256-3DA7-41B8-9E80-60F1FFDF7E35}"/>
              </a:ext>
            </a:extLst>
          </p:cNvPr>
          <p:cNvCxnSpPr>
            <a:stCxn xmlns:a="http://schemas.openxmlformats.org/drawingml/2006/main" id="6" idx="3"/>
            <a:endCxn xmlns:a="http://schemas.openxmlformats.org/drawingml/2006/main" id="8" idx="1"/>
          </p:cNvCxnSpPr>
          <p:nvPr/>
        </p:nvCxnSpPr>
        <p:spPr>
          <a:xfrm xmlns:a="http://schemas.openxmlformats.org/drawingml/2006/main">
            <a:off x="5857875" y="3714750"/>
            <a:ext cx="47625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11" name="">
            <a:extLst xmlns:a="http://schemas.openxmlformats.org/drawingml/2006/main">
              <a:ext uri="{FF2B5EF4-FFF2-40B4-BE49-F238E27FC236}">
                <a16:creationId xmlns:a16="http://schemas.microsoft.com/office/drawing/2014/main" id="{4D866AE7-11AA-47B0-8FE0-BC2F750E85BE}"/>
              </a:ext>
            </a:extLst>
          </p:cNvPr>
          <p:cNvCxnSpPr>
            <a:stCxn xmlns:a="http://schemas.openxmlformats.org/drawingml/2006/main" id="4" idx="3"/>
            <a:endCxn xmlns:a="http://schemas.openxmlformats.org/drawingml/2006/main" id="6" idx="1"/>
          </p:cNvCxnSpPr>
          <p:nvPr/>
        </p:nvCxnSpPr>
        <p:spPr>
          <a:xfrm xmlns:a="http://schemas.openxmlformats.org/drawingml/2006/main">
            <a:off x="3000375" y="3714750"/>
            <a:ext cx="476250" cy="0"/>
          </a:xfrm>
          <a:prstGeom xmlns:a="http://schemas.openxmlformats.org/drawingml/2006/main" prst="straightConnector1">
            <a:avLst/>
          </a:prstGeom>
          <a:ln xmlns:a="http://schemas.openxmlformats.org/drawingml/2006/main" w="23813">
            <a:solidFill>
              <a:srgbClr val="235F63"/>
            </a:solidFill>
            <a:tailEnd type="triangle" w="med" len="med"/>
          </a:ln>
        </p:spPr>
      </p:cxnSp>
      <p:sp>
        <p:nvSpPr>
          <p:cNvPr id="15" name="">
            <a:extLst xmlns:a="http://schemas.openxmlformats.org/drawingml/2006/main">
              <a:ext uri="{FF2B5EF4-FFF2-40B4-BE49-F238E27FC236}">
                <a16:creationId xmlns:a16="http://schemas.microsoft.com/office/drawing/2014/main" id="{633CB109-CA7A-4740-BD0D-E3FAE78A45E5}"/>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Future CI pipelines</a:t>
            </a:r>
          </a:p>
        </p:txBody>
      </p:sp>
      <p:sp>
        <p:nvSpPr>
          <p:cNvPr id="2" name="">
            <a:extLst xmlns:a="http://schemas.openxmlformats.org/drawingml/2006/main">
              <a:ext uri="{FF2B5EF4-FFF2-40B4-BE49-F238E27FC236}">
                <a16:creationId xmlns:a16="http://schemas.microsoft.com/office/drawing/2014/main" id="{B68B70CD-0C9A-4B0D-B434-7B348AD3EA27}"/>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4EE578DC-17E4-4545-A11B-3877F38E9FCD}"/>
              </a:ext>
            </a:extLst>
          </p:cNvPr>
          <p:cNvSpPr>
            <a:spLocks xmlns:a="http://schemas.openxmlformats.org/drawingml/2006/main" noGrp="1"/>
          </p:cNvSpPr>
          <p:nvPr/>
        </p:nvSpPr>
        <p:spPr>
          <a:xfrm xmlns:a="http://schemas.openxmlformats.org/drawingml/2006/main">
            <a:off x="619125" y="171450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35F63"/>
                </a:solidFill>
                <a:latin typeface="Arial"/>
                <a:ea typeface="Arial"/>
                <a:cs typeface="Arial"/>
              </a:defRPr>
            </a:defPPr>
          </a:lstStyle>
          <a:p xmlns:a="http://schemas.openxmlformats.org/drawingml/2006/main">
            <a:pPr>
              <a:defRPr sz="2100" b="1">
                <a:solidFill>
                  <a:srgbClr val="235F63"/>
                </a:solidFill>
                <a:latin typeface="Arial"/>
                <a:ea typeface="Arial"/>
                <a:cs typeface="Arial"/>
              </a:defRPr>
            </a:pPr>
            <a:r>
              <a:rPr sz="2100" b="1">
                <a:solidFill>
                  <a:srgbClr val="235F63"/>
                </a:solidFill>
                <a:latin typeface="Arial"/>
                <a:ea typeface="Arial"/>
                <a:cs typeface="Arial"/>
              </a:rPr>
              <a:t>Task / pull request</a:t>
            </a:r>
          </a:p>
        </p:txBody>
      </p:sp>
      <p:sp>
        <p:nvSpPr>
          <p:cNvPr id="4" name="">
            <a:extLst xmlns:a="http://schemas.openxmlformats.org/drawingml/2006/main">
              <a:ext uri="{FF2B5EF4-FFF2-40B4-BE49-F238E27FC236}">
                <a16:creationId xmlns:a16="http://schemas.microsoft.com/office/drawing/2014/main" id="{2FB43295-B4D2-49EC-BC8E-321323C63E40}"/>
              </a:ext>
            </a:extLst>
          </p:cNvPr>
          <p:cNvSpPr>
            <a:spLocks xmlns:a="http://schemas.openxmlformats.org/drawingml/2006/main" noGrp="1"/>
          </p:cNvSpPr>
          <p:nvPr/>
        </p:nvSpPr>
        <p:spPr>
          <a:xfrm xmlns:a="http://schemas.openxmlformats.org/drawingml/2006/main">
            <a:off x="6191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Capture + review</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Scope and dependencies</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Candidate validation</a:t>
            </a:r>
          </a:p>
        </p:txBody>
      </p:sp>
      <p:sp>
        <p:nvSpPr>
          <p:cNvPr id="5" name="">
            <a:extLst xmlns:a="http://schemas.openxmlformats.org/drawingml/2006/main">
              <a:ext uri="{FF2B5EF4-FFF2-40B4-BE49-F238E27FC236}">
                <a16:creationId xmlns:a16="http://schemas.microsoft.com/office/drawing/2014/main" id="{596921B4-CB41-45F5-9838-7A1DF572E634}"/>
              </a:ext>
            </a:extLst>
          </p:cNvPr>
          <p:cNvSpPr>
            <a:spLocks xmlns:a="http://schemas.openxmlformats.org/drawingml/2006/main" noGrp="1"/>
          </p:cNvSpPr>
          <p:nvPr/>
        </p:nvSpPr>
        <p:spPr>
          <a:xfrm xmlns:a="http://schemas.openxmlformats.org/drawingml/2006/main">
            <a:off x="3476625" y="171450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35F63"/>
                </a:solidFill>
                <a:latin typeface="Arial"/>
                <a:ea typeface="Arial"/>
                <a:cs typeface="Arial"/>
              </a:defRPr>
            </a:defPPr>
          </a:lstStyle>
          <a:p xmlns:a="http://schemas.openxmlformats.org/drawingml/2006/main">
            <a:pPr>
              <a:defRPr sz="2100" b="1">
                <a:solidFill>
                  <a:srgbClr val="235F63"/>
                </a:solidFill>
                <a:latin typeface="Arial"/>
                <a:ea typeface="Arial"/>
                <a:cs typeface="Arial"/>
              </a:defRPr>
            </a:pPr>
            <a:r>
              <a:rPr sz="2100" b="1">
                <a:solidFill>
                  <a:srgbClr val="235F63"/>
                </a:solidFill>
                <a:latin typeface="Arial"/>
                <a:ea typeface="Arial"/>
                <a:cs typeface="Arial"/>
              </a:rPr>
              <a:t>Accepted Git revision</a:t>
            </a:r>
          </a:p>
        </p:txBody>
      </p:sp>
      <p:sp>
        <p:nvSpPr>
          <p:cNvPr id="6" name="">
            <a:extLst xmlns:a="http://schemas.openxmlformats.org/drawingml/2006/main">
              <a:ext uri="{FF2B5EF4-FFF2-40B4-BE49-F238E27FC236}">
                <a16:creationId xmlns:a16="http://schemas.microsoft.com/office/drawing/2014/main" id="{5CBF7871-D4C1-4539-B6D8-F45657981CE6}"/>
              </a:ext>
            </a:extLst>
          </p:cNvPr>
          <p:cNvSpPr>
            <a:spLocks xmlns:a="http://schemas.openxmlformats.org/drawingml/2006/main" noGrp="1"/>
          </p:cNvSpPr>
          <p:nvPr/>
        </p:nvSpPr>
        <p:spPr>
          <a:xfrm xmlns:a="http://schemas.openxmlformats.org/drawingml/2006/main">
            <a:off x="34766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Build once</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Hash the archive</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Retain provenance</a:t>
            </a:r>
          </a:p>
        </p:txBody>
      </p:sp>
      <p:sp>
        <p:nvSpPr>
          <p:cNvPr id="7" name="">
            <a:extLst xmlns:a="http://schemas.openxmlformats.org/drawingml/2006/main">
              <a:ext uri="{FF2B5EF4-FFF2-40B4-BE49-F238E27FC236}">
                <a16:creationId xmlns:a16="http://schemas.microsoft.com/office/drawing/2014/main" id="{D8F19BD0-C26A-4AA5-9B2D-C57E16287C0C}"/>
              </a:ext>
            </a:extLst>
          </p:cNvPr>
          <p:cNvSpPr>
            <a:spLocks xmlns:a="http://schemas.openxmlformats.org/drawingml/2006/main" noGrp="1"/>
          </p:cNvSpPr>
          <p:nvPr/>
        </p:nvSpPr>
        <p:spPr>
          <a:xfrm xmlns:a="http://schemas.openxmlformats.org/drawingml/2006/main">
            <a:off x="6334125" y="171450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35F63"/>
                </a:solidFill>
                <a:latin typeface="Arial"/>
                <a:ea typeface="Arial"/>
                <a:cs typeface="Arial"/>
              </a:defRPr>
            </a:defPPr>
          </a:lstStyle>
          <a:p xmlns:a="http://schemas.openxmlformats.org/drawingml/2006/main">
            <a:pPr>
              <a:defRPr sz="2100" b="1">
                <a:solidFill>
                  <a:srgbClr val="235F63"/>
                </a:solidFill>
                <a:latin typeface="Arial"/>
                <a:ea typeface="Arial"/>
                <a:cs typeface="Arial"/>
              </a:defRPr>
            </a:pPr>
            <a:r>
              <a:rPr sz="2100" b="1">
                <a:solidFill>
                  <a:srgbClr val="235F63"/>
                </a:solidFill>
                <a:latin typeface="Arial"/>
                <a:ea typeface="Arial"/>
                <a:cs typeface="Arial"/>
              </a:rPr>
              <a:t>Integration test</a:t>
            </a:r>
          </a:p>
        </p:txBody>
      </p:sp>
      <p:sp>
        <p:nvSpPr>
          <p:cNvPr id="8" name="">
            <a:extLst xmlns:a="http://schemas.openxmlformats.org/drawingml/2006/main">
              <a:ext uri="{FF2B5EF4-FFF2-40B4-BE49-F238E27FC236}">
                <a16:creationId xmlns:a16="http://schemas.microsoft.com/office/drawing/2014/main" id="{D54BD649-0B78-44A5-9B97-D1F8D3F79560}"/>
              </a:ext>
            </a:extLst>
          </p:cNvPr>
          <p:cNvSpPr>
            <a:spLocks xmlns:a="http://schemas.openxmlformats.org/drawingml/2006/main" noGrp="1"/>
          </p:cNvSpPr>
          <p:nvPr/>
        </p:nvSpPr>
        <p:spPr>
          <a:xfrm xmlns:a="http://schemas.openxmlformats.org/drawingml/2006/main">
            <a:off x="63341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Fresh + upgrade checks</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Runtime verification</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Successful receipt</a:t>
            </a:r>
          </a:p>
        </p:txBody>
      </p:sp>
      <p:sp>
        <p:nvSpPr>
          <p:cNvPr id="9" name="">
            <a:extLst xmlns:a="http://schemas.openxmlformats.org/drawingml/2006/main">
              <a:ext uri="{FF2B5EF4-FFF2-40B4-BE49-F238E27FC236}">
                <a16:creationId xmlns:a16="http://schemas.microsoft.com/office/drawing/2014/main" id="{F2B4F833-D8BF-4648-9328-18603DDF1525}"/>
              </a:ext>
            </a:extLst>
          </p:cNvPr>
          <p:cNvSpPr>
            <a:spLocks xmlns:a="http://schemas.openxmlformats.org/drawingml/2006/main" noGrp="1"/>
          </p:cNvSpPr>
          <p:nvPr/>
        </p:nvSpPr>
        <p:spPr>
          <a:xfrm xmlns:a="http://schemas.openxmlformats.org/drawingml/2006/main">
            <a:off x="9191625" y="171450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35F63"/>
                </a:solidFill>
                <a:latin typeface="Arial"/>
                <a:ea typeface="Arial"/>
                <a:cs typeface="Arial"/>
              </a:defRPr>
            </a:defPPr>
          </a:lstStyle>
          <a:p xmlns:a="http://schemas.openxmlformats.org/drawingml/2006/main">
            <a:pPr>
              <a:defRPr sz="2100" b="1">
                <a:solidFill>
                  <a:srgbClr val="235F63"/>
                </a:solidFill>
                <a:latin typeface="Arial"/>
                <a:ea typeface="Arial"/>
                <a:cs typeface="Arial"/>
              </a:defRPr>
            </a:pPr>
            <a:r>
              <a:rPr sz="2100" b="1">
                <a:solidFill>
                  <a:srgbClr val="235F63"/>
                </a:solidFill>
                <a:latin typeface="Arial"/>
                <a:ea typeface="Arial"/>
                <a:cs typeface="Arial"/>
              </a:rPr>
              <a:t>UAT promotion</a:t>
            </a:r>
          </a:p>
        </p:txBody>
      </p:sp>
      <p:sp>
        <p:nvSpPr>
          <p:cNvPr id="10" name="">
            <a:extLst xmlns:a="http://schemas.openxmlformats.org/drawingml/2006/main">
              <a:ext uri="{FF2B5EF4-FFF2-40B4-BE49-F238E27FC236}">
                <a16:creationId xmlns:a16="http://schemas.microsoft.com/office/drawing/2014/main" id="{29255473-1577-4208-8FFF-24EE48C691D9}"/>
              </a:ext>
            </a:extLst>
          </p:cNvPr>
          <p:cNvSpPr>
            <a:spLocks xmlns:a="http://schemas.openxmlformats.org/drawingml/2006/main" noGrp="1"/>
          </p:cNvSpPr>
          <p:nvPr/>
        </p:nvSpPr>
        <p:spPr>
          <a:xfrm xmlns:a="http://schemas.openxmlformats.org/drawingml/2006/main">
            <a:off x="9191625" y="2619375"/>
            <a:ext cx="2381250" cy="21907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875">
                <a:solidFill>
                  <a:srgbClr val="172F3B"/>
                </a:solidFill>
                <a:latin typeface="Arial"/>
                <a:ea typeface="Arial"/>
                <a:cs typeface="Arial"/>
              </a:defRPr>
            </a:defPPr>
          </a:lstStyle>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Same archive bytes</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Preflight guards</a:t>
            </a:r>
          </a:p>
          <a:p xmlns:a="http://schemas.openxmlformats.org/drawingml/2006/main">
            <a:pPr algn="ctr">
              <a:defRPr sz="1875">
                <a:solidFill>
                  <a:srgbClr val="172F3B"/>
                </a:solidFill>
                <a:latin typeface="Arial"/>
                <a:ea typeface="Arial"/>
                <a:cs typeface="Arial"/>
              </a:defRPr>
            </a:pPr>
            <a:r>
              <a:rPr sz="1875">
                <a:solidFill>
                  <a:srgbClr val="172F3B"/>
                </a:solidFill>
                <a:latin typeface="Arial"/>
                <a:ea typeface="Arial"/>
                <a:cs typeface="Arial"/>
              </a:rPr>
              <a:t>Preserve user history</a:t>
            </a:r>
          </a:p>
        </p:txBody>
      </p:sp>
      <p:sp>
        <p:nvSpPr>
          <p:cNvPr id="14" name="">
            <a:extLst xmlns:a="http://schemas.openxmlformats.org/drawingml/2006/main">
              <a:ext uri="{FF2B5EF4-FFF2-40B4-BE49-F238E27FC236}">
                <a16:creationId xmlns:a16="http://schemas.microsoft.com/office/drawing/2014/main" id="{403933EE-AE99-4102-8095-32B4686E8CF1}"/>
              </a:ext>
            </a:extLst>
          </p:cNvPr>
          <p:cNvSpPr>
            <a:spLocks xmlns:a="http://schemas.openxmlformats.org/drawingml/2006/main" noGrp="1"/>
          </p:cNvSpPr>
          <p:nvPr/>
        </p:nvSpPr>
        <p:spPr>
          <a:xfrm xmlns:a="http://schemas.openxmlformats.org/drawingml/2006/main">
            <a:off x="619125" y="54768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A43224"/>
                </a:solidFill>
                <a:latin typeface="Arial"/>
                <a:ea typeface="Arial"/>
                <a:cs typeface="Arial"/>
              </a:defRPr>
            </a:defPPr>
          </a:lstStyle>
          <a:p xmlns:a="http://schemas.openxmlformats.org/drawingml/2006/main">
            <a:pPr>
              <a:defRPr sz="1875" b="0">
                <a:solidFill>
                  <a:srgbClr val="A43224"/>
                </a:solidFill>
                <a:latin typeface="Arial"/>
                <a:ea typeface="Arial"/>
                <a:cs typeface="Arial"/>
              </a:defRPr>
            </a:pPr>
            <a:r>
              <a:rPr sz="1875" b="0">
                <a:solidFill>
                  <a:srgbClr val="A43224"/>
                </a:solidFill>
                <a:latin typeface="Arial"/>
                <a:ea typeface="Arial"/>
                <a:cs typeface="Arial"/>
              </a:rPr>
              <a:t>Extension proposal: a CI runner, protected branches and release approvals call these gates. Remote CI/PR automation and concurrent integration remain future work.</a:t>
            </a:r>
          </a:p>
        </p:txBody>
      </p:sp>
    </p:spTree>
    <p:extLst>
      <p:ext uri="{BB962C8B-B14F-4D97-AF65-F5344CB8AC3E}">
        <p14:creationId xmlns:p14="http://schemas.microsoft.com/office/powerpoint/2010/main" val="1884313945"/>
      </p:ext>
    </p:extLst>
  </p:cSld>
</p:sld>
</file>

<file path=ppt/slides/slide12.xml><?xml version="1.0" encoding="utf-8"?>
<p:sld xmlns:p="http://schemas.openxmlformats.org/presentationml/2006/main">
  <p:cSld>
    <p:bg>
      <p:bgPr>
        <a:solidFill xmlns:a="http://schemas.openxmlformats.org/drawingml/2006/main">
          <a:srgbClr val="172F3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54D7AF5-3468-489B-8C45-C1DF943183A6}"/>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FFFFFF"/>
                </a:solidFill>
                <a:latin typeface="Arial"/>
                <a:ea typeface="Arial"/>
                <a:cs typeface="Arial"/>
              </a:defRPr>
            </a:defPPr>
          </a:lstStyle>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Walkthrough</a:t>
            </a:r>
          </a:p>
        </p:txBody>
      </p:sp>
      <p:sp>
        <p:nvSpPr>
          <p:cNvPr id="2" name="">
            <a:extLst xmlns:a="http://schemas.openxmlformats.org/drawingml/2006/main">
              <a:ext uri="{FF2B5EF4-FFF2-40B4-BE49-F238E27FC236}">
                <a16:creationId xmlns:a16="http://schemas.microsoft.com/office/drawing/2014/main" id="{9A0A3421-1086-4F8E-A539-EC2A92AE5E5A}"/>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8D7DC"/>
                </a:solidFill>
                <a:latin typeface="Arial"/>
                <a:ea typeface="Arial"/>
                <a:cs typeface="Arial"/>
              </a:defRPr>
            </a:defPPr>
          </a:lstStyle>
          <a:p xmlns:a="http://schemas.openxmlformats.org/drawingml/2006/main">
            <a:pPr>
              <a:defRPr sz="1350" b="0">
                <a:solidFill>
                  <a:srgbClr val="C8D7DC"/>
                </a:solidFill>
                <a:latin typeface="Arial"/>
                <a:ea typeface="Arial"/>
                <a:cs typeface="Arial"/>
              </a:defRPr>
            </a:pPr>
            <a:r>
              <a:rPr sz="1350" b="0">
                <a:solidFill>
                  <a:srgbClr val="C8D7DC"/>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27184430-1F43-4C39-AD91-4ADADF165A63}"/>
              </a:ext>
            </a:extLst>
          </p:cNvPr>
          <p:cNvSpPr>
            <a:spLocks xmlns:a="http://schemas.openxmlformats.org/drawingml/2006/main" noGrp="1"/>
          </p:cNvSpPr>
          <p:nvPr/>
        </p:nvSpPr>
        <p:spPr>
          <a:xfrm xmlns:a="http://schemas.openxmlformats.org/drawingml/2006/main">
            <a:off x="619125" y="2286000"/>
            <a:ext cx="10572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The Product Owner sees</a:t>
            </a:r>
          </a:p>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results after each operation</a:t>
            </a:r>
          </a:p>
        </p:txBody>
      </p:sp>
      <p:sp>
        <p:nvSpPr>
          <p:cNvPr id="4" name="">
            <a:extLst xmlns:a="http://schemas.openxmlformats.org/drawingml/2006/main">
              <a:ext uri="{FF2B5EF4-FFF2-40B4-BE49-F238E27FC236}">
                <a16:creationId xmlns:a16="http://schemas.microsoft.com/office/drawing/2014/main" id="{974CC9D2-1E49-4F0C-8D44-C727846B7A67}"/>
              </a:ext>
            </a:extLst>
          </p:cNvPr>
          <p:cNvSpPr>
            <a:spLocks xmlns:a="http://schemas.openxmlformats.org/drawingml/2006/main" noGrp="1"/>
          </p:cNvSpPr>
          <p:nvPr/>
        </p:nvSpPr>
        <p:spPr>
          <a:xfrm xmlns:a="http://schemas.openxmlformats.org/drawingml/2006/main">
            <a:off x="619125" y="466725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DCE7EB"/>
                </a:solidFill>
                <a:latin typeface="Arial"/>
                <a:ea typeface="Arial"/>
                <a:cs typeface="Arial"/>
              </a:defRPr>
            </a:defPPr>
          </a:lstStyle>
          <a:p xmlns:a="http://schemas.openxmlformats.org/drawingml/2006/main">
            <a:pPr>
              <a:defRPr sz="2175" b="0">
                <a:solidFill>
                  <a:srgbClr val="DCE7EB"/>
                </a:solidFill>
                <a:latin typeface="Arial"/>
                <a:ea typeface="Arial"/>
                <a:cs typeface="Arial"/>
              </a:defRPr>
            </a:pPr>
            <a:r>
              <a:rPr sz="2175" b="0">
                <a:solidFill>
                  <a:srgbClr val="DCE7EB"/>
                </a:solidFill>
                <a:latin typeface="Arial"/>
                <a:ea typeface="Arial"/>
                <a:cs typeface="Arial"/>
              </a:rPr>
              <a:t>The following slides follow the implemented A–I journey</a:t>
            </a:r>
          </a:p>
        </p:txBody>
      </p:sp>
    </p:spTree>
    <p:extLst>
      <p:ext uri="{BB962C8B-B14F-4D97-AF65-F5344CB8AC3E}">
        <p14:creationId xmlns:p14="http://schemas.microsoft.com/office/powerpoint/2010/main" val="173215417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F9C974-8460-443E-81BD-9559C43A3C9A}"/>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Infrastructure and project setup</a:t>
            </a:r>
          </a:p>
        </p:txBody>
      </p:sp>
      <p:sp>
        <p:nvSpPr>
          <p:cNvPr id="2" name="">
            <a:extLst xmlns:a="http://schemas.openxmlformats.org/drawingml/2006/main">
              <a:ext uri="{FF2B5EF4-FFF2-40B4-BE49-F238E27FC236}">
                <a16:creationId xmlns:a16="http://schemas.microsoft.com/office/drawing/2014/main" id="{887A8D11-1B31-4C39-BD6C-2E55359560D4}"/>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96DA6072-8673-4A94-9904-2217775367FC}"/>
              </a:ext>
            </a:extLst>
          </p:cNvPr>
          <p:cNvSpPr>
            <a:spLocks xmlns:a="http://schemas.openxmlformats.org/drawingml/2006/main" noGrp="1"/>
          </p:cNvSpPr>
          <p:nvPr/>
        </p:nvSpPr>
        <p:spPr>
          <a:xfrm xmlns:a="http://schemas.openxmlformats.org/drawingml/2006/main">
            <a:off x="619125" y="15240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A43224"/>
                </a:solidFill>
                <a:latin typeface="Arial"/>
                <a:ea typeface="Arial"/>
                <a:cs typeface="Arial"/>
              </a:defRPr>
            </a:defPPr>
          </a:lstStyle>
          <a:p xmlns:a="http://schemas.openxmlformats.org/drawingml/2006/main">
            <a:pPr>
              <a:defRPr sz="2025" b="1">
                <a:solidFill>
                  <a:srgbClr val="A43224"/>
                </a:solidFill>
                <a:latin typeface="Arial"/>
                <a:ea typeface="Arial"/>
                <a:cs typeface="Arial"/>
              </a:defRPr>
            </a:pPr>
            <a:r>
              <a:rPr sz="2025" b="1">
                <a:solidFill>
                  <a:srgbClr val="A43224"/>
                </a:solidFill>
                <a:latin typeface="Arial"/>
                <a:ea typeface="Arial"/>
                <a:cs typeface="Arial"/>
              </a:rPr>
              <a:t>Fresh replay only: destruction removes every lab database row</a:t>
            </a:r>
          </a:p>
        </p:txBody>
      </p:sp>
      <p:sp>
        <p:nvSpPr>
          <p:cNvPr id="4" name="">
            <a:extLst xmlns:a="http://schemas.openxmlformats.org/drawingml/2006/main">
              <a:ext uri="{FF2B5EF4-FFF2-40B4-BE49-F238E27FC236}">
                <a16:creationId xmlns:a16="http://schemas.microsoft.com/office/drawing/2014/main" id="{C4584837-4E68-4F01-AB17-CE0150E7CD27}"/>
              </a:ext>
            </a:extLst>
          </p:cNvPr>
          <p:cNvSpPr>
            <a:spLocks xmlns:a="http://schemas.openxmlformats.org/drawingml/2006/main" noGrp="1"/>
          </p:cNvSpPr>
          <p:nvPr/>
        </p:nvSpPr>
        <p:spPr>
          <a:xfrm xmlns:a="http://schemas.openxmlformats.org/drawingml/2006/main">
            <a:off x="619125" y="214312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python3 scripts/cicd-release-inputs.py</a:t>
            </a:r>
          </a:p>
        </p:txBody>
      </p:sp>
      <p:sp>
        <p:nvSpPr>
          <p:cNvPr id="5" name="">
            <a:extLst xmlns:a="http://schemas.openxmlformats.org/drawingml/2006/main">
              <a:ext uri="{FF2B5EF4-FFF2-40B4-BE49-F238E27FC236}">
                <a16:creationId xmlns:a16="http://schemas.microsoft.com/office/drawing/2014/main" id="{01C6BC54-9202-472D-9CEE-23213B81836D}"/>
              </a:ext>
            </a:extLst>
          </p:cNvPr>
          <p:cNvSpPr>
            <a:spLocks xmlns:a="http://schemas.openxmlformats.org/drawingml/2006/main" noGrp="1"/>
          </p:cNvSpPr>
          <p:nvPr/>
        </p:nvSpPr>
        <p:spPr>
          <a:xfrm xmlns:a="http://schemas.openxmlformats.org/drawingml/2006/main">
            <a:off x="619125" y="26670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scripts/cicd-walkthrough-prerequisites.sh</a:t>
            </a:r>
          </a:p>
        </p:txBody>
      </p:sp>
      <p:sp>
        <p:nvSpPr>
          <p:cNvPr id="6" name="">
            <a:extLst xmlns:a="http://schemas.openxmlformats.org/drawingml/2006/main">
              <a:ext uri="{FF2B5EF4-FFF2-40B4-BE49-F238E27FC236}">
                <a16:creationId xmlns:a16="http://schemas.microsoft.com/office/drawing/2014/main" id="{10AD92DE-682A-4877-967A-AEE2DEFD8C0C}"/>
              </a:ext>
            </a:extLst>
          </p:cNvPr>
          <p:cNvSpPr>
            <a:spLocks xmlns:a="http://schemas.openxmlformats.org/drawingml/2006/main" noGrp="1"/>
          </p:cNvSpPr>
          <p:nvPr/>
        </p:nvSpPr>
        <p:spPr>
          <a:xfrm xmlns:a="http://schemas.openxmlformats.org/drawingml/2006/main">
            <a:off x="619125" y="31908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scripts/cicd-walkthrough-host.sh</a:t>
            </a:r>
          </a:p>
        </p:txBody>
      </p:sp>
      <p:sp>
        <p:nvSpPr>
          <p:cNvPr id="7" name="">
            <a:extLst xmlns:a="http://schemas.openxmlformats.org/drawingml/2006/main">
              <a:ext uri="{FF2B5EF4-FFF2-40B4-BE49-F238E27FC236}">
                <a16:creationId xmlns:a16="http://schemas.microsoft.com/office/drawing/2014/main" id="{D0FF7CCB-859F-4643-8082-06D3F1E4CF16}"/>
              </a:ext>
            </a:extLst>
          </p:cNvPr>
          <p:cNvSpPr>
            <a:spLocks xmlns:a="http://schemas.openxmlformats.org/drawingml/2006/main" noGrp="1"/>
          </p:cNvSpPr>
          <p:nvPr/>
        </p:nvSpPr>
        <p:spPr>
          <a:xfrm xmlns:a="http://schemas.openxmlformats.org/drawingml/2006/main">
            <a:off x="619125" y="37147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scripts/apex-destroy.sh</a:t>
            </a:r>
          </a:p>
        </p:txBody>
      </p:sp>
      <p:sp>
        <p:nvSpPr>
          <p:cNvPr id="8" name="">
            <a:extLst xmlns:a="http://schemas.openxmlformats.org/drawingml/2006/main">
              <a:ext uri="{FF2B5EF4-FFF2-40B4-BE49-F238E27FC236}">
                <a16:creationId xmlns:a16="http://schemas.microsoft.com/office/drawing/2014/main" id="{78797655-89F2-4B45-B33E-21BD17626437}"/>
              </a:ext>
            </a:extLst>
          </p:cNvPr>
          <p:cNvSpPr>
            <a:spLocks xmlns:a="http://schemas.openxmlformats.org/drawingml/2006/main" noGrp="1"/>
          </p:cNvSpPr>
          <p:nvPr/>
        </p:nvSpPr>
        <p:spPr>
          <a:xfrm xmlns:a="http://schemas.openxmlformats.org/drawingml/2006/main">
            <a:off x="619125" y="423862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scripts/cicd-walkthrough-apex-init.sh</a:t>
            </a:r>
          </a:p>
        </p:txBody>
      </p:sp>
      <p:sp>
        <p:nvSpPr>
          <p:cNvPr id="9" name="">
            <a:extLst xmlns:a="http://schemas.openxmlformats.org/drawingml/2006/main">
              <a:ext uri="{FF2B5EF4-FFF2-40B4-BE49-F238E27FC236}">
                <a16:creationId xmlns:a16="http://schemas.microsoft.com/office/drawing/2014/main" id="{550ECE9E-FD09-42E8-A7E4-346D13A01C52}"/>
              </a:ext>
            </a:extLst>
          </p:cNvPr>
          <p:cNvSpPr>
            <a:spLocks xmlns:a="http://schemas.openxmlformats.org/drawingml/2006/main" noGrp="1"/>
          </p:cNvSpPr>
          <p:nvPr/>
        </p:nvSpPr>
        <p:spPr>
          <a:xfrm xmlns:a="http://schemas.openxmlformats.org/drawingml/2006/main">
            <a:off x="619125" y="5095875"/>
            <a:ext cx="10858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72F3B"/>
                </a:solidFill>
                <a:latin typeface="Arial"/>
                <a:ea typeface="Arial"/>
                <a:cs typeface="Arial"/>
              </a:defRPr>
            </a:defPPr>
          </a:lstStyle>
          <a:p xmlns:a="http://schemas.openxmlformats.org/drawingml/2006/main">
            <a:pPr>
              <a:defRPr sz="1875" b="0">
                <a:solidFill>
                  <a:srgbClr val="172F3B"/>
                </a:solidFill>
                <a:latin typeface="Arial"/>
                <a:ea typeface="Arial"/>
                <a:cs typeface="Arial"/>
              </a:defRPr>
            </a:pPr>
            <a:r>
              <a:rPr sz="1875" b="0">
                <a:solidFill>
                  <a:srgbClr val="172F3B"/>
                </a:solidFill>
                <a:latin typeface="Arial"/>
                <a:ea typeface="Arial"/>
                <a:cs typeface="Arial"/>
              </a:rPr>
              <a:t>Then initialize E1_CTRL and provision each named area separately.</a:t>
            </a:r>
          </a:p>
        </p:txBody>
      </p:sp>
      <p:sp>
        <p:nvSpPr>
          <p:cNvPr id="10" name="">
            <a:extLst xmlns:a="http://schemas.openxmlformats.org/drawingml/2006/main">
              <a:ext uri="{FF2B5EF4-FFF2-40B4-BE49-F238E27FC236}">
                <a16:creationId xmlns:a16="http://schemas.microsoft.com/office/drawing/2014/main" id="{69EE397F-4AB2-4374-808E-67BFBABDDE68}"/>
              </a:ext>
            </a:extLst>
          </p:cNvPr>
          <p:cNvSpPr>
            <a:spLocks xmlns:a="http://schemas.openxmlformats.org/drawingml/2006/main" noGrp="1"/>
          </p:cNvSpPr>
          <p:nvPr/>
        </p:nvSpPr>
        <p:spPr>
          <a:xfrm xmlns:a="http://schemas.openxmlformats.org/drawingml/2006/main">
            <a:off x="619125" y="5695950"/>
            <a:ext cx="10858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72F3B"/>
                </a:solidFill>
                <a:latin typeface="Arial"/>
                <a:ea typeface="Arial"/>
                <a:cs typeface="Arial"/>
              </a:defRPr>
            </a:defPPr>
          </a:lstStyle>
          <a:p xmlns:a="http://schemas.openxmlformats.org/drawingml/2006/main">
            <a:pPr>
              <a:defRPr sz="1875" b="0">
                <a:solidFill>
                  <a:srgbClr val="172F3B"/>
                </a:solidFill>
                <a:latin typeface="Arial"/>
                <a:ea typeface="Arial"/>
                <a:cs typeface="Arial"/>
              </a:defRPr>
            </a:pPr>
            <a:r>
              <a:rPr sz="1875" b="0">
                <a:solidFill>
                  <a:srgbClr val="172F3B"/>
                </a:solidFill>
                <a:latin typeface="Arial"/>
                <a:ea typeface="Arial"/>
                <a:cs typeface="Arial"/>
              </a:rPr>
              <a:t>Expected result: vanilla DB/APEX/ORDS first, then empty isolated project areas.</a:t>
            </a:r>
          </a:p>
        </p:txBody>
      </p:sp>
    </p:spTree>
    <p:extLst>
      <p:ext uri="{BB962C8B-B14F-4D97-AF65-F5344CB8AC3E}">
        <p14:creationId xmlns:p14="http://schemas.microsoft.com/office/powerpoint/2010/main" val="121481849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970EAD4D-DC55-49E5-9567-FB18498E151E}"/>
              </a:ext>
            </a:extLst>
          </p:cNvPr>
          <p:cNvCxnSpPr>
            <a:stCxn xmlns:a="http://schemas.openxmlformats.org/drawingml/2006/main" id="7" idx="3"/>
            <a:endCxn xmlns:a="http://schemas.openxmlformats.org/drawingml/2006/main" id="8" idx="1"/>
          </p:cNvCxnSpPr>
          <p:nvPr/>
        </p:nvCxnSpPr>
        <p:spPr>
          <a:xfrm xmlns:a="http://schemas.openxmlformats.org/drawingml/2006/main">
            <a:off x="7667625" y="4524375"/>
            <a:ext cx="66675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9" name="">
            <a:extLst xmlns:a="http://schemas.openxmlformats.org/drawingml/2006/main">
              <a:ext uri="{FF2B5EF4-FFF2-40B4-BE49-F238E27FC236}">
                <a16:creationId xmlns:a16="http://schemas.microsoft.com/office/drawing/2014/main" id="{151D645C-DABA-421D-B91F-A928FC5CD5E3}"/>
              </a:ext>
            </a:extLst>
          </p:cNvPr>
          <p:cNvCxnSpPr>
            <a:stCxn xmlns:a="http://schemas.openxmlformats.org/drawingml/2006/main" id="6" idx="3"/>
            <a:endCxn xmlns:a="http://schemas.openxmlformats.org/drawingml/2006/main" id="7" idx="1"/>
          </p:cNvCxnSpPr>
          <p:nvPr/>
        </p:nvCxnSpPr>
        <p:spPr>
          <a:xfrm xmlns:a="http://schemas.openxmlformats.org/drawingml/2006/main">
            <a:off x="3810000" y="4524375"/>
            <a:ext cx="666750" cy="0"/>
          </a:xfrm>
          <a:prstGeom xmlns:a="http://schemas.openxmlformats.org/drawingml/2006/main" prst="straightConnector1">
            <a:avLst/>
          </a:prstGeom>
          <a:ln xmlns:a="http://schemas.openxmlformats.org/drawingml/2006/main" w="23813">
            <a:solidFill>
              <a:srgbClr val="235F63"/>
            </a:solidFill>
            <a:tailEnd type="triangle" w="med" len="med"/>
          </a:ln>
        </p:spPr>
      </p:cxnSp>
      <p:sp>
        <p:nvSpPr>
          <p:cNvPr id="12" name="">
            <a:extLst xmlns:a="http://schemas.openxmlformats.org/drawingml/2006/main">
              <a:ext uri="{FF2B5EF4-FFF2-40B4-BE49-F238E27FC236}">
                <a16:creationId xmlns:a16="http://schemas.microsoft.com/office/drawing/2014/main" id="{C03514B1-1030-4D70-8CC1-D15CB8E4AD5B}"/>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A–C: assemble the application</a:t>
            </a:r>
          </a:p>
        </p:txBody>
      </p:sp>
      <p:sp>
        <p:nvSpPr>
          <p:cNvPr id="2" name="">
            <a:extLst xmlns:a="http://schemas.openxmlformats.org/drawingml/2006/main">
              <a:ext uri="{FF2B5EF4-FFF2-40B4-BE49-F238E27FC236}">
                <a16:creationId xmlns:a16="http://schemas.microsoft.com/office/drawing/2014/main" id="{FC6803CC-3E27-4828-9499-826868B55D56}"/>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9CCD87D6-F0C1-489D-AF65-DAED41517500}"/>
              </a:ext>
            </a:extLst>
          </p:cNvPr>
          <p:cNvSpPr>
            <a:spLocks xmlns:a="http://schemas.openxmlformats.org/drawingml/2006/main" noGrp="1"/>
          </p:cNvSpPr>
          <p:nvPr/>
        </p:nvSpPr>
        <p:spPr>
          <a:xfrm xmlns:a="http://schemas.openxmlformats.org/drawingml/2006/main">
            <a:off x="619125" y="16192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scripts/cicd-walkthrough-A_foundation.sh</a:t>
            </a:r>
          </a:p>
        </p:txBody>
      </p:sp>
      <p:sp>
        <p:nvSpPr>
          <p:cNvPr id="4" name="">
            <a:extLst xmlns:a="http://schemas.openxmlformats.org/drawingml/2006/main">
              <a:ext uri="{FF2B5EF4-FFF2-40B4-BE49-F238E27FC236}">
                <a16:creationId xmlns:a16="http://schemas.microsoft.com/office/drawing/2014/main" id="{C4F1E86F-02CF-47D4-871E-B05CC8B4DC5A}"/>
              </a:ext>
            </a:extLst>
          </p:cNvPr>
          <p:cNvSpPr>
            <a:spLocks xmlns:a="http://schemas.openxmlformats.org/drawingml/2006/main" noGrp="1"/>
          </p:cNvSpPr>
          <p:nvPr/>
        </p:nvSpPr>
        <p:spPr>
          <a:xfrm xmlns:a="http://schemas.openxmlformats.org/drawingml/2006/main">
            <a:off x="619125" y="22383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scripts/cicd-walkthrough-B_hello.sh</a:t>
            </a:r>
          </a:p>
        </p:txBody>
      </p:sp>
      <p:sp>
        <p:nvSpPr>
          <p:cNvPr id="5" name="">
            <a:extLst xmlns:a="http://schemas.openxmlformats.org/drawingml/2006/main">
              <a:ext uri="{FF2B5EF4-FFF2-40B4-BE49-F238E27FC236}">
                <a16:creationId xmlns:a16="http://schemas.microsoft.com/office/drawing/2014/main" id="{3DBC5BB0-9EB5-46D3-92EA-637F3FE5D9CF}"/>
              </a:ext>
            </a:extLst>
          </p:cNvPr>
          <p:cNvSpPr>
            <a:spLocks xmlns:a="http://schemas.openxmlformats.org/drawingml/2006/main" noGrp="1"/>
          </p:cNvSpPr>
          <p:nvPr/>
        </p:nvSpPr>
        <p:spPr>
          <a:xfrm xmlns:a="http://schemas.openxmlformats.org/drawingml/2006/main">
            <a:off x="619125" y="28575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scripts/cicd-walkthrough-C_world.sh</a:t>
            </a:r>
          </a:p>
        </p:txBody>
      </p:sp>
      <p:sp>
        <p:nvSpPr>
          <p:cNvPr id="6" name="">
            <a:extLst xmlns:a="http://schemas.openxmlformats.org/drawingml/2006/main">
              <a:ext uri="{FF2B5EF4-FFF2-40B4-BE49-F238E27FC236}">
                <a16:creationId xmlns:a16="http://schemas.microsoft.com/office/drawing/2014/main" id="{3AFCAACF-F09B-4D53-B10C-72EAB998A88B}"/>
              </a:ext>
            </a:extLst>
          </p:cNvPr>
          <p:cNvSpPr>
            <a:spLocks xmlns:a="http://schemas.openxmlformats.org/drawingml/2006/main" noGrp="1"/>
          </p:cNvSpPr>
          <p:nvPr/>
        </p:nvSpPr>
        <p:spPr>
          <a:xfrm xmlns:a="http://schemas.openxmlformats.org/drawingml/2006/main">
            <a:off x="619125" y="3857625"/>
            <a:ext cx="3190875" cy="13335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F3B"/>
                </a:solidFill>
                <a:latin typeface="Arial"/>
                <a:ea typeface="Arial"/>
                <a:cs typeface="Arial"/>
              </a:defRPr>
            </a:defPPr>
          </a:lstStyle>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A</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Foundation only</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810001</a:t>
            </a:r>
          </a:p>
        </p:txBody>
      </p:sp>
      <p:sp>
        <p:nvSpPr>
          <p:cNvPr id="7" name="">
            <a:extLst xmlns:a="http://schemas.openxmlformats.org/drawingml/2006/main">
              <a:ext uri="{FF2B5EF4-FFF2-40B4-BE49-F238E27FC236}">
                <a16:creationId xmlns:a16="http://schemas.microsoft.com/office/drawing/2014/main" id="{872A0D7D-B28D-4274-9CE1-03F616C46E7A}"/>
              </a:ext>
            </a:extLst>
          </p:cNvPr>
          <p:cNvSpPr>
            <a:spLocks xmlns:a="http://schemas.openxmlformats.org/drawingml/2006/main" noGrp="1"/>
          </p:cNvSpPr>
          <p:nvPr/>
        </p:nvSpPr>
        <p:spPr>
          <a:xfrm xmlns:a="http://schemas.openxmlformats.org/drawingml/2006/main">
            <a:off x="4476750" y="3857625"/>
            <a:ext cx="3190875" cy="13335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F3B"/>
                </a:solidFill>
                <a:latin typeface="Arial"/>
                <a:ea typeface="Arial"/>
                <a:cs typeface="Arial"/>
              </a:defRPr>
            </a:defPPr>
          </a:lstStyle>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B</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Foundation + Hello</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810002</a:t>
            </a:r>
          </a:p>
        </p:txBody>
      </p:sp>
      <p:sp>
        <p:nvSpPr>
          <p:cNvPr id="8" name="">
            <a:extLst xmlns:a="http://schemas.openxmlformats.org/drawingml/2006/main">
              <a:ext uri="{FF2B5EF4-FFF2-40B4-BE49-F238E27FC236}">
                <a16:creationId xmlns:a16="http://schemas.microsoft.com/office/drawing/2014/main" id="{F3FDB6E7-3DE7-4C09-B65F-A04161F831FB}"/>
              </a:ext>
            </a:extLst>
          </p:cNvPr>
          <p:cNvSpPr>
            <a:spLocks xmlns:a="http://schemas.openxmlformats.org/drawingml/2006/main" noGrp="1"/>
          </p:cNvSpPr>
          <p:nvPr/>
        </p:nvSpPr>
        <p:spPr>
          <a:xfrm xmlns:a="http://schemas.openxmlformats.org/drawingml/2006/main">
            <a:off x="8334375" y="3857625"/>
            <a:ext cx="3190875" cy="13335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F3B"/>
                </a:solidFill>
                <a:latin typeface="Arial"/>
                <a:ea typeface="Arial"/>
                <a:cs typeface="Arial"/>
              </a:defRPr>
            </a:defPPr>
          </a:lstStyle>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C</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Complete 1.0.0</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810003</a:t>
            </a:r>
          </a:p>
        </p:txBody>
      </p:sp>
      <p:sp>
        <p:nvSpPr>
          <p:cNvPr id="11" name="">
            <a:extLst xmlns:a="http://schemas.openxmlformats.org/drawingml/2006/main">
              <a:ext uri="{FF2B5EF4-FFF2-40B4-BE49-F238E27FC236}">
                <a16:creationId xmlns:a16="http://schemas.microsoft.com/office/drawing/2014/main" id="{F80E575D-DAB1-49F0-A205-E726335DAD53}"/>
              </a:ext>
            </a:extLst>
          </p:cNvPr>
          <p:cNvSpPr>
            <a:spLocks xmlns:a="http://schemas.openxmlformats.org/drawingml/2006/main" noGrp="1"/>
          </p:cNvSpPr>
          <p:nvPr/>
        </p:nvSpPr>
        <p:spPr>
          <a:xfrm xmlns:a="http://schemas.openxmlformats.org/drawingml/2006/main">
            <a:off x="619125" y="55245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172F3B"/>
                </a:solidFill>
                <a:latin typeface="Arial"/>
                <a:ea typeface="Arial"/>
                <a:cs typeface="Arial"/>
              </a:defRPr>
            </a:defPPr>
          </a:lstStyle>
          <a:p xmlns:a="http://schemas.openxmlformats.org/drawingml/2006/main">
            <a:pPr>
              <a:defRPr sz="1950" b="0">
                <a:solidFill>
                  <a:srgbClr val="172F3B"/>
                </a:solidFill>
                <a:latin typeface="Arial"/>
                <a:ea typeface="Arial"/>
                <a:cs typeface="Arial"/>
              </a:defRPr>
            </a:pPr>
            <a:r>
              <a:rPr sz="1950" b="0">
                <a:solidFill>
                  <a:srgbClr val="172F3B"/>
                </a:solidFill>
                <a:latin typeface="Arial"/>
                <a:ea typeface="Arial"/>
                <a:cs typeface="Arial"/>
              </a:rPr>
              <a:t>A and B remain unavailable. VERIFIER checks C, then LAB_USER can use it.</a:t>
            </a:r>
          </a:p>
        </p:txBody>
      </p:sp>
    </p:spTree>
    <p:extLst>
      <p:ext uri="{BB962C8B-B14F-4D97-AF65-F5344CB8AC3E}">
        <p14:creationId xmlns:p14="http://schemas.microsoft.com/office/powerpoint/2010/main" val="3117832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299A59AB-F1D6-422C-8DE9-32EF10C9D112}"/>
              </a:ext>
            </a:extLst>
          </p:cNvPr>
          <p:cNvCxnSpPr>
            <a:stCxn xmlns:a="http://schemas.openxmlformats.org/drawingml/2006/main" id="6" idx="3"/>
            <a:endCxn xmlns:a="http://schemas.openxmlformats.org/drawingml/2006/main" id="7" idx="1"/>
          </p:cNvCxnSpPr>
          <p:nvPr/>
        </p:nvCxnSpPr>
        <p:spPr>
          <a:xfrm xmlns:a="http://schemas.openxmlformats.org/drawingml/2006/main">
            <a:off x="5572125" y="4619625"/>
            <a:ext cx="95250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9" name="">
            <a:extLst xmlns:a="http://schemas.openxmlformats.org/drawingml/2006/main">
              <a:ext uri="{FF2B5EF4-FFF2-40B4-BE49-F238E27FC236}">
                <a16:creationId xmlns:a16="http://schemas.microsoft.com/office/drawing/2014/main" id="{A49256B5-FDB3-487B-9CD6-5E80DDF1C810}"/>
              </a:ext>
            </a:extLst>
          </p:cNvPr>
          <p:cNvCxnSpPr>
            <a:stCxn xmlns:a="http://schemas.openxmlformats.org/drawingml/2006/main" id="5" idx="2"/>
            <a:endCxn xmlns:a="http://schemas.openxmlformats.org/drawingml/2006/main" id="6" idx="0"/>
          </p:cNvCxnSpPr>
          <p:nvPr/>
        </p:nvCxnSpPr>
        <p:spPr>
          <a:xfrm xmlns:a="http://schemas.openxmlformats.org/drawingml/2006/main" flipH="1">
            <a:off x="3095625" y="3524250"/>
            <a:ext cx="5905500" cy="619125"/>
          </a:xfrm>
          <a:prstGeom xmlns:a="http://schemas.openxmlformats.org/drawingml/2006/main" prst="bentConnector4">
            <a:avLst>
              <a:gd name="adj1" fmla="val 0"/>
              <a:gd name="adj2" fmla="val 50000"/>
            </a:avLst>
          </a:prstGeom>
          <a:ln xmlns:a="http://schemas.openxmlformats.org/drawingml/2006/main" w="23813">
            <a:solidFill>
              <a:srgbClr val="235F63"/>
            </a:solidFill>
            <a:tailEnd type="triangle" w="med" len="med"/>
          </a:ln>
        </p:spPr>
      </p:cxnSp>
      <p:cxnSp>
        <p:nvCxnSpPr>
          <p:cNvPr id="8" name="">
            <a:extLst xmlns:a="http://schemas.openxmlformats.org/drawingml/2006/main">
              <a:ext uri="{FF2B5EF4-FFF2-40B4-BE49-F238E27FC236}">
                <a16:creationId xmlns:a16="http://schemas.microsoft.com/office/drawing/2014/main" id="{E257CE5E-DFCC-4A64-85FF-10B020DCB632}"/>
              </a:ext>
            </a:extLst>
          </p:cNvPr>
          <p:cNvCxnSpPr>
            <a:stCxn xmlns:a="http://schemas.openxmlformats.org/drawingml/2006/main" id="4" idx="3"/>
            <a:endCxn xmlns:a="http://schemas.openxmlformats.org/drawingml/2006/main" id="5" idx="1"/>
          </p:cNvCxnSpPr>
          <p:nvPr/>
        </p:nvCxnSpPr>
        <p:spPr>
          <a:xfrm xmlns:a="http://schemas.openxmlformats.org/drawingml/2006/main">
            <a:off x="5572125" y="3048000"/>
            <a:ext cx="952500" cy="0"/>
          </a:xfrm>
          <a:prstGeom xmlns:a="http://schemas.openxmlformats.org/drawingml/2006/main" prst="straightConnector1">
            <a:avLst/>
          </a:prstGeom>
          <a:ln xmlns:a="http://schemas.openxmlformats.org/drawingml/2006/main" w="23813">
            <a:solidFill>
              <a:srgbClr val="235F63"/>
            </a:solidFill>
            <a:tailEnd type="triangle" w="med" len="med"/>
          </a:ln>
        </p:spPr>
      </p:cxnSp>
      <p:sp>
        <p:nvSpPr>
          <p:cNvPr id="12" name="">
            <a:extLst xmlns:a="http://schemas.openxmlformats.org/drawingml/2006/main">
              <a:ext uri="{FF2B5EF4-FFF2-40B4-BE49-F238E27FC236}">
                <a16:creationId xmlns:a16="http://schemas.microsoft.com/office/drawing/2014/main" id="{34CB1912-0C13-4EA5-A467-EE7D3FAA337A}"/>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D: install in integration_test</a:t>
            </a:r>
          </a:p>
        </p:txBody>
      </p:sp>
      <p:sp>
        <p:nvSpPr>
          <p:cNvPr id="2" name="">
            <a:extLst xmlns:a="http://schemas.openxmlformats.org/drawingml/2006/main">
              <a:ext uri="{FF2B5EF4-FFF2-40B4-BE49-F238E27FC236}">
                <a16:creationId xmlns:a16="http://schemas.microsoft.com/office/drawing/2014/main" id="{BB7A53C6-926C-4263-AA0C-9CA994AC1C4C}"/>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15</a:t>
            </a:r>
          </a:p>
        </p:txBody>
      </p:sp>
      <p:sp>
        <p:nvSpPr>
          <p:cNvPr id="3" name="">
            <a:extLst xmlns:a="http://schemas.openxmlformats.org/drawingml/2006/main">
              <a:ext uri="{FF2B5EF4-FFF2-40B4-BE49-F238E27FC236}">
                <a16:creationId xmlns:a16="http://schemas.microsoft.com/office/drawing/2014/main" id="{E3858D83-B9AB-45C1-AA9F-49C210ACE4BF}"/>
              </a:ext>
            </a:extLst>
          </p:cNvPr>
          <p:cNvSpPr>
            <a:spLocks xmlns:a="http://schemas.openxmlformats.org/drawingml/2006/main" noGrp="1"/>
          </p:cNvSpPr>
          <p:nvPr/>
        </p:nvSpPr>
        <p:spPr>
          <a:xfrm xmlns:a="http://schemas.openxmlformats.org/drawingml/2006/main">
            <a:off x="619125" y="14763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scripts/cicd-walkthrough-D_integration_test.sh</a:t>
            </a:r>
          </a:p>
        </p:txBody>
      </p:sp>
      <p:sp>
        <p:nvSpPr>
          <p:cNvPr id="4" name="">
            <a:extLst xmlns:a="http://schemas.openxmlformats.org/drawingml/2006/main">
              <a:ext uri="{FF2B5EF4-FFF2-40B4-BE49-F238E27FC236}">
                <a16:creationId xmlns:a16="http://schemas.microsoft.com/office/drawing/2014/main" id="{78AC1089-40E3-495A-9B6F-48CDFE601BAF}"/>
              </a:ext>
            </a:extLst>
          </p:cNvPr>
          <p:cNvSpPr>
            <a:spLocks xmlns:a="http://schemas.openxmlformats.org/drawingml/2006/main" noGrp="1"/>
          </p:cNvSpPr>
          <p:nvPr/>
        </p:nvSpPr>
        <p:spPr>
          <a:xfrm xmlns:a="http://schemas.openxmlformats.org/drawingml/2006/main">
            <a:off x="619125" y="2571750"/>
            <a:ext cx="4953000" cy="9525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F3B"/>
                </a:solidFill>
                <a:latin typeface="Arial"/>
                <a:ea typeface="Arial"/>
                <a:cs typeface="Arial"/>
              </a:defRPr>
            </a:defPPr>
          </a:lstStyle>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Inspect the archive</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Hash, members and source</a:t>
            </a:r>
          </a:p>
        </p:txBody>
      </p:sp>
      <p:sp>
        <p:nvSpPr>
          <p:cNvPr id="5" name="">
            <a:extLst xmlns:a="http://schemas.openxmlformats.org/drawingml/2006/main">
              <a:ext uri="{FF2B5EF4-FFF2-40B4-BE49-F238E27FC236}">
                <a16:creationId xmlns:a16="http://schemas.microsoft.com/office/drawing/2014/main" id="{20F84FFC-8010-4BFE-9C1B-A32D85D5429E}"/>
              </a:ext>
            </a:extLst>
          </p:cNvPr>
          <p:cNvSpPr>
            <a:spLocks xmlns:a="http://schemas.openxmlformats.org/drawingml/2006/main" noGrp="1"/>
          </p:cNvSpPr>
          <p:nvPr/>
        </p:nvSpPr>
        <p:spPr>
          <a:xfrm xmlns:a="http://schemas.openxmlformats.org/drawingml/2006/main">
            <a:off x="6524625" y="2571750"/>
            <a:ext cx="4953000" cy="9525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F3B"/>
                </a:solidFill>
                <a:latin typeface="Arial"/>
                <a:ea typeface="Arial"/>
                <a:cs typeface="Arial"/>
              </a:defRPr>
            </a:defPPr>
          </a:lstStyle>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Admit the target</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Owned attempt and epoch</a:t>
            </a:r>
          </a:p>
        </p:txBody>
      </p:sp>
      <p:sp>
        <p:nvSpPr>
          <p:cNvPr id="6" name="">
            <a:extLst xmlns:a="http://schemas.openxmlformats.org/drawingml/2006/main">
              <a:ext uri="{FF2B5EF4-FFF2-40B4-BE49-F238E27FC236}">
                <a16:creationId xmlns:a16="http://schemas.microsoft.com/office/drawing/2014/main" id="{0305CF1B-9EF9-446C-80F6-636A06D7B8E0}"/>
              </a:ext>
            </a:extLst>
          </p:cNvPr>
          <p:cNvSpPr>
            <a:spLocks xmlns:a="http://schemas.openxmlformats.org/drawingml/2006/main" noGrp="1"/>
          </p:cNvSpPr>
          <p:nvPr/>
        </p:nvSpPr>
        <p:spPr>
          <a:xfrm xmlns:a="http://schemas.openxmlformats.org/drawingml/2006/main">
            <a:off x="619125" y="4143375"/>
            <a:ext cx="4953000" cy="9525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F3B"/>
                </a:solidFill>
                <a:latin typeface="Arial"/>
                <a:ea typeface="Arial"/>
                <a:cs typeface="Arial"/>
              </a:defRPr>
            </a:defPPr>
          </a:lstStyle>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Apply migrations</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SQLcl Liquibase checks</a:t>
            </a:r>
          </a:p>
        </p:txBody>
      </p:sp>
      <p:sp>
        <p:nvSpPr>
          <p:cNvPr id="7" name="">
            <a:extLst xmlns:a="http://schemas.openxmlformats.org/drawingml/2006/main">
              <a:ext uri="{FF2B5EF4-FFF2-40B4-BE49-F238E27FC236}">
                <a16:creationId xmlns:a16="http://schemas.microsoft.com/office/drawing/2014/main" id="{9EE930E5-3A58-4796-A027-8CEF22D417BC}"/>
              </a:ext>
            </a:extLst>
          </p:cNvPr>
          <p:cNvSpPr>
            <a:spLocks xmlns:a="http://schemas.openxmlformats.org/drawingml/2006/main" noGrp="1"/>
          </p:cNvSpPr>
          <p:nvPr/>
        </p:nvSpPr>
        <p:spPr>
          <a:xfrm xmlns:a="http://schemas.openxmlformats.org/drawingml/2006/main">
            <a:off x="6524625" y="4143375"/>
            <a:ext cx="4953000" cy="9525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F3B"/>
                </a:solidFill>
                <a:latin typeface="Arial"/>
                <a:ea typeface="Arial"/>
                <a:cs typeface="Arial"/>
              </a:defRPr>
            </a:defPPr>
          </a:lstStyle>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Import native APEX source</a:t>
            </a:r>
          </a:p>
          <a:p xmlns:a="http://schemas.openxmlformats.org/drawingml/2006/main">
            <a:pPr algn="ctr">
              <a:defRPr sz="1950">
                <a:solidFill>
                  <a:srgbClr val="172F3B"/>
                </a:solidFill>
                <a:latin typeface="Arial"/>
                <a:ea typeface="Arial"/>
                <a:cs typeface="Arial"/>
              </a:defRPr>
            </a:pPr>
            <a:r>
              <a:rPr sz="1950">
                <a:solidFill>
                  <a:srgbClr val="172F3B"/>
                </a:solidFill>
                <a:latin typeface="Arial"/>
                <a:ea typeface="Arial"/>
                <a:cs typeface="Arial"/>
              </a:rPr>
              <a:t>Application 810004 stays blocked</a:t>
            </a:r>
          </a:p>
        </p:txBody>
      </p:sp>
      <p:sp>
        <p:nvSpPr>
          <p:cNvPr id="11" name="">
            <a:extLst xmlns:a="http://schemas.openxmlformats.org/drawingml/2006/main">
              <a:ext uri="{FF2B5EF4-FFF2-40B4-BE49-F238E27FC236}">
                <a16:creationId xmlns:a16="http://schemas.microsoft.com/office/drawing/2014/main" id="{080A435B-15EA-4BDC-B550-1D860D2658BD}"/>
              </a:ext>
            </a:extLst>
          </p:cNvPr>
          <p:cNvSpPr>
            <a:spLocks xmlns:a="http://schemas.openxmlformats.org/drawingml/2006/main" noGrp="1"/>
          </p:cNvSpPr>
          <p:nvPr/>
        </p:nvSpPr>
        <p:spPr>
          <a:xfrm xmlns:a="http://schemas.openxmlformats.org/drawingml/2006/main">
            <a:off x="619125" y="56197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72F3B"/>
                </a:solidFill>
                <a:latin typeface="Arial"/>
                <a:ea typeface="Arial"/>
                <a:cs typeface="Arial"/>
              </a:defRPr>
            </a:defPPr>
          </a:lstStyle>
          <a:p xmlns:a="http://schemas.openxmlformats.org/drawingml/2006/main">
            <a:pPr>
              <a:defRPr sz="1875" b="0">
                <a:solidFill>
                  <a:srgbClr val="172F3B"/>
                </a:solidFill>
                <a:latin typeface="Arial"/>
                <a:ea typeface="Arial"/>
                <a:cs typeface="Arial"/>
              </a:defRPr>
            </a:pPr>
            <a:r>
              <a:rPr sz="1875" b="0">
                <a:solidFill>
                  <a:srgbClr val="172F3B"/>
                </a:solidFill>
                <a:latin typeface="Arial"/>
                <a:ea typeface="Arial"/>
                <a:cs typeface="Arial"/>
              </a:rPr>
              <a:t>Source comes from the Git-built archive. No live export from C and no copied developer data.</a:t>
            </a:r>
          </a:p>
        </p:txBody>
      </p:sp>
    </p:spTree>
    <p:extLst>
      <p:ext uri="{BB962C8B-B14F-4D97-AF65-F5344CB8AC3E}">
        <p14:creationId xmlns:p14="http://schemas.microsoft.com/office/powerpoint/2010/main" val="31705563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F67CDCF4-279B-4C39-AC36-3CFF5E4567A8}"/>
              </a:ext>
            </a:extLst>
          </p:cNvPr>
          <p:cNvCxnSpPr>
            <a:stCxn xmlns:a="http://schemas.openxmlformats.org/drawingml/2006/main" id="4" idx="3"/>
            <a:endCxn xmlns:a="http://schemas.openxmlformats.org/drawingml/2006/main" id="5" idx="1"/>
          </p:cNvCxnSpPr>
          <p:nvPr/>
        </p:nvCxnSpPr>
        <p:spPr>
          <a:xfrm xmlns:a="http://schemas.openxmlformats.org/drawingml/2006/main">
            <a:off x="7667625" y="2309813"/>
            <a:ext cx="66675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6" name="">
            <a:extLst xmlns:a="http://schemas.openxmlformats.org/drawingml/2006/main">
              <a:ext uri="{FF2B5EF4-FFF2-40B4-BE49-F238E27FC236}">
                <a16:creationId xmlns:a16="http://schemas.microsoft.com/office/drawing/2014/main" id="{DC017F2E-739D-4528-BE98-AF38F2B11D12}"/>
              </a:ext>
            </a:extLst>
          </p:cNvPr>
          <p:cNvCxnSpPr>
            <a:stCxn xmlns:a="http://schemas.openxmlformats.org/drawingml/2006/main" id="3" idx="3"/>
            <a:endCxn xmlns:a="http://schemas.openxmlformats.org/drawingml/2006/main" id="4" idx="1"/>
          </p:cNvCxnSpPr>
          <p:nvPr/>
        </p:nvCxnSpPr>
        <p:spPr>
          <a:xfrm xmlns:a="http://schemas.openxmlformats.org/drawingml/2006/main">
            <a:off x="3810000" y="2309813"/>
            <a:ext cx="666750" cy="0"/>
          </a:xfrm>
          <a:prstGeom xmlns:a="http://schemas.openxmlformats.org/drawingml/2006/main" prst="straightConnector1">
            <a:avLst/>
          </a:prstGeom>
          <a:ln xmlns:a="http://schemas.openxmlformats.org/drawingml/2006/main" w="23813">
            <a:solidFill>
              <a:srgbClr val="235F63"/>
            </a:solidFill>
            <a:tailEnd type="triangle" w="med" len="med"/>
          </a:ln>
        </p:spPr>
      </p:cxnSp>
      <p:sp>
        <p:nvSpPr>
          <p:cNvPr id="12" name="">
            <a:extLst xmlns:a="http://schemas.openxmlformats.org/drawingml/2006/main">
              <a:ext uri="{FF2B5EF4-FFF2-40B4-BE49-F238E27FC236}">
                <a16:creationId xmlns:a16="http://schemas.microsoft.com/office/drawing/2014/main" id="{FB7B0017-EF42-4310-BB23-ECBA45365522}"/>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D: verify before publication</a:t>
            </a:r>
          </a:p>
        </p:txBody>
      </p:sp>
      <p:sp>
        <p:nvSpPr>
          <p:cNvPr id="2" name="">
            <a:extLst xmlns:a="http://schemas.openxmlformats.org/drawingml/2006/main">
              <a:ext uri="{FF2B5EF4-FFF2-40B4-BE49-F238E27FC236}">
                <a16:creationId xmlns:a16="http://schemas.microsoft.com/office/drawing/2014/main" id="{E58B02A6-2D09-4D46-8979-E4C4A3DBC93B}"/>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AC45A321-A940-4C69-A578-0643769E67C2}"/>
              </a:ext>
            </a:extLst>
          </p:cNvPr>
          <p:cNvSpPr>
            <a:spLocks xmlns:a="http://schemas.openxmlformats.org/drawingml/2006/main" noGrp="1"/>
          </p:cNvSpPr>
          <p:nvPr/>
        </p:nvSpPr>
        <p:spPr>
          <a:xfrm xmlns:a="http://schemas.openxmlformats.org/drawingml/2006/main">
            <a:off x="619125" y="1809750"/>
            <a:ext cx="3190875" cy="1000125"/>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025">
                <a:solidFill>
                  <a:srgbClr val="172F3B"/>
                </a:solidFill>
                <a:latin typeface="Arial"/>
                <a:ea typeface="Arial"/>
                <a:cs typeface="Arial"/>
              </a:defRPr>
            </a:defPPr>
          </a:lstStyle>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Automated integrity</a:t>
            </a:r>
          </a:p>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and unit checks</a:t>
            </a:r>
          </a:p>
        </p:txBody>
      </p:sp>
      <p:sp>
        <p:nvSpPr>
          <p:cNvPr id="4" name="">
            <a:extLst xmlns:a="http://schemas.openxmlformats.org/drawingml/2006/main">
              <a:ext uri="{FF2B5EF4-FFF2-40B4-BE49-F238E27FC236}">
                <a16:creationId xmlns:a16="http://schemas.microsoft.com/office/drawing/2014/main" id="{C7D3D8E4-30D8-4481-8366-62F54ED18F1E}"/>
              </a:ext>
            </a:extLst>
          </p:cNvPr>
          <p:cNvSpPr>
            <a:spLocks xmlns:a="http://schemas.openxmlformats.org/drawingml/2006/main" noGrp="1"/>
          </p:cNvSpPr>
          <p:nvPr/>
        </p:nvSpPr>
        <p:spPr>
          <a:xfrm xmlns:a="http://schemas.openxmlformats.org/drawingml/2006/main">
            <a:off x="4476750" y="1809750"/>
            <a:ext cx="3190875" cy="1000125"/>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025">
                <a:solidFill>
                  <a:srgbClr val="172F3B"/>
                </a:solidFill>
                <a:latin typeface="Arial"/>
                <a:ea typeface="Arial"/>
                <a:cs typeface="Arial"/>
              </a:defRPr>
            </a:defPPr>
          </a:lstStyle>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VERIFIER browser check</a:t>
            </a:r>
          </a:p>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Save Hello World</a:t>
            </a:r>
          </a:p>
        </p:txBody>
      </p:sp>
      <p:sp>
        <p:nvSpPr>
          <p:cNvPr id="5" name="">
            <a:extLst xmlns:a="http://schemas.openxmlformats.org/drawingml/2006/main">
              <a:ext uri="{FF2B5EF4-FFF2-40B4-BE49-F238E27FC236}">
                <a16:creationId xmlns:a16="http://schemas.microsoft.com/office/drawing/2014/main" id="{0FA39E79-5921-4D5C-97BC-CBFC6F3472B8}"/>
              </a:ext>
            </a:extLst>
          </p:cNvPr>
          <p:cNvSpPr>
            <a:spLocks xmlns:a="http://schemas.openxmlformats.org/drawingml/2006/main" noGrp="1"/>
          </p:cNvSpPr>
          <p:nvPr/>
        </p:nvSpPr>
        <p:spPr>
          <a:xfrm xmlns:a="http://schemas.openxmlformats.org/drawingml/2006/main">
            <a:off x="8334375" y="1809750"/>
            <a:ext cx="3190875" cy="1000125"/>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025">
                <a:solidFill>
                  <a:srgbClr val="172F3B"/>
                </a:solidFill>
                <a:latin typeface="Arial"/>
                <a:ea typeface="Arial"/>
                <a:cs typeface="Arial"/>
              </a:defRPr>
            </a:defPPr>
          </a:lstStyle>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Publish ready state</a:t>
            </a:r>
          </a:p>
          <a:p xmlns:a="http://schemas.openxmlformats.org/drawingml/2006/main">
            <a:pPr algn="ctr">
              <a:defRPr sz="2025">
                <a:solidFill>
                  <a:srgbClr val="172F3B"/>
                </a:solidFill>
                <a:latin typeface="Arial"/>
                <a:ea typeface="Arial"/>
                <a:cs typeface="Arial"/>
              </a:defRPr>
            </a:pPr>
            <a:r>
              <a:rPr sz="2025">
                <a:solidFill>
                  <a:srgbClr val="172F3B"/>
                </a:solidFill>
                <a:latin typeface="Arial"/>
                <a:ea typeface="Arial"/>
                <a:cs typeface="Arial"/>
              </a:rPr>
              <a:t>Fingerprint + receipt</a:t>
            </a:r>
          </a:p>
        </p:txBody>
      </p:sp>
      <p:sp>
        <p:nvSpPr>
          <p:cNvPr id="8" name="">
            <a:extLst xmlns:a="http://schemas.openxmlformats.org/drawingml/2006/main">
              <a:ext uri="{FF2B5EF4-FFF2-40B4-BE49-F238E27FC236}">
                <a16:creationId xmlns:a16="http://schemas.microsoft.com/office/drawing/2014/main" id="{13BF60B2-CA1B-4A0E-9FAA-9120D83F9372}"/>
              </a:ext>
            </a:extLst>
          </p:cNvPr>
          <p:cNvSpPr>
            <a:spLocks xmlns:a="http://schemas.openxmlformats.org/drawingml/2006/main" noGrp="1"/>
          </p:cNvSpPr>
          <p:nvPr/>
        </p:nvSpPr>
        <p:spPr>
          <a:xfrm xmlns:a="http://schemas.openxmlformats.org/drawingml/2006/main">
            <a:off x="619125" y="35242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python3 scripts/cicd-password.py VERIFIER</a:t>
            </a:r>
          </a:p>
        </p:txBody>
      </p:sp>
      <p:sp>
        <p:nvSpPr>
          <p:cNvPr id="9" name="">
            <a:extLst xmlns:a="http://schemas.openxmlformats.org/drawingml/2006/main">
              <a:ext uri="{FF2B5EF4-FFF2-40B4-BE49-F238E27FC236}">
                <a16:creationId xmlns:a16="http://schemas.microsoft.com/office/drawing/2014/main" id="{52D77F7F-6118-43CD-8898-3AA6D4D1441B}"/>
              </a:ext>
            </a:extLst>
          </p:cNvPr>
          <p:cNvSpPr>
            <a:spLocks xmlns:a="http://schemas.openxmlformats.org/drawingml/2006/main" noGrp="1"/>
          </p:cNvSpPr>
          <p:nvPr/>
        </p:nvSpPr>
        <p:spPr>
          <a:xfrm xmlns:a="http://schemas.openxmlformats.org/drawingml/2006/main">
            <a:off x="619125" y="43338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35F63"/>
                </a:solidFill>
                <a:latin typeface="Arial"/>
                <a:ea typeface="Arial"/>
                <a:cs typeface="Arial"/>
              </a:defRPr>
            </a:defPPr>
          </a:lstStyle>
          <a:p xmlns:a="http://schemas.openxmlformats.org/drawingml/2006/main">
            <a:pPr>
              <a:defRPr sz="2025" b="0">
                <a:solidFill>
                  <a:srgbClr val="235F63"/>
                </a:solidFill>
                <a:latin typeface="Arial"/>
                <a:ea typeface="Arial"/>
                <a:cs typeface="Arial"/>
              </a:defRPr>
            </a:pPr>
            <a:r>
              <a:rPr sz="2025" b="0">
                <a:solidFill>
                  <a:srgbClr val="235F63"/>
                </a:solidFill>
                <a:latin typeface="Arial"/>
                <a:ea typeface="Arial"/>
                <a:cs typeface="Arial"/>
              </a:rPr>
              <a:t>Open http://127.0.0.1:8080/ords/f?p=810004:1</a:t>
            </a:r>
          </a:p>
        </p:txBody>
      </p:sp>
      <p:sp>
        <p:nvSpPr>
          <p:cNvPr id="10" name="">
            <a:extLst xmlns:a="http://schemas.openxmlformats.org/drawingml/2006/main">
              <a:ext uri="{FF2B5EF4-FFF2-40B4-BE49-F238E27FC236}">
                <a16:creationId xmlns:a16="http://schemas.microsoft.com/office/drawing/2014/main" id="{60635FF5-49DA-48F3-ACA9-2491271F8F4B}"/>
              </a:ext>
            </a:extLst>
          </p:cNvPr>
          <p:cNvSpPr>
            <a:spLocks xmlns:a="http://schemas.openxmlformats.org/drawingml/2006/main" noGrp="1"/>
          </p:cNvSpPr>
          <p:nvPr/>
        </p:nvSpPr>
        <p:spPr>
          <a:xfrm xmlns:a="http://schemas.openxmlformats.org/drawingml/2006/main">
            <a:off x="619125" y="5095875"/>
            <a:ext cx="10858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A missing required greeting repeats the verification prompt.</a:t>
            </a:r>
          </a:p>
        </p:txBody>
      </p:sp>
      <p:sp>
        <p:nvSpPr>
          <p:cNvPr id="11" name="">
            <a:extLst xmlns:a="http://schemas.openxmlformats.org/drawingml/2006/main">
              <a:ext uri="{FF2B5EF4-FFF2-40B4-BE49-F238E27FC236}">
                <a16:creationId xmlns:a16="http://schemas.microsoft.com/office/drawing/2014/main" id="{5439C463-16B6-45C2-A171-F5068A578C60}"/>
              </a:ext>
            </a:extLst>
          </p:cNvPr>
          <p:cNvSpPr>
            <a:spLocks xmlns:a="http://schemas.openxmlformats.org/drawingml/2006/main" noGrp="1"/>
          </p:cNvSpPr>
          <p:nvPr/>
        </p:nvSpPr>
        <p:spPr>
          <a:xfrm xmlns:a="http://schemas.openxmlformats.org/drawingml/2006/main">
            <a:off x="619125" y="5715000"/>
            <a:ext cx="10858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After publication, LAB_USER can use the complete application.</a:t>
            </a:r>
          </a:p>
        </p:txBody>
      </p:sp>
    </p:spTree>
    <p:extLst>
      <p:ext uri="{BB962C8B-B14F-4D97-AF65-F5344CB8AC3E}">
        <p14:creationId xmlns:p14="http://schemas.microsoft.com/office/powerpoint/2010/main" val="7855502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6" name="">
            <a:extLst xmlns:a="http://schemas.openxmlformats.org/drawingml/2006/main">
              <a:ext uri="{FF2B5EF4-FFF2-40B4-BE49-F238E27FC236}">
                <a16:creationId xmlns:a16="http://schemas.microsoft.com/office/drawing/2014/main" id="{BBEE2914-46C5-4D12-9F9E-3CBDB1E1439F}"/>
              </a:ext>
            </a:extLst>
          </p:cNvPr>
          <p:cNvCxnSpPr>
            <a:stCxn xmlns:a="http://schemas.openxmlformats.org/drawingml/2006/main" id="4" idx="3"/>
            <a:endCxn xmlns:a="http://schemas.openxmlformats.org/drawingml/2006/main" id="5" idx="1"/>
          </p:cNvCxnSpPr>
          <p:nvPr/>
        </p:nvCxnSpPr>
        <p:spPr>
          <a:xfrm xmlns:a="http://schemas.openxmlformats.org/drawingml/2006/main">
            <a:off x="5095875" y="3381375"/>
            <a:ext cx="2000250" cy="0"/>
          </a:xfrm>
          <a:prstGeom xmlns:a="http://schemas.openxmlformats.org/drawingml/2006/main" prst="straightConnector1">
            <a:avLst/>
          </a:prstGeom>
          <a:ln xmlns:a="http://schemas.openxmlformats.org/drawingml/2006/main" w="23813">
            <a:solidFill>
              <a:srgbClr val="235F63"/>
            </a:solidFill>
            <a:tailEnd type="triangle" w="med" len="med"/>
          </a:ln>
        </p:spPr>
      </p:cxnSp>
      <p:sp>
        <p:nvSpPr>
          <p:cNvPr id="9" name="">
            <a:extLst xmlns:a="http://schemas.openxmlformats.org/drawingml/2006/main">
              <a:ext uri="{FF2B5EF4-FFF2-40B4-BE49-F238E27FC236}">
                <a16:creationId xmlns:a16="http://schemas.microsoft.com/office/drawing/2014/main" id="{0B2F2979-E114-4437-820F-E1036D8B546A}"/>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E: promote the same initial archive</a:t>
            </a:r>
          </a:p>
        </p:txBody>
      </p:sp>
      <p:sp>
        <p:nvSpPr>
          <p:cNvPr id="2" name="">
            <a:extLst xmlns:a="http://schemas.openxmlformats.org/drawingml/2006/main">
              <a:ext uri="{FF2B5EF4-FFF2-40B4-BE49-F238E27FC236}">
                <a16:creationId xmlns:a16="http://schemas.microsoft.com/office/drawing/2014/main" id="{69BDEAFD-B624-42D1-AC85-19B59BB0DC09}"/>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E0C6FC66-AE18-41F6-8D8E-FEFC7D45FA70}"/>
              </a:ext>
            </a:extLst>
          </p:cNvPr>
          <p:cNvSpPr>
            <a:spLocks xmlns:a="http://schemas.openxmlformats.org/drawingml/2006/main" noGrp="1"/>
          </p:cNvSpPr>
          <p:nvPr/>
        </p:nvSpPr>
        <p:spPr>
          <a:xfrm xmlns:a="http://schemas.openxmlformats.org/drawingml/2006/main">
            <a:off x="619125" y="157162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scripts/cicd-walkthrough-E_promotion.sh</a:t>
            </a:r>
          </a:p>
        </p:txBody>
      </p:sp>
      <p:sp>
        <p:nvSpPr>
          <p:cNvPr id="4" name="">
            <a:extLst xmlns:a="http://schemas.openxmlformats.org/drawingml/2006/main">
              <a:ext uri="{FF2B5EF4-FFF2-40B4-BE49-F238E27FC236}">
                <a16:creationId xmlns:a16="http://schemas.microsoft.com/office/drawing/2014/main" id="{69F8378A-F5FE-4901-A82C-76A4C456D584}"/>
              </a:ext>
            </a:extLst>
          </p:cNvPr>
          <p:cNvSpPr>
            <a:spLocks xmlns:a="http://schemas.openxmlformats.org/drawingml/2006/main" noGrp="1"/>
          </p:cNvSpPr>
          <p:nvPr/>
        </p:nvSpPr>
        <p:spPr>
          <a:xfrm xmlns:a="http://schemas.openxmlformats.org/drawingml/2006/main">
            <a:off x="952500" y="2762250"/>
            <a:ext cx="4143375" cy="12382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100">
                <a:solidFill>
                  <a:srgbClr val="172F3B"/>
                </a:solidFill>
                <a:latin typeface="Arial"/>
                <a:ea typeface="Arial"/>
                <a:cs typeface="Arial"/>
              </a:defRPr>
            </a:defPPr>
          </a:lstStyle>
          <a:p xmlns:a="http://schemas.openxmlformats.org/drawingml/2006/main">
            <a:pPr algn="ctr">
              <a:defRPr sz="2100">
                <a:solidFill>
                  <a:srgbClr val="172F3B"/>
                </a:solidFill>
                <a:latin typeface="Arial"/>
                <a:ea typeface="Arial"/>
                <a:cs typeface="Arial"/>
              </a:defRPr>
            </a:pPr>
            <a:r>
              <a:rPr sz="2100">
                <a:solidFill>
                  <a:srgbClr val="172F3B"/>
                </a:solidFill>
                <a:latin typeface="Arial"/>
                <a:ea typeface="Arial"/>
                <a:cs typeface="Arial"/>
              </a:rPr>
              <a:t>integration_test</a:t>
            </a:r>
          </a:p>
          <a:p xmlns:a="http://schemas.openxmlformats.org/drawingml/2006/main">
            <a:pPr algn="ctr">
              <a:defRPr sz="2100">
                <a:solidFill>
                  <a:srgbClr val="172F3B"/>
                </a:solidFill>
                <a:latin typeface="Arial"/>
                <a:ea typeface="Arial"/>
                <a:cs typeface="Arial"/>
              </a:defRPr>
            </a:pPr>
            <a:r>
              <a:rPr sz="2100">
                <a:solidFill>
                  <a:srgbClr val="172F3B"/>
                </a:solidFill>
                <a:latin typeface="Arial"/>
                <a:ea typeface="Arial"/>
                <a:cs typeface="Arial"/>
              </a:rPr>
              <a:t>Successful 1.0.0 receipt</a:t>
            </a:r>
          </a:p>
        </p:txBody>
      </p:sp>
      <p:sp>
        <p:nvSpPr>
          <p:cNvPr id="5" name="">
            <a:extLst xmlns:a="http://schemas.openxmlformats.org/drawingml/2006/main">
              <a:ext uri="{FF2B5EF4-FFF2-40B4-BE49-F238E27FC236}">
                <a16:creationId xmlns:a16="http://schemas.microsoft.com/office/drawing/2014/main" id="{5725D469-D76C-4577-8AF2-F865D7840F1D}"/>
              </a:ext>
            </a:extLst>
          </p:cNvPr>
          <p:cNvSpPr>
            <a:spLocks xmlns:a="http://schemas.openxmlformats.org/drawingml/2006/main" noGrp="1"/>
          </p:cNvSpPr>
          <p:nvPr/>
        </p:nvSpPr>
        <p:spPr>
          <a:xfrm xmlns:a="http://schemas.openxmlformats.org/drawingml/2006/main">
            <a:off x="7096125" y="2762250"/>
            <a:ext cx="4143375" cy="123825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100">
                <a:solidFill>
                  <a:srgbClr val="172F3B"/>
                </a:solidFill>
                <a:latin typeface="Arial"/>
                <a:ea typeface="Arial"/>
                <a:cs typeface="Arial"/>
              </a:defRPr>
            </a:defPPr>
          </a:lstStyle>
          <a:p xmlns:a="http://schemas.openxmlformats.org/drawingml/2006/main">
            <a:pPr algn="ctr">
              <a:defRPr sz="2100">
                <a:solidFill>
                  <a:srgbClr val="172F3B"/>
                </a:solidFill>
                <a:latin typeface="Arial"/>
                <a:ea typeface="Arial"/>
                <a:cs typeface="Arial"/>
              </a:defRPr>
            </a:pPr>
            <a:r>
              <a:rPr sz="2100">
                <a:solidFill>
                  <a:srgbClr val="172F3B"/>
                </a:solidFill>
                <a:latin typeface="Arial"/>
                <a:ea typeface="Arial"/>
                <a:cs typeface="Arial"/>
              </a:rPr>
              <a:t>user_acceptance_test</a:t>
            </a:r>
          </a:p>
          <a:p xmlns:a="http://schemas.openxmlformats.org/drawingml/2006/main">
            <a:pPr algn="ctr">
              <a:defRPr sz="2100">
                <a:solidFill>
                  <a:srgbClr val="172F3B"/>
                </a:solidFill>
                <a:latin typeface="Arial"/>
                <a:ea typeface="Arial"/>
                <a:cs typeface="Arial"/>
              </a:defRPr>
            </a:pPr>
            <a:r>
              <a:rPr sz="2100">
                <a:solidFill>
                  <a:srgbClr val="172F3B"/>
                </a:solidFill>
                <a:latin typeface="Arial"/>
                <a:ea typeface="Arial"/>
                <a:cs typeface="Arial"/>
              </a:rPr>
              <a:t>Same archive hash</a:t>
            </a:r>
          </a:p>
        </p:txBody>
      </p:sp>
      <p:sp>
        <p:nvSpPr>
          <p:cNvPr id="7" name="">
            <a:extLst xmlns:a="http://schemas.openxmlformats.org/drawingml/2006/main">
              <a:ext uri="{FF2B5EF4-FFF2-40B4-BE49-F238E27FC236}">
                <a16:creationId xmlns:a16="http://schemas.microsoft.com/office/drawing/2014/main" id="{A6C17DBF-F7D0-4D04-BB49-70C97255FC70}"/>
              </a:ext>
            </a:extLst>
          </p:cNvPr>
          <p:cNvSpPr>
            <a:spLocks xmlns:a="http://schemas.openxmlformats.org/drawingml/2006/main" noGrp="1"/>
          </p:cNvSpPr>
          <p:nvPr/>
        </p:nvSpPr>
        <p:spPr>
          <a:xfrm xmlns:a="http://schemas.openxmlformats.org/drawingml/2006/main">
            <a:off x="619125" y="47625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UAT application 810005 becomes available to LAB_USER.</a:t>
            </a:r>
          </a:p>
        </p:txBody>
      </p:sp>
      <p:sp>
        <p:nvSpPr>
          <p:cNvPr id="8" name="">
            <a:extLst xmlns:a="http://schemas.openxmlformats.org/drawingml/2006/main">
              <a:ext uri="{FF2B5EF4-FFF2-40B4-BE49-F238E27FC236}">
                <a16:creationId xmlns:a16="http://schemas.microsoft.com/office/drawing/2014/main" id="{D360DB0A-4B86-4009-A3B9-518457A93DE4}"/>
              </a:ext>
            </a:extLst>
          </p:cNvPr>
          <p:cNvSpPr>
            <a:spLocks xmlns:a="http://schemas.openxmlformats.org/drawingml/2006/main" noGrp="1"/>
          </p:cNvSpPr>
          <p:nvPr/>
        </p:nvSpPr>
        <p:spPr>
          <a:xfrm xmlns:a="http://schemas.openxmlformats.org/drawingml/2006/main">
            <a:off x="619125" y="55245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Capture the field-level history/configuration baseline for F.</a:t>
            </a:r>
          </a:p>
        </p:txBody>
      </p:sp>
    </p:spTree>
    <p:extLst>
      <p:ext uri="{BB962C8B-B14F-4D97-AF65-F5344CB8AC3E}">
        <p14:creationId xmlns:p14="http://schemas.microsoft.com/office/powerpoint/2010/main" val="134602519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5BEEA8-7451-4D1B-A925-ED55E9C01ADC}"/>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F: Hello 1.0.1 with preserved history</a:t>
            </a:r>
          </a:p>
        </p:txBody>
      </p:sp>
      <p:sp>
        <p:nvSpPr>
          <p:cNvPr id="2" name="">
            <a:extLst xmlns:a="http://schemas.openxmlformats.org/drawingml/2006/main">
              <a:ext uri="{FF2B5EF4-FFF2-40B4-BE49-F238E27FC236}">
                <a16:creationId xmlns:a16="http://schemas.microsoft.com/office/drawing/2014/main" id="{32228FB2-C6A6-46FA-883E-4759891F5E73}"/>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A10A9430-C13F-469F-A6EB-AD8623D94469}"/>
              </a:ext>
            </a:extLst>
          </p:cNvPr>
          <p:cNvSpPr>
            <a:spLocks xmlns:a="http://schemas.openxmlformats.org/drawingml/2006/main" noGrp="1"/>
          </p:cNvSpPr>
          <p:nvPr/>
        </p:nvSpPr>
        <p:spPr>
          <a:xfrm xmlns:a="http://schemas.openxmlformats.org/drawingml/2006/main">
            <a:off x="619125" y="14763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scripts/cicd-walkthrough-F_hello_patch.sh</a:t>
            </a:r>
          </a:p>
        </p:txBody>
      </p:sp>
      <p:graphicFrame>
        <p:nvGraphicFramePr>
          <p:cNvPr id="4" name="">
            <a:extLst xmlns:a="http://schemas.openxmlformats.org/drawingml/2006/main">
              <a:ext uri="{FF2B5EF4-FFF2-40B4-BE49-F238E27FC236}">
                <a16:creationId xmlns:a16="http://schemas.microsoft.com/office/drawing/2014/main" id="{D14AB271-E0CE-4E69-8A28-0A1EFE73A58C}"/>
              </a:ext>
            </a:extLst>
          </p:cNvPr>
          <p:cNvGraphicFramePr/>
          <p:nvPr/>
        </p:nvGraphicFramePr>
        <p:xfrm>
          <a:off xmlns:a="http://schemas.openxmlformats.org/drawingml/2006/main" x="619125" y="2524125"/>
          <a:ext xmlns:a="http://schemas.openxmlformats.org/drawingml/2006/main" cx="10858500" cy="2428875"/>
        </p:xfrm>
        <a:graphic xmlns:a="http://schemas.openxmlformats.org/drawingml/2006/main">
          <a:graphicData uri="http://schemas.openxmlformats.org/drawingml/2006/table">
            <a:tbl>
              <a:tblPr/>
              <a:tblGrid>
                <a:gridCol w="3619500"/>
                <a:gridCol w="3619500"/>
                <a:gridCol w="3619500"/>
              </a:tblGrid>
              <a:tr h="607219">
                <a:tc>
                  <a:txBody>
                    <a:bodyPr/>
                    <a:lstStyle/>
                    <a:p>
                      <a:r>
                        <a:rPr sz="2100" b="1">
                          <a:solidFill>
                            <a:srgbClr val="FFFFFF"/>
                          </a:solidFill>
                          <a:latin typeface="Arial"/>
                          <a:ea typeface="Arial"/>
                          <a:cs typeface="Arial"/>
                        </a:rPr>
                        <a:t>Component</a:t>
                      </a:r>
                    </a:p>
                  </a:txBody>
                  <a:tcPr marL="91440" marR="91440" marT="45720" marB="45720">
                    <a:lnL w="9525">
                      <a:solidFill>
                        <a:srgbClr val="AAB9BE"/>
                      </a:solidFill>
                      <a:prstDash val="solid"/>
                    </a:lnL>
                    <a:lnR w="9525">
                      <a:solidFill>
                        <a:srgbClr val="AAB9BE"/>
                      </a:solidFill>
                      <a:prstDash val="solid"/>
                    </a:lnR>
                    <a:lnT w="9525">
                      <a:solidFill>
                        <a:srgbClr val="AAB9BE"/>
                      </a:solidFill>
                      <a:prstDash val="solid"/>
                    </a:lnT>
                    <a:lnB w="9525">
                      <a:solidFill>
                        <a:srgbClr val="AAB9BE"/>
                      </a:solidFill>
                      <a:prstDash val="solid"/>
                    </a:lnB>
                    <a:solidFill>
                      <a:srgbClr val="172F3B"/>
                    </a:solidFill>
                  </a:tcPr>
                </a:tc>
                <a:tc>
                  <a:txBody>
                    <a:bodyPr/>
                    <a:lstStyle/>
                    <a:p>
                      <a:r>
                        <a:rPr sz="2100" b="1">
                          <a:solidFill>
                            <a:srgbClr val="FFFFFF"/>
                          </a:solidFill>
                          <a:latin typeface="Arial"/>
                          <a:ea typeface="Arial"/>
                          <a:cs typeface="Arial"/>
                        </a:rPr>
                        <a:t>Before</a:t>
                      </a:r>
                    </a:p>
                  </a:txBody>
                  <a:tcPr marL="91440" marR="91440" marT="45720" marB="45720">
                    <a:lnR w="9525">
                      <a:solidFill>
                        <a:srgbClr val="AAB9BE"/>
                      </a:solidFill>
                      <a:prstDash val="solid"/>
                    </a:lnR>
                    <a:lnT w="9525">
                      <a:solidFill>
                        <a:srgbClr val="AAB9BE"/>
                      </a:solidFill>
                      <a:prstDash val="solid"/>
                    </a:lnT>
                    <a:lnB w="9525">
                      <a:solidFill>
                        <a:srgbClr val="AAB9BE"/>
                      </a:solidFill>
                      <a:prstDash val="solid"/>
                    </a:lnB>
                    <a:solidFill>
                      <a:srgbClr val="172F3B"/>
                    </a:solidFill>
                  </a:tcPr>
                </a:tc>
                <a:tc>
                  <a:txBody>
                    <a:bodyPr/>
                    <a:lstStyle/>
                    <a:p>
                      <a:r>
                        <a:rPr sz="2100" b="1">
                          <a:solidFill>
                            <a:srgbClr val="FFFFFF"/>
                          </a:solidFill>
                          <a:latin typeface="Arial"/>
                          <a:ea typeface="Arial"/>
                          <a:cs typeface="Arial"/>
                        </a:rPr>
                        <a:t>After</a:t>
                      </a:r>
                    </a:p>
                  </a:txBody>
                  <a:tcPr marL="91440" marR="91440" marT="45720" marB="45720">
                    <a:lnR w="9525">
                      <a:solidFill>
                        <a:srgbClr val="AAB9BE"/>
                      </a:solidFill>
                      <a:prstDash val="solid"/>
                    </a:lnR>
                    <a:lnT w="9525">
                      <a:solidFill>
                        <a:srgbClr val="AAB9BE"/>
                      </a:solidFill>
                      <a:prstDash val="solid"/>
                    </a:lnT>
                    <a:lnB w="9525">
                      <a:solidFill>
                        <a:srgbClr val="AAB9BE"/>
                      </a:solidFill>
                      <a:prstDash val="solid"/>
                    </a:lnB>
                    <a:solidFill>
                      <a:srgbClr val="172F3B"/>
                    </a:solidFill>
                  </a:tcPr>
                </a:tc>
              </a:tr>
              <a:tr h="607219">
                <a:tc>
                  <a:txBody>
                    <a:bodyPr/>
                    <a:lstStyle/>
                    <a:p>
                      <a:r>
                        <a:rPr sz="2100" b="0">
                          <a:solidFill>
                            <a:srgbClr val="172F3B"/>
                          </a:solidFill>
                          <a:latin typeface="Arial"/>
                          <a:ea typeface="Arial"/>
                          <a:cs typeface="Arial"/>
                        </a:rPr>
                        <a:t>Foundation</a:t>
                      </a:r>
                    </a:p>
                  </a:txBody>
                  <a:tcPr marL="91440" marR="91440" marT="45720" marB="45720">
                    <a:lnL w="9525">
                      <a:solidFill>
                        <a:srgbClr val="AAB9BE"/>
                      </a:solidFill>
                      <a:prstDash val="solid"/>
                    </a:lnL>
                    <a:lnR w="9525">
                      <a:solidFill>
                        <a:srgbClr val="AAB9BE"/>
                      </a:solidFill>
                      <a:prstDash val="solid"/>
                    </a:lnR>
                    <a:lnB w="9525">
                      <a:solidFill>
                        <a:srgbClr val="AAB9BE"/>
                      </a:solidFill>
                      <a:prstDash val="solid"/>
                    </a:lnB>
                    <a:solidFill>
                      <a:srgbClr val="FFFFFF"/>
                    </a:solidFill>
                  </a:tcPr>
                </a:tc>
                <a:tc>
                  <a:txBody>
                    <a:bodyPr/>
                    <a:lstStyle/>
                    <a:p>
                      <a:r>
                        <a:rPr sz="2100" b="0">
                          <a:solidFill>
                            <a:srgbClr val="172F3B"/>
                          </a:solidFill>
                          <a:latin typeface="Arial"/>
                          <a:ea typeface="Arial"/>
                          <a:cs typeface="Arial"/>
                        </a:rPr>
                        <a:t>1.0.0</a:t>
                      </a:r>
                    </a:p>
                  </a:txBody>
                  <a:tcPr marL="91440" marR="91440" marT="45720" marB="45720">
                    <a:lnR w="9525">
                      <a:solidFill>
                        <a:srgbClr val="AAB9BE"/>
                      </a:solidFill>
                      <a:prstDash val="solid"/>
                    </a:lnR>
                    <a:lnB w="9525">
                      <a:solidFill>
                        <a:srgbClr val="AAB9BE"/>
                      </a:solidFill>
                      <a:prstDash val="solid"/>
                    </a:lnB>
                    <a:solidFill>
                      <a:srgbClr val="FFFFFF"/>
                    </a:solidFill>
                  </a:tcPr>
                </a:tc>
                <a:tc>
                  <a:txBody>
                    <a:bodyPr/>
                    <a:lstStyle/>
                    <a:p>
                      <a:r>
                        <a:rPr sz="2100" b="0">
                          <a:solidFill>
                            <a:srgbClr val="172F3B"/>
                          </a:solidFill>
                          <a:latin typeface="Arial"/>
                          <a:ea typeface="Arial"/>
                          <a:cs typeface="Arial"/>
                        </a:rPr>
                        <a:t>1.0.0</a:t>
                      </a:r>
                    </a:p>
                  </a:txBody>
                  <a:tcPr marL="91440" marR="91440" marT="45720" marB="45720">
                    <a:lnR w="9525">
                      <a:solidFill>
                        <a:srgbClr val="AAB9BE"/>
                      </a:solidFill>
                      <a:prstDash val="solid"/>
                    </a:lnR>
                    <a:lnB w="9525">
                      <a:solidFill>
                        <a:srgbClr val="AAB9BE"/>
                      </a:solidFill>
                      <a:prstDash val="solid"/>
                    </a:lnB>
                    <a:solidFill>
                      <a:srgbClr val="FFFFFF"/>
                    </a:solidFill>
                  </a:tcPr>
                </a:tc>
              </a:tr>
              <a:tr h="607219">
                <a:tc>
                  <a:txBody>
                    <a:bodyPr/>
                    <a:lstStyle/>
                    <a:p>
                      <a:r>
                        <a:rPr sz="2100" b="1">
                          <a:solidFill>
                            <a:srgbClr val="172F3B"/>
                          </a:solidFill>
                          <a:latin typeface="Arial"/>
                          <a:ea typeface="Arial"/>
                          <a:cs typeface="Arial"/>
                        </a:rPr>
                        <a:t>Hello</a:t>
                      </a:r>
                    </a:p>
                  </a:txBody>
                  <a:tcPr marL="91440" marR="91440" marT="45720" marB="45720">
                    <a:lnL w="9525">
                      <a:solidFill>
                        <a:srgbClr val="AAB9BE"/>
                      </a:solidFill>
                      <a:prstDash val="solid"/>
                    </a:lnL>
                    <a:lnR w="9525">
                      <a:solidFill>
                        <a:srgbClr val="AAB9BE"/>
                      </a:solidFill>
                      <a:prstDash val="solid"/>
                    </a:lnR>
                    <a:lnB w="9525">
                      <a:solidFill>
                        <a:srgbClr val="AAB9BE"/>
                      </a:solidFill>
                      <a:prstDash val="solid"/>
                    </a:lnB>
                    <a:solidFill>
                      <a:srgbClr val="FFFFFF"/>
                    </a:solidFill>
                  </a:tcPr>
                </a:tc>
                <a:tc>
                  <a:txBody>
                    <a:bodyPr/>
                    <a:lstStyle/>
                    <a:p>
                      <a:r>
                        <a:rPr sz="2100" b="1">
                          <a:solidFill>
                            <a:srgbClr val="172F3B"/>
                          </a:solidFill>
                          <a:latin typeface="Arial"/>
                          <a:ea typeface="Arial"/>
                          <a:cs typeface="Arial"/>
                        </a:rPr>
                        <a:t>1.0.0</a:t>
                      </a:r>
                    </a:p>
                  </a:txBody>
                  <a:tcPr marL="91440" marR="91440" marT="45720" marB="45720">
                    <a:lnR w="9525">
                      <a:solidFill>
                        <a:srgbClr val="AAB9BE"/>
                      </a:solidFill>
                      <a:prstDash val="solid"/>
                    </a:lnR>
                    <a:lnB w="9525">
                      <a:solidFill>
                        <a:srgbClr val="AAB9BE"/>
                      </a:solidFill>
                      <a:prstDash val="solid"/>
                    </a:lnB>
                    <a:solidFill>
                      <a:srgbClr val="FFFFFF"/>
                    </a:solidFill>
                  </a:tcPr>
                </a:tc>
                <a:tc>
                  <a:txBody>
                    <a:bodyPr/>
                    <a:lstStyle/>
                    <a:p>
                      <a:r>
                        <a:rPr sz="2100" b="1">
                          <a:solidFill>
                            <a:srgbClr val="172F3B"/>
                          </a:solidFill>
                          <a:latin typeface="Arial"/>
                          <a:ea typeface="Arial"/>
                          <a:cs typeface="Arial"/>
                        </a:rPr>
                        <a:t>1.0.1</a:t>
                      </a:r>
                    </a:p>
                  </a:txBody>
                  <a:tcPr marL="91440" marR="91440" marT="45720" marB="45720">
                    <a:lnR w="9525">
                      <a:solidFill>
                        <a:srgbClr val="AAB9BE"/>
                      </a:solidFill>
                      <a:prstDash val="solid"/>
                    </a:lnR>
                    <a:lnB w="9525">
                      <a:solidFill>
                        <a:srgbClr val="AAB9BE"/>
                      </a:solidFill>
                      <a:prstDash val="solid"/>
                    </a:lnB>
                    <a:solidFill>
                      <a:srgbClr val="FFFFFF"/>
                    </a:solidFill>
                  </a:tcPr>
                </a:tc>
              </a:tr>
              <a:tr h="607219">
                <a:tc>
                  <a:txBody>
                    <a:bodyPr/>
                    <a:lstStyle/>
                    <a:p>
                      <a:r>
                        <a:rPr sz="2100" b="0">
                          <a:solidFill>
                            <a:srgbClr val="172F3B"/>
                          </a:solidFill>
                          <a:latin typeface="Arial"/>
                          <a:ea typeface="Arial"/>
                          <a:cs typeface="Arial"/>
                        </a:rPr>
                        <a:t>World</a:t>
                      </a:r>
                    </a:p>
                  </a:txBody>
                  <a:tcPr marL="91440" marR="91440" marT="45720" marB="45720">
                    <a:lnL w="9525">
                      <a:solidFill>
                        <a:srgbClr val="AAB9BE"/>
                      </a:solidFill>
                      <a:prstDash val="solid"/>
                    </a:lnL>
                    <a:lnR w="9525">
                      <a:solidFill>
                        <a:srgbClr val="AAB9BE"/>
                      </a:solidFill>
                      <a:prstDash val="solid"/>
                    </a:lnR>
                    <a:lnB w="9525">
                      <a:solidFill>
                        <a:srgbClr val="AAB9BE"/>
                      </a:solidFill>
                      <a:prstDash val="solid"/>
                    </a:lnB>
                    <a:solidFill>
                      <a:srgbClr val="FFFFFF"/>
                    </a:solidFill>
                  </a:tcPr>
                </a:tc>
                <a:tc>
                  <a:txBody>
                    <a:bodyPr/>
                    <a:lstStyle/>
                    <a:p>
                      <a:r>
                        <a:rPr sz="2100" b="0">
                          <a:solidFill>
                            <a:srgbClr val="172F3B"/>
                          </a:solidFill>
                          <a:latin typeface="Arial"/>
                          <a:ea typeface="Arial"/>
                          <a:cs typeface="Arial"/>
                        </a:rPr>
                        <a:t>1.0.0</a:t>
                      </a:r>
                    </a:p>
                  </a:txBody>
                  <a:tcPr marL="91440" marR="91440" marT="45720" marB="45720">
                    <a:lnR w="9525">
                      <a:solidFill>
                        <a:srgbClr val="AAB9BE"/>
                      </a:solidFill>
                      <a:prstDash val="solid"/>
                    </a:lnR>
                    <a:lnB w="9525">
                      <a:solidFill>
                        <a:srgbClr val="AAB9BE"/>
                      </a:solidFill>
                      <a:prstDash val="solid"/>
                    </a:lnB>
                    <a:solidFill>
                      <a:srgbClr val="FFFFFF"/>
                    </a:solidFill>
                  </a:tcPr>
                </a:tc>
                <a:tc>
                  <a:txBody>
                    <a:bodyPr/>
                    <a:lstStyle/>
                    <a:p>
                      <a:r>
                        <a:rPr sz="2100" b="0">
                          <a:solidFill>
                            <a:srgbClr val="172F3B"/>
                          </a:solidFill>
                          <a:latin typeface="Arial"/>
                          <a:ea typeface="Arial"/>
                          <a:cs typeface="Arial"/>
                        </a:rPr>
                        <a:t>1.0.0</a:t>
                      </a:r>
                    </a:p>
                  </a:txBody>
                  <a:tcPr marL="91440" marR="91440" marT="45720" marB="45720">
                    <a:lnR w="9525">
                      <a:solidFill>
                        <a:srgbClr val="AAB9BE"/>
                      </a:solidFill>
                      <a:prstDash val="solid"/>
                    </a:lnR>
                    <a:lnB w="9525">
                      <a:solidFill>
                        <a:srgbClr val="AAB9BE"/>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16B8A10-D0BF-4FB1-9E06-1B4CAC417A6B}"/>
              </a:ext>
            </a:extLst>
          </p:cNvPr>
          <p:cNvSpPr>
            <a:spLocks xmlns:a="http://schemas.openxmlformats.org/drawingml/2006/main" noGrp="1"/>
          </p:cNvSpPr>
          <p:nvPr/>
        </p:nvSpPr>
        <p:spPr>
          <a:xfrm xmlns:a="http://schemas.openxmlformats.org/drawingml/2006/main">
            <a:off x="619125" y="5238750"/>
            <a:ext cx="10858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72F3B"/>
                </a:solidFill>
                <a:latin typeface="Arial"/>
                <a:ea typeface="Arial"/>
                <a:cs typeface="Arial"/>
              </a:defRPr>
            </a:defPPr>
          </a:lstStyle>
          <a:p xmlns:a="http://schemas.openxmlformats.org/drawingml/2006/main">
            <a:pPr>
              <a:defRPr sz="1875" b="0">
                <a:solidFill>
                  <a:srgbClr val="172F3B"/>
                </a:solidFill>
                <a:latin typeface="Arial"/>
                <a:ea typeface="Arial"/>
                <a:cs typeface="Arial"/>
              </a:defRPr>
            </a:pPr>
            <a:r>
              <a:rPr sz="1875" b="0">
                <a:solidFill>
                  <a:srgbClr val="172F3B"/>
                </a:solidFill>
                <a:latin typeface="Arial"/>
                <a:ea typeface="Arial"/>
                <a:cs typeface="Arial"/>
              </a:rPr>
              <a:t>Integration test checks fresh install and upgrade from 1.0.0.</a:t>
            </a:r>
          </a:p>
        </p:txBody>
      </p:sp>
      <p:sp>
        <p:nvSpPr>
          <p:cNvPr id="6" name="">
            <a:extLst xmlns:a="http://schemas.openxmlformats.org/drawingml/2006/main">
              <a:ext uri="{FF2B5EF4-FFF2-40B4-BE49-F238E27FC236}">
                <a16:creationId xmlns:a16="http://schemas.microsoft.com/office/drawing/2014/main" id="{E710A624-DA3B-48DF-B99B-BE3D6162D980}"/>
              </a:ext>
            </a:extLst>
          </p:cNvPr>
          <p:cNvSpPr>
            <a:spLocks xmlns:a="http://schemas.openxmlformats.org/drawingml/2006/main" noGrp="1"/>
          </p:cNvSpPr>
          <p:nvPr/>
        </p:nvSpPr>
        <p:spPr>
          <a:xfrm xmlns:a="http://schemas.openxmlformats.org/drawingml/2006/main">
            <a:off x="619125" y="5857875"/>
            <a:ext cx="10858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72F3B"/>
                </a:solidFill>
                <a:latin typeface="Arial"/>
                <a:ea typeface="Arial"/>
                <a:cs typeface="Arial"/>
              </a:defRPr>
            </a:defPPr>
          </a:lstStyle>
          <a:p xmlns:a="http://schemas.openxmlformats.org/drawingml/2006/main">
            <a:pPr>
              <a:defRPr sz="1875" b="0">
                <a:solidFill>
                  <a:srgbClr val="172F3B"/>
                </a:solidFill>
                <a:latin typeface="Arial"/>
                <a:ea typeface="Arial"/>
                <a:cs typeface="Arial"/>
              </a:defRPr>
            </a:pPr>
            <a:r>
              <a:rPr sz="1875" b="0">
                <a:solidFill>
                  <a:srgbClr val="172F3B"/>
                </a:solidFill>
                <a:latin typeface="Arial"/>
                <a:ea typeface="Arial"/>
                <a:cs typeface="Arial"/>
              </a:rPr>
              <a:t>The same patch archive upgrades UAT. All 21 baseline history rows and settings remain unchanged.</a:t>
            </a:r>
          </a:p>
        </p:txBody>
      </p:sp>
    </p:spTree>
    <p:extLst>
      <p:ext uri="{BB962C8B-B14F-4D97-AF65-F5344CB8AC3E}">
        <p14:creationId xmlns:p14="http://schemas.microsoft.com/office/powerpoint/2010/main" val="47517838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FE2CCB-2DD0-4156-902D-8407945B63E1}"/>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G: reject a known incompatibility</a:t>
            </a:r>
          </a:p>
        </p:txBody>
      </p:sp>
      <p:sp>
        <p:nvSpPr>
          <p:cNvPr id="2" name="">
            <a:extLst xmlns:a="http://schemas.openxmlformats.org/drawingml/2006/main">
              <a:ext uri="{FF2B5EF4-FFF2-40B4-BE49-F238E27FC236}">
                <a16:creationId xmlns:a16="http://schemas.microsoft.com/office/drawing/2014/main" id="{C5DA401C-F82B-481E-9434-09E924490975}"/>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19</a:t>
            </a:r>
          </a:p>
        </p:txBody>
      </p:sp>
      <p:sp>
        <p:nvSpPr>
          <p:cNvPr id="3" name="">
            <a:extLst xmlns:a="http://schemas.openxmlformats.org/drawingml/2006/main">
              <a:ext uri="{FF2B5EF4-FFF2-40B4-BE49-F238E27FC236}">
                <a16:creationId xmlns:a16="http://schemas.microsoft.com/office/drawing/2014/main" id="{A1582109-68D2-4D70-82DE-846D7E979516}"/>
              </a:ext>
            </a:extLst>
          </p:cNvPr>
          <p:cNvSpPr>
            <a:spLocks xmlns:a="http://schemas.openxmlformats.org/drawingml/2006/main" noGrp="1"/>
          </p:cNvSpPr>
          <p:nvPr/>
        </p:nvSpPr>
        <p:spPr>
          <a:xfrm xmlns:a="http://schemas.openxmlformats.org/drawingml/2006/main">
            <a:off x="619125" y="14763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35F63"/>
                </a:solidFill>
                <a:latin typeface="Arial"/>
                <a:ea typeface="Arial"/>
                <a:cs typeface="Arial"/>
              </a:defRPr>
            </a:defPPr>
          </a:lstStyle>
          <a:p xmlns:a="http://schemas.openxmlformats.org/drawingml/2006/main">
            <a:pPr>
              <a:defRPr sz="1800" b="1">
                <a:solidFill>
                  <a:srgbClr val="235F63"/>
                </a:solidFill>
                <a:latin typeface="Arial"/>
                <a:ea typeface="Arial"/>
                <a:cs typeface="Arial"/>
              </a:defRPr>
            </a:pPr>
            <a:r>
              <a:rPr sz="1800" b="1">
                <a:solidFill>
                  <a:srgbClr val="235F63"/>
                </a:solidFill>
                <a:latin typeface="Arial"/>
                <a:ea typeface="Arial"/>
                <a:cs typeface="Arial"/>
              </a:rPr>
              <a:t>bash scripts/cicd-walkthrough-G_incompatible_upgrade.sh</a:t>
            </a:r>
          </a:p>
        </p:txBody>
      </p:sp>
      <p:sp>
        <p:nvSpPr>
          <p:cNvPr id="4" name="">
            <a:extLst xmlns:a="http://schemas.openxmlformats.org/drawingml/2006/main">
              <a:ext uri="{FF2B5EF4-FFF2-40B4-BE49-F238E27FC236}">
                <a16:creationId xmlns:a16="http://schemas.microsoft.com/office/drawing/2014/main" id="{D52DB6DC-660B-4364-8D57-99BB93FB720A}"/>
              </a:ext>
            </a:extLst>
          </p:cNvPr>
          <p:cNvSpPr>
            <a:spLocks xmlns:a="http://schemas.openxmlformats.org/drawingml/2006/main" noGrp="1"/>
          </p:cNvSpPr>
          <p:nvPr/>
        </p:nvSpPr>
        <p:spPr>
          <a:xfrm xmlns:a="http://schemas.openxmlformats.org/drawingml/2006/main">
            <a:off x="619125" y="252412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Proposal: Foundation 2.0.0 with Hello 1.0.1 and World 1.0.0</a:t>
            </a:r>
          </a:p>
        </p:txBody>
      </p:sp>
      <p:sp>
        <p:nvSpPr>
          <p:cNvPr id="5" name="">
            <a:extLst xmlns:a="http://schemas.openxmlformats.org/drawingml/2006/main">
              <a:ext uri="{FF2B5EF4-FFF2-40B4-BE49-F238E27FC236}">
                <a16:creationId xmlns:a16="http://schemas.microsoft.com/office/drawing/2014/main" id="{D9861210-4931-46D2-8DF4-7EA5579673AF}"/>
              </a:ext>
            </a:extLst>
          </p:cNvPr>
          <p:cNvSpPr>
            <a:spLocks xmlns:a="http://schemas.openxmlformats.org/drawingml/2006/main" noGrp="1"/>
          </p:cNvSpPr>
          <p:nvPr/>
        </p:nvSpPr>
        <p:spPr>
          <a:xfrm xmlns:a="http://schemas.openxmlformats.org/drawingml/2006/main">
            <a:off x="619125" y="3333750"/>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Hello and World still declare Foundation 1.0.0 as required</a:t>
            </a:r>
          </a:p>
        </p:txBody>
      </p:sp>
      <p:sp>
        <p:nvSpPr>
          <p:cNvPr id="6" name="">
            <a:extLst xmlns:a="http://schemas.openxmlformats.org/drawingml/2006/main">
              <a:ext uri="{FF2B5EF4-FFF2-40B4-BE49-F238E27FC236}">
                <a16:creationId xmlns:a16="http://schemas.microsoft.com/office/drawing/2014/main" id="{071CC898-764C-4A61-B49D-7C27299E6D52}"/>
              </a:ext>
            </a:extLst>
          </p:cNvPr>
          <p:cNvSpPr>
            <a:spLocks xmlns:a="http://schemas.openxmlformats.org/drawingml/2006/main" noGrp="1"/>
          </p:cNvSpPr>
          <p:nvPr/>
        </p:nvSpPr>
        <p:spPr>
          <a:xfrm xmlns:a="http://schemas.openxmlformats.org/drawingml/2006/main">
            <a:off x="619125" y="42386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A43224"/>
                </a:solidFill>
                <a:latin typeface="Arial"/>
                <a:ea typeface="Arial"/>
                <a:cs typeface="Arial"/>
              </a:defRPr>
            </a:defPPr>
          </a:lstStyle>
          <a:p xmlns:a="http://schemas.openxmlformats.org/drawingml/2006/main">
            <a:pPr>
              <a:defRPr sz="2175" b="1">
                <a:solidFill>
                  <a:srgbClr val="A43224"/>
                </a:solidFill>
                <a:latin typeface="Arial"/>
                <a:ea typeface="Arial"/>
                <a:cs typeface="Arial"/>
              </a:defRPr>
            </a:pPr>
            <a:r>
              <a:rPr sz="2175" b="1">
                <a:solidFill>
                  <a:srgbClr val="A43224"/>
                </a:solidFill>
                <a:latin typeface="Arial"/>
                <a:ea typeface="Arial"/>
                <a:cs typeface="Arial"/>
              </a:rPr>
              <a:t>REJECTED INCOMPATIBLE:</a:t>
            </a:r>
          </a:p>
          <a:p xmlns:a="http://schemas.openxmlformats.org/drawingml/2006/main">
            <a:pPr>
              <a:defRPr sz="2175" b="1">
                <a:solidFill>
                  <a:srgbClr val="A43224"/>
                </a:solidFill>
                <a:latin typeface="Arial"/>
                <a:ea typeface="Arial"/>
                <a:cs typeface="Arial"/>
              </a:defRPr>
            </a:pPr>
            <a:r>
              <a:rPr sz="2175" b="1">
                <a:solidFill>
                  <a:srgbClr val="A43224"/>
                </a:solidFill>
                <a:latin typeface="Arial"/>
                <a:ea typeface="Arial"/>
                <a:cs typeface="Arial"/>
              </a:rPr>
              <a:t>Hello requires Foundation 1.0.0; proposed Foundation 2.0.0</a:t>
            </a:r>
          </a:p>
        </p:txBody>
      </p:sp>
      <p:sp>
        <p:nvSpPr>
          <p:cNvPr id="7" name="">
            <a:extLst xmlns:a="http://schemas.openxmlformats.org/drawingml/2006/main">
              <a:ext uri="{FF2B5EF4-FFF2-40B4-BE49-F238E27FC236}">
                <a16:creationId xmlns:a16="http://schemas.microsoft.com/office/drawing/2014/main" id="{37D898D1-6101-41A3-84FC-6A46184BBA6E}"/>
              </a:ext>
            </a:extLst>
          </p:cNvPr>
          <p:cNvSpPr>
            <a:spLocks xmlns:a="http://schemas.openxmlformats.org/drawingml/2006/main" noGrp="1"/>
          </p:cNvSpPr>
          <p:nvPr/>
        </p:nvSpPr>
        <p:spPr>
          <a:xfrm xmlns:a="http://schemas.openxmlformats.org/drawingml/2006/main">
            <a:off x="619125" y="55245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172F3B"/>
                </a:solidFill>
                <a:latin typeface="Arial"/>
                <a:ea typeface="Arial"/>
                <a:cs typeface="Arial"/>
              </a:defRPr>
            </a:defPPr>
          </a:lstStyle>
          <a:p xmlns:a="http://schemas.openxmlformats.org/drawingml/2006/main">
            <a:pPr>
              <a:defRPr sz="1950" b="0">
                <a:solidFill>
                  <a:srgbClr val="172F3B"/>
                </a:solidFill>
                <a:latin typeface="Arial"/>
                <a:ea typeface="Arial"/>
                <a:cs typeface="Arial"/>
              </a:defRPr>
            </a:pPr>
            <a:r>
              <a:rPr sz="1950" b="0">
                <a:solidFill>
                  <a:srgbClr val="172F3B"/>
                </a:solidFill>
                <a:latin typeface="Arial"/>
                <a:ea typeface="Arial"/>
                <a:cs typeface="Arial"/>
              </a:rPr>
              <a:t>Stops before maintenance, migration or import. Target and release records remain unchanged.</a:t>
            </a:r>
          </a:p>
        </p:txBody>
      </p:sp>
    </p:spTree>
    <p:extLst>
      <p:ext uri="{BB962C8B-B14F-4D97-AF65-F5344CB8AC3E}">
        <p14:creationId xmlns:p14="http://schemas.microsoft.com/office/powerpoint/2010/main" val="103837462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893C32-F02C-4A52-957A-BCE39B92A83A}"/>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H: one drift check, three situations</a:t>
            </a:r>
          </a:p>
        </p:txBody>
      </p:sp>
      <p:sp>
        <p:nvSpPr>
          <p:cNvPr id="2" name="">
            <a:extLst xmlns:a="http://schemas.openxmlformats.org/drawingml/2006/main">
              <a:ext uri="{FF2B5EF4-FFF2-40B4-BE49-F238E27FC236}">
                <a16:creationId xmlns:a16="http://schemas.microsoft.com/office/drawing/2014/main" id="{4E227810-0894-4DAC-B714-95B56EC1A729}"/>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256988ED-92F4-4AD8-8FFA-7DA31DA2250F}"/>
              </a:ext>
            </a:extLst>
          </p:cNvPr>
          <p:cNvSpPr>
            <a:spLocks xmlns:a="http://schemas.openxmlformats.org/drawingml/2006/main" noGrp="1"/>
          </p:cNvSpPr>
          <p:nvPr/>
        </p:nvSpPr>
        <p:spPr>
          <a:xfrm xmlns:a="http://schemas.openxmlformats.org/drawingml/2006/main">
            <a:off x="619125" y="15240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scripts/cicd-protection-check.sh drift</a:t>
            </a:r>
          </a:p>
        </p:txBody>
      </p:sp>
      <p:sp>
        <p:nvSpPr>
          <p:cNvPr id="4" name="">
            <a:extLst xmlns:a="http://schemas.openxmlformats.org/drawingml/2006/main">
              <a:ext uri="{FF2B5EF4-FFF2-40B4-BE49-F238E27FC236}">
                <a16:creationId xmlns:a16="http://schemas.microsoft.com/office/drawing/2014/main" id="{FC06A22D-0DF7-4C19-8157-4A722E9B5D8B}"/>
              </a:ext>
            </a:extLst>
          </p:cNvPr>
          <p:cNvSpPr>
            <a:spLocks xmlns:a="http://schemas.openxmlformats.org/drawingml/2006/main" noGrp="1"/>
          </p:cNvSpPr>
          <p:nvPr/>
        </p:nvSpPr>
        <p:spPr>
          <a:xfrm xmlns:a="http://schemas.openxmlformats.org/drawingml/2006/main">
            <a:off x="619125" y="2667000"/>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1. Before an edit: NO DRIFT</a:t>
            </a:r>
          </a:p>
        </p:txBody>
      </p:sp>
      <p:sp>
        <p:nvSpPr>
          <p:cNvPr id="5" name="">
            <a:extLst xmlns:a="http://schemas.openxmlformats.org/drawingml/2006/main">
              <a:ext uri="{FF2B5EF4-FFF2-40B4-BE49-F238E27FC236}">
                <a16:creationId xmlns:a16="http://schemas.microsoft.com/office/drawing/2014/main" id="{43CBAA71-3A5E-4333-B64A-E4EA7E1B665C}"/>
              </a:ext>
            </a:extLst>
          </p:cNvPr>
          <p:cNvSpPr>
            <a:spLocks xmlns:a="http://schemas.openxmlformats.org/drawingml/2006/main" noGrp="1"/>
          </p:cNvSpPr>
          <p:nvPr/>
        </p:nvSpPr>
        <p:spPr>
          <a:xfrm xmlns:a="http://schemas.openxmlformats.org/drawingml/2006/main">
            <a:off x="619125" y="357187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2. After a real Page Designer save: DETECTED DRIFT</a:t>
            </a:r>
          </a:p>
        </p:txBody>
      </p:sp>
      <p:sp>
        <p:nvSpPr>
          <p:cNvPr id="6" name="">
            <a:extLst xmlns:a="http://schemas.openxmlformats.org/drawingml/2006/main">
              <a:ext uri="{FF2B5EF4-FFF2-40B4-BE49-F238E27FC236}">
                <a16:creationId xmlns:a16="http://schemas.microsoft.com/office/drawing/2014/main" id="{7A4E7FDB-0C02-47B3-AC9A-4B823128928A}"/>
              </a:ext>
            </a:extLst>
          </p:cNvPr>
          <p:cNvSpPr>
            <a:spLocks xmlns:a="http://schemas.openxmlformats.org/drawingml/2006/main" noGrp="1"/>
          </p:cNvSpPr>
          <p:nvPr/>
        </p:nvSpPr>
        <p:spPr>
          <a:xfrm xmlns:a="http://schemas.openxmlformats.org/drawingml/2006/main">
            <a:off x="619125" y="4476750"/>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3. After the scripted fixture: DETECTED DRIFT</a:t>
            </a:r>
          </a:p>
        </p:txBody>
      </p:sp>
      <p:sp>
        <p:nvSpPr>
          <p:cNvPr id="7" name="">
            <a:extLst xmlns:a="http://schemas.openxmlformats.org/drawingml/2006/main">
              <a:ext uri="{FF2B5EF4-FFF2-40B4-BE49-F238E27FC236}">
                <a16:creationId xmlns:a16="http://schemas.microsoft.com/office/drawing/2014/main" id="{D82FFE16-1B9B-4B61-9325-10A11622ECCB}"/>
              </a:ext>
            </a:extLst>
          </p:cNvPr>
          <p:cNvSpPr>
            <a:spLocks xmlns:a="http://schemas.openxmlformats.org/drawingml/2006/main" noGrp="1"/>
          </p:cNvSpPr>
          <p:nvPr/>
        </p:nvSpPr>
        <p:spPr>
          <a:xfrm xmlns:a="http://schemas.openxmlformats.org/drawingml/2006/main">
            <a:off x="619125" y="56197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Restore the original definition between cases. The check never overwrites the edit.</a:t>
            </a:r>
          </a:p>
        </p:txBody>
      </p:sp>
    </p:spTree>
    <p:extLst>
      <p:ext uri="{BB962C8B-B14F-4D97-AF65-F5344CB8AC3E}">
        <p14:creationId xmlns:p14="http://schemas.microsoft.com/office/powerpoint/2010/main" val="13262432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5556CF-3D67-4B64-85B3-3EAF94685119}"/>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H: inspect the changed source</a:t>
            </a:r>
          </a:p>
        </p:txBody>
      </p:sp>
      <p:sp>
        <p:nvSpPr>
          <p:cNvPr id="2" name="">
            <a:extLst xmlns:a="http://schemas.openxmlformats.org/drawingml/2006/main">
              <a:ext uri="{FF2B5EF4-FFF2-40B4-BE49-F238E27FC236}">
                <a16:creationId xmlns:a16="http://schemas.microsoft.com/office/drawing/2014/main" id="{A27F6D63-6151-442A-B78A-DD654C4E651B}"/>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DF8FE42E-ACD7-4156-9B26-3B3D410B8D79}"/>
              </a:ext>
            </a:extLst>
          </p:cNvPr>
          <p:cNvSpPr>
            <a:spLocks xmlns:a="http://schemas.openxmlformats.org/drawingml/2006/main" noGrp="1"/>
          </p:cNvSpPr>
          <p:nvPr/>
        </p:nvSpPr>
        <p:spPr>
          <a:xfrm xmlns:a="http://schemas.openxmlformats.org/drawingml/2006/main">
            <a:off x="619125" y="14763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scripts/cicd-protection-check.sh drift --show</a:t>
            </a:r>
          </a:p>
        </p:txBody>
      </p:sp>
      <p:sp>
        <p:nvSpPr>
          <p:cNvPr id="4" name="">
            <a:extLst xmlns:a="http://schemas.openxmlformats.org/drawingml/2006/main">
              <a:ext uri="{FF2B5EF4-FFF2-40B4-BE49-F238E27FC236}">
                <a16:creationId xmlns:a16="http://schemas.microsoft.com/office/drawing/2014/main" id="{98FDAD09-1A8B-4DA1-AAAB-FC0B443F8B08}"/>
              </a:ext>
            </a:extLst>
          </p:cNvPr>
          <p:cNvSpPr>
            <a:spLocks xmlns:a="http://schemas.openxmlformats.org/drawingml/2006/main" noGrp="1"/>
          </p:cNvSpPr>
          <p:nvPr/>
        </p:nvSpPr>
        <p:spPr>
          <a:xfrm xmlns:a="http://schemas.openxmlformats.org/drawingml/2006/main">
            <a:off x="619125" y="25241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235F63"/>
                </a:solidFill>
                <a:latin typeface="Arial"/>
                <a:ea typeface="Arial"/>
                <a:cs typeface="Arial"/>
              </a:defRPr>
            </a:defPPr>
          </a:lstStyle>
          <a:p xmlns:a="http://schemas.openxmlformats.org/drawingml/2006/main">
            <a:pPr>
              <a:defRPr sz="2325" b="1">
                <a:solidFill>
                  <a:srgbClr val="235F63"/>
                </a:solidFill>
                <a:latin typeface="Arial"/>
                <a:ea typeface="Arial"/>
                <a:cs typeface="Arial"/>
              </a:defRPr>
            </a:pPr>
            <a:r>
              <a:rPr sz="2325" b="1">
                <a:solidFill>
                  <a:srgbClr val="235F63"/>
                </a:solidFill>
                <a:latin typeface="Arial"/>
                <a:ea typeface="Arial"/>
                <a:cs typeface="Arial"/>
              </a:rPr>
              <a:t>Published code</a:t>
            </a:r>
          </a:p>
        </p:txBody>
      </p:sp>
      <p:sp>
        <p:nvSpPr>
          <p:cNvPr id="5" name="">
            <a:extLst xmlns:a="http://schemas.openxmlformats.org/drawingml/2006/main">
              <a:ext uri="{FF2B5EF4-FFF2-40B4-BE49-F238E27FC236}">
                <a16:creationId xmlns:a16="http://schemas.microsoft.com/office/drawing/2014/main" id="{E444FD9B-7013-4FEC-A224-E4C694FC5479}"/>
              </a:ext>
            </a:extLst>
          </p:cNvPr>
          <p:cNvSpPr>
            <a:spLocks xmlns:a="http://schemas.openxmlformats.org/drawingml/2006/main" noGrp="1"/>
          </p:cNvSpPr>
          <p:nvPr/>
        </p:nvSpPr>
        <p:spPr>
          <a:xfrm xmlns:a="http://schemas.openxmlformats.org/drawingml/2006/main">
            <a:off x="6524625" y="25241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BC4B35"/>
                </a:solidFill>
                <a:latin typeface="Arial"/>
                <a:ea typeface="Arial"/>
                <a:cs typeface="Arial"/>
              </a:defRPr>
            </a:defPPr>
          </a:lstStyle>
          <a:p xmlns:a="http://schemas.openxmlformats.org/drawingml/2006/main">
            <a:pPr>
              <a:defRPr sz="2325" b="1">
                <a:solidFill>
                  <a:srgbClr val="BC4B35"/>
                </a:solidFill>
                <a:latin typeface="Arial"/>
                <a:ea typeface="Arial"/>
                <a:cs typeface="Arial"/>
              </a:defRPr>
            </a:pPr>
            <a:r>
              <a:rPr sz="2325" b="1">
                <a:solidFill>
                  <a:srgbClr val="BC4B35"/>
                </a:solidFill>
                <a:latin typeface="Arial"/>
                <a:ea typeface="Arial"/>
                <a:cs typeface="Arial"/>
              </a:rPr>
              <a:t>Live edit</a:t>
            </a:r>
          </a:p>
        </p:txBody>
      </p:sp>
      <p:sp>
        <p:nvSpPr>
          <p:cNvPr id="6" name="">
            <a:extLst xmlns:a="http://schemas.openxmlformats.org/drawingml/2006/main">
              <a:ext uri="{FF2B5EF4-FFF2-40B4-BE49-F238E27FC236}">
                <a16:creationId xmlns:a16="http://schemas.microsoft.com/office/drawing/2014/main" id="{C0A29541-9697-4CF1-80ED-7072170FB15F}"/>
              </a:ext>
            </a:extLst>
          </p:cNvPr>
          <p:cNvSpPr>
            <a:spLocks xmlns:a="http://schemas.openxmlformats.org/drawingml/2006/main" noGrp="1"/>
          </p:cNvSpPr>
          <p:nvPr/>
        </p:nvSpPr>
        <p:spPr>
          <a:xfrm xmlns:a="http://schemas.openxmlformats.org/drawingml/2006/main">
            <a:off x="619125" y="3333750"/>
            <a:ext cx="4762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Page title</a:t>
            </a:r>
          </a:p>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APEX Delivery Laboratory</a:t>
            </a:r>
          </a:p>
          <a:p xmlns:a="http://schemas.openxmlformats.org/drawingml/2006/main">
            <a:r>
              <a:t/>
            </a:r>
          </a:p>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Region name</a:t>
            </a:r>
          </a:p>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APEX Delivery Laboratory</a:t>
            </a:r>
          </a:p>
        </p:txBody>
      </p:sp>
      <p:sp>
        <p:nvSpPr>
          <p:cNvPr id="7" name="">
            <a:extLst xmlns:a="http://schemas.openxmlformats.org/drawingml/2006/main">
              <a:ext uri="{FF2B5EF4-FFF2-40B4-BE49-F238E27FC236}">
                <a16:creationId xmlns:a16="http://schemas.microsoft.com/office/drawing/2014/main" id="{846187B6-31E4-44F9-A0D3-35ECCE40EF49}"/>
              </a:ext>
            </a:extLst>
          </p:cNvPr>
          <p:cNvSpPr>
            <a:spLocks xmlns:a="http://schemas.openxmlformats.org/drawingml/2006/main" noGrp="1"/>
          </p:cNvSpPr>
          <p:nvPr/>
        </p:nvSpPr>
        <p:spPr>
          <a:xfrm xmlns:a="http://schemas.openxmlformats.org/drawingml/2006/main">
            <a:off x="6524625" y="3333750"/>
            <a:ext cx="4762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Page title</a:t>
            </a:r>
          </a:p>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Manual drift demonstration</a:t>
            </a:r>
          </a:p>
          <a:p xmlns:a="http://schemas.openxmlformats.org/drawingml/2006/main">
            <a:r>
              <a:t/>
            </a:r>
          </a:p>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Region name</a:t>
            </a:r>
          </a:p>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APEX Delivery XX Laboratory</a:t>
            </a:r>
          </a:p>
        </p:txBody>
      </p:sp>
      <p:sp>
        <p:nvSpPr>
          <p:cNvPr id="8" name="">
            <a:extLst xmlns:a="http://schemas.openxmlformats.org/drawingml/2006/main">
              <a:ext uri="{FF2B5EF4-FFF2-40B4-BE49-F238E27FC236}">
                <a16:creationId xmlns:a16="http://schemas.microsoft.com/office/drawing/2014/main" id="{10B5AA50-650D-46A4-A3B9-16492C03BBED}"/>
              </a:ext>
            </a:extLst>
          </p:cNvPr>
          <p:cNvSpPr>
            <a:spLocks xmlns:a="http://schemas.openxmlformats.org/drawingml/2006/main" noGrp="1"/>
          </p:cNvSpPr>
          <p:nvPr/>
        </p:nvSpPr>
        <p:spPr>
          <a:xfrm xmlns:a="http://schemas.openxmlformats.org/drawingml/2006/main">
            <a:off x="619125" y="58102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72F3B"/>
                </a:solidFill>
                <a:latin typeface="Arial"/>
                <a:ea typeface="Arial"/>
                <a:cs typeface="Arial"/>
              </a:defRPr>
            </a:defPPr>
          </a:lstStyle>
          <a:p xmlns:a="http://schemas.openxmlformats.org/drawingml/2006/main">
            <a:pPr>
              <a:defRPr sz="1875" b="0">
                <a:solidFill>
                  <a:srgbClr val="172F3B"/>
                </a:solidFill>
                <a:latin typeface="Arial"/>
                <a:ea typeface="Arial"/>
                <a:cs typeface="Arial"/>
              </a:defRPr>
            </a:pPr>
            <a:r>
              <a:rPr sz="1875" b="0">
                <a:solidFill>
                  <a:srgbClr val="172F3B"/>
                </a:solidFill>
                <a:latin typeface="Arial"/>
                <a:ea typeface="Arial"/>
                <a:cs typeface="Arial"/>
              </a:rPr>
              <a:t>The command preserves both source trees and complete diffs. No restoration occurs.</a:t>
            </a:r>
          </a:p>
        </p:txBody>
      </p:sp>
    </p:spTree>
    <p:extLst>
      <p:ext uri="{BB962C8B-B14F-4D97-AF65-F5344CB8AC3E}">
        <p14:creationId xmlns:p14="http://schemas.microsoft.com/office/powerpoint/2010/main" val="140895084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D3F80F-9697-4470-85CD-A5DC1DDF6648}"/>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H: the Product Owner chooses restoration</a:t>
            </a:r>
          </a:p>
        </p:txBody>
      </p:sp>
      <p:sp>
        <p:nvSpPr>
          <p:cNvPr id="2" name="">
            <a:extLst xmlns:a="http://schemas.openxmlformats.org/drawingml/2006/main">
              <a:ext uri="{FF2B5EF4-FFF2-40B4-BE49-F238E27FC236}">
                <a16:creationId xmlns:a16="http://schemas.microsoft.com/office/drawing/2014/main" id="{3436C3D1-96FE-45F7-A15C-2ABBF9F963D2}"/>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22</a:t>
            </a:r>
          </a:p>
        </p:txBody>
      </p:sp>
      <p:sp>
        <p:nvSpPr>
          <p:cNvPr id="3" name="">
            <a:extLst xmlns:a="http://schemas.openxmlformats.org/drawingml/2006/main">
              <a:ext uri="{FF2B5EF4-FFF2-40B4-BE49-F238E27FC236}">
                <a16:creationId xmlns:a16="http://schemas.microsoft.com/office/drawing/2014/main" id="{4200E263-0944-4A89-A1DE-7FAB095E85E9}"/>
              </a:ext>
            </a:extLst>
          </p:cNvPr>
          <p:cNvSpPr>
            <a:spLocks xmlns:a="http://schemas.openxmlformats.org/drawingml/2006/main" noGrp="1"/>
          </p:cNvSpPr>
          <p:nvPr/>
        </p:nvSpPr>
        <p:spPr>
          <a:xfrm xmlns:a="http://schemas.openxmlformats.org/drawingml/2006/main">
            <a:off x="619125" y="1666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172F3B"/>
                </a:solidFill>
                <a:latin typeface="Arial"/>
                <a:ea typeface="Arial"/>
                <a:cs typeface="Arial"/>
              </a:defRPr>
            </a:defPPr>
          </a:lstStyle>
          <a:p xmlns:a="http://schemas.openxmlformats.org/drawingml/2006/main">
            <a:pPr>
              <a:defRPr sz="2250" b="0">
                <a:solidFill>
                  <a:srgbClr val="172F3B"/>
                </a:solidFill>
                <a:latin typeface="Arial"/>
                <a:ea typeface="Arial"/>
                <a:cs typeface="Arial"/>
              </a:defRPr>
            </a:pPr>
            <a:r>
              <a:rPr sz="2250" b="0">
                <a:solidFill>
                  <a:srgbClr val="172F3B"/>
                </a:solidFill>
                <a:latin typeface="Arial"/>
                <a:ea typeface="Arial"/>
                <a:cs typeface="Arial"/>
              </a:rPr>
              <a:t>Undo: restore the published Title and region Name in Page Designer, then Save.</a:t>
            </a:r>
          </a:p>
        </p:txBody>
      </p:sp>
      <p:sp>
        <p:nvSpPr>
          <p:cNvPr id="4" name="">
            <a:extLst xmlns:a="http://schemas.openxmlformats.org/drawingml/2006/main">
              <a:ext uri="{FF2B5EF4-FFF2-40B4-BE49-F238E27FC236}">
                <a16:creationId xmlns:a16="http://schemas.microsoft.com/office/drawing/2014/main" id="{0DFADC5E-C8D6-4DAA-B0D9-09BE0F1944F0}"/>
              </a:ext>
            </a:extLst>
          </p:cNvPr>
          <p:cNvSpPr>
            <a:spLocks xmlns:a="http://schemas.openxmlformats.org/drawingml/2006/main" noGrp="1"/>
          </p:cNvSpPr>
          <p:nvPr/>
        </p:nvSpPr>
        <p:spPr>
          <a:xfrm xmlns:a="http://schemas.openxmlformats.org/drawingml/2006/main">
            <a:off x="619125" y="27146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172F3B"/>
                </a:solidFill>
                <a:latin typeface="Arial"/>
                <a:ea typeface="Arial"/>
                <a:cs typeface="Arial"/>
              </a:defRPr>
            </a:defPPr>
          </a:lstStyle>
          <a:p xmlns:a="http://schemas.openxmlformats.org/drawingml/2006/main">
            <a:pPr>
              <a:defRPr sz="2250" b="0">
                <a:solidFill>
                  <a:srgbClr val="172F3B"/>
                </a:solidFill>
                <a:latin typeface="Arial"/>
                <a:ea typeface="Arial"/>
                <a:cs typeface="Arial"/>
              </a:defRPr>
            </a:pPr>
            <a:r>
              <a:rPr sz="2250" b="0">
                <a:solidFill>
                  <a:srgbClr val="172F3B"/>
                </a:solidFill>
                <a:latin typeface="Arial"/>
                <a:ea typeface="Arial"/>
                <a:cs typeface="Arial"/>
              </a:rPr>
              <a:t>Keep: retain the export, capture/review it in Git and deliver a new release.</a:t>
            </a:r>
          </a:p>
        </p:txBody>
      </p:sp>
      <p:sp>
        <p:nvSpPr>
          <p:cNvPr id="5" name="">
            <a:extLst xmlns:a="http://schemas.openxmlformats.org/drawingml/2006/main">
              <a:ext uri="{FF2B5EF4-FFF2-40B4-BE49-F238E27FC236}">
                <a16:creationId xmlns:a16="http://schemas.microsoft.com/office/drawing/2014/main" id="{2DEF86F1-F53A-4EEE-8F05-111CD5F9DB2E}"/>
              </a:ext>
            </a:extLst>
          </p:cNvPr>
          <p:cNvSpPr>
            <a:spLocks xmlns:a="http://schemas.openxmlformats.org/drawingml/2006/main" noGrp="1"/>
          </p:cNvSpPr>
          <p:nvPr/>
        </p:nvSpPr>
        <p:spPr>
          <a:xfrm xmlns:a="http://schemas.openxmlformats.org/drawingml/2006/main">
            <a:off x="619125" y="37623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172F3B"/>
                </a:solidFill>
                <a:latin typeface="Arial"/>
                <a:ea typeface="Arial"/>
                <a:cs typeface="Arial"/>
              </a:defRPr>
            </a:defPPr>
          </a:lstStyle>
          <a:p xmlns:a="http://schemas.openxmlformats.org/drawingml/2006/main">
            <a:pPr>
              <a:defRPr sz="2250" b="0">
                <a:solidFill>
                  <a:srgbClr val="172F3B"/>
                </a:solidFill>
                <a:latin typeface="Arial"/>
                <a:ea typeface="Arial"/>
                <a:cs typeface="Arial"/>
              </a:defRPr>
            </a:pPr>
            <a:r>
              <a:rPr sz="2250" b="0">
                <a:solidFill>
                  <a:srgbClr val="172F3B"/>
                </a:solidFill>
                <a:latin typeface="Arial"/>
                <a:ea typeface="Arial"/>
                <a:cs typeface="Arial"/>
              </a:rPr>
              <a:t>Deployment remains blocked while unexpected drift remains.</a:t>
            </a:r>
          </a:p>
        </p:txBody>
      </p:sp>
      <p:sp>
        <p:nvSpPr>
          <p:cNvPr id="6" name="">
            <a:extLst xmlns:a="http://schemas.openxmlformats.org/drawingml/2006/main">
              <a:ext uri="{FF2B5EF4-FFF2-40B4-BE49-F238E27FC236}">
                <a16:creationId xmlns:a16="http://schemas.microsoft.com/office/drawing/2014/main" id="{109B736E-AB6A-4EB4-8E35-77D739D22650}"/>
              </a:ext>
            </a:extLst>
          </p:cNvPr>
          <p:cNvSpPr>
            <a:spLocks xmlns:a="http://schemas.openxmlformats.org/drawingml/2006/main" noGrp="1"/>
          </p:cNvSpPr>
          <p:nvPr/>
        </p:nvSpPr>
        <p:spPr>
          <a:xfrm xmlns:a="http://schemas.openxmlformats.org/drawingml/2006/main">
            <a:off x="619125" y="500062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scripts/cicd-protection-check.sh drift</a:t>
            </a:r>
          </a:p>
        </p:txBody>
      </p:sp>
      <p:sp>
        <p:nvSpPr>
          <p:cNvPr id="7" name="">
            <a:extLst xmlns:a="http://schemas.openxmlformats.org/drawingml/2006/main">
              <a:ext uri="{FF2B5EF4-FFF2-40B4-BE49-F238E27FC236}">
                <a16:creationId xmlns:a16="http://schemas.microsoft.com/office/drawing/2014/main" id="{863BFCA8-96BD-49EE-B4C8-E628842FE063}"/>
              </a:ext>
            </a:extLst>
          </p:cNvPr>
          <p:cNvSpPr>
            <a:spLocks xmlns:a="http://schemas.openxmlformats.org/drawingml/2006/main" noGrp="1"/>
          </p:cNvSpPr>
          <p:nvPr/>
        </p:nvSpPr>
        <p:spPr>
          <a:xfrm xmlns:a="http://schemas.openxmlformats.org/drawingml/2006/main">
            <a:off x="619125" y="57626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235F63"/>
                </a:solidFill>
                <a:latin typeface="Arial"/>
                <a:ea typeface="Arial"/>
                <a:cs typeface="Arial"/>
              </a:defRPr>
            </a:defPPr>
          </a:lstStyle>
          <a:p xmlns:a="http://schemas.openxmlformats.org/drawingml/2006/main">
            <a:pPr>
              <a:defRPr sz="1875" b="0">
                <a:solidFill>
                  <a:srgbClr val="235F63"/>
                </a:solidFill>
                <a:latin typeface="Arial"/>
                <a:ea typeface="Arial"/>
                <a:cs typeface="Arial"/>
              </a:defRPr>
            </a:pPr>
            <a:r>
              <a:rPr sz="1875" b="0">
                <a:solidFill>
                  <a:srgbClr val="235F63"/>
                </a:solidFill>
                <a:latin typeface="Arial"/>
                <a:ea typeface="Arial"/>
                <a:cs typeface="Arial"/>
              </a:rPr>
              <a:t>Restoration passes only when the check returns NO DRIFT against the original receipt.</a:t>
            </a:r>
          </a:p>
        </p:txBody>
      </p:sp>
    </p:spTree>
    <p:extLst>
      <p:ext uri="{BB962C8B-B14F-4D97-AF65-F5344CB8AC3E}">
        <p14:creationId xmlns:p14="http://schemas.microsoft.com/office/powerpoint/2010/main" val="171554405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C1D074-F3CD-4A51-A7F4-B19B093671ED}"/>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Verification and recovery limits</a:t>
            </a:r>
          </a:p>
        </p:txBody>
      </p:sp>
      <p:sp>
        <p:nvSpPr>
          <p:cNvPr id="2" name="">
            <a:extLst xmlns:a="http://schemas.openxmlformats.org/drawingml/2006/main">
              <a:ext uri="{FF2B5EF4-FFF2-40B4-BE49-F238E27FC236}">
                <a16:creationId xmlns:a16="http://schemas.microsoft.com/office/drawing/2014/main" id="{383E6EB6-F0F1-4142-85F3-97DFE089B61B}"/>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23</a:t>
            </a:r>
          </a:p>
        </p:txBody>
      </p:sp>
      <p:sp>
        <p:nvSpPr>
          <p:cNvPr id="3" name="">
            <a:extLst xmlns:a="http://schemas.openxmlformats.org/drawingml/2006/main">
              <a:ext uri="{FF2B5EF4-FFF2-40B4-BE49-F238E27FC236}">
                <a16:creationId xmlns:a16="http://schemas.microsoft.com/office/drawing/2014/main" id="{A7E8E325-572B-49F2-A707-C07E030FAF55}"/>
              </a:ext>
            </a:extLst>
          </p:cNvPr>
          <p:cNvSpPr>
            <a:spLocks xmlns:a="http://schemas.openxmlformats.org/drawingml/2006/main" noGrp="1"/>
          </p:cNvSpPr>
          <p:nvPr/>
        </p:nvSpPr>
        <p:spPr>
          <a:xfrm xmlns:a="http://schemas.openxmlformats.org/drawingml/2006/main">
            <a:off x="619125" y="1666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Missing VERIFIER greeting: publication stops, then the prompt allows correction.</a:t>
            </a:r>
          </a:p>
        </p:txBody>
      </p:sp>
      <p:sp>
        <p:nvSpPr>
          <p:cNvPr id="4" name="">
            <a:extLst xmlns:a="http://schemas.openxmlformats.org/drawingml/2006/main">
              <a:ext uri="{FF2B5EF4-FFF2-40B4-BE49-F238E27FC236}">
                <a16:creationId xmlns:a16="http://schemas.microsoft.com/office/drawing/2014/main" id="{EE6A061A-0CB4-46DC-99C2-61A31C366CEC}"/>
              </a:ext>
            </a:extLst>
          </p:cNvPr>
          <p:cNvSpPr>
            <a:spLocks xmlns:a="http://schemas.openxmlformats.org/drawingml/2006/main" noGrp="1"/>
          </p:cNvSpPr>
          <p:nvPr/>
        </p:nvSpPr>
        <p:spPr>
          <a:xfrm xmlns:a="http://schemas.openxmlformats.org/drawingml/2006/main">
            <a:off x="619125" y="27146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Post-publication fixture failure: delivery stays successful and history stays saved.</a:t>
            </a:r>
          </a:p>
        </p:txBody>
      </p:sp>
      <p:sp>
        <p:nvSpPr>
          <p:cNvPr id="5" name="">
            <a:extLst xmlns:a="http://schemas.openxmlformats.org/drawingml/2006/main">
              <a:ext uri="{FF2B5EF4-FFF2-40B4-BE49-F238E27FC236}">
                <a16:creationId xmlns:a16="http://schemas.microsoft.com/office/drawing/2014/main" id="{E1EEDDBD-3DAB-4BDC-B2D1-B099F37E790A}"/>
              </a:ext>
            </a:extLst>
          </p:cNvPr>
          <p:cNvSpPr>
            <a:spLocks xmlns:a="http://schemas.openxmlformats.org/drawingml/2006/main" noGrp="1"/>
          </p:cNvSpPr>
          <p:nvPr/>
        </p:nvSpPr>
        <p:spPr>
          <a:xfrm xmlns:a="http://schemas.openxmlformats.org/drawingml/2006/main">
            <a:off x="619125" y="37623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172F3B"/>
                </a:solidFill>
                <a:latin typeface="Arial"/>
                <a:ea typeface="Arial"/>
                <a:cs typeface="Arial"/>
              </a:defRPr>
            </a:defPPr>
          </a:lstStyle>
          <a:p xmlns:a="http://schemas.openxmlformats.org/drawingml/2006/main">
            <a:pPr>
              <a:defRPr sz="2175" b="0">
                <a:solidFill>
                  <a:srgbClr val="172F3B"/>
                </a:solidFill>
                <a:latin typeface="Arial"/>
                <a:ea typeface="Arial"/>
                <a:cs typeface="Arial"/>
              </a:defRPr>
            </a:pPr>
            <a:r>
              <a:rPr sz="2175" b="0">
                <a:solidFill>
                  <a:srgbClr val="172F3B"/>
                </a:solidFill>
                <a:latin typeface="Arial"/>
                <a:ea typeface="Arial"/>
                <a:cs typeface="Arial"/>
              </a:rPr>
              <a:t>A bounded continuation resumes the matching checkpoint without reinstalling.</a:t>
            </a:r>
          </a:p>
        </p:txBody>
      </p:sp>
      <p:sp>
        <p:nvSpPr>
          <p:cNvPr id="6" name="">
            <a:extLst xmlns:a="http://schemas.openxmlformats.org/drawingml/2006/main">
              <a:ext uri="{FF2B5EF4-FFF2-40B4-BE49-F238E27FC236}">
                <a16:creationId xmlns:a16="http://schemas.microsoft.com/office/drawing/2014/main" id="{440C8FBF-C96E-4358-9C26-E4BDD394AD28}"/>
              </a:ext>
            </a:extLst>
          </p:cNvPr>
          <p:cNvSpPr>
            <a:spLocks xmlns:a="http://schemas.openxmlformats.org/drawingml/2006/main" noGrp="1"/>
          </p:cNvSpPr>
          <p:nvPr/>
        </p:nvSpPr>
        <p:spPr>
          <a:xfrm xmlns:a="http://schemas.openxmlformats.org/drawingml/2006/main">
            <a:off x="619125" y="51435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35F63"/>
                </a:solidFill>
                <a:latin typeface="Arial"/>
                <a:ea typeface="Arial"/>
                <a:cs typeface="Arial"/>
              </a:defRPr>
            </a:defPPr>
          </a:lstStyle>
          <a:p xmlns:a="http://schemas.openxmlformats.org/drawingml/2006/main">
            <a:pPr>
              <a:defRPr sz="1800" b="1">
                <a:solidFill>
                  <a:srgbClr val="235F63"/>
                </a:solidFill>
                <a:latin typeface="Arial"/>
                <a:ea typeface="Arial"/>
                <a:cs typeface="Arial"/>
              </a:defRPr>
            </a:pPr>
            <a:r>
              <a:rPr sz="1800" b="1">
                <a:solidFill>
                  <a:srgbClr val="235F63"/>
                </a:solidFill>
                <a:latin typeface="Arial"/>
                <a:ea typeface="Arial"/>
                <a:cs typeface="Arial"/>
              </a:rPr>
              <a:t>bash scripts/cicd-walkthrough-E_promotion.sh --resume-examples</a:t>
            </a:r>
          </a:p>
        </p:txBody>
      </p:sp>
      <p:sp>
        <p:nvSpPr>
          <p:cNvPr id="7" name="">
            <a:extLst xmlns:a="http://schemas.openxmlformats.org/drawingml/2006/main">
              <a:ext uri="{FF2B5EF4-FFF2-40B4-BE49-F238E27FC236}">
                <a16:creationId xmlns:a16="http://schemas.microsoft.com/office/drawing/2014/main" id="{D3A142AA-56DE-4372-AC69-9D430FF62401}"/>
              </a:ext>
            </a:extLst>
          </p:cNvPr>
          <p:cNvSpPr>
            <a:spLocks xmlns:a="http://schemas.openxmlformats.org/drawingml/2006/main" noGrp="1"/>
          </p:cNvSpPr>
          <p:nvPr/>
        </p:nvSpPr>
        <p:spPr>
          <a:xfrm xmlns:a="http://schemas.openxmlformats.org/drawingml/2006/main">
            <a:off x="619125" y="58578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A43224"/>
                </a:solidFill>
                <a:latin typeface="Arial"/>
                <a:ea typeface="Arial"/>
                <a:cs typeface="Arial"/>
              </a:defRPr>
            </a:defPPr>
          </a:lstStyle>
          <a:p xmlns:a="http://schemas.openxmlformats.org/drawingml/2006/main">
            <a:pPr>
              <a:defRPr sz="1800" b="0">
                <a:solidFill>
                  <a:srgbClr val="A43224"/>
                </a:solidFill>
                <a:latin typeface="Arial"/>
                <a:ea typeface="Arial"/>
                <a:cs typeface="Arial"/>
              </a:defRPr>
            </a:pPr>
            <a:r>
              <a:rPr sz="1800" b="0">
                <a:solidFill>
                  <a:srgbClr val="A43224"/>
                </a:solidFill>
                <a:latin typeface="Arial"/>
                <a:ea typeface="Arial"/>
                <a:cs typeface="Arial"/>
              </a:rPr>
              <a:t>Checkpoint continuation is distinct from the additive-DDL repair shown next.</a:t>
            </a:r>
          </a:p>
        </p:txBody>
      </p:sp>
    </p:spTree>
    <p:extLst>
      <p:ext uri="{BB962C8B-B14F-4D97-AF65-F5344CB8AC3E}">
        <p14:creationId xmlns:p14="http://schemas.microsoft.com/office/powerpoint/2010/main" val="42550229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ADB6536D-8A98-4A76-9246-14A5B63F9087}"/>
              </a:ext>
            </a:extLst>
          </p:cNvPr>
          <p:cNvCxnSpPr>
            <a:stCxn xmlns:a="http://schemas.openxmlformats.org/drawingml/2006/main" id="4" idx="3"/>
            <a:endCxn xmlns:a="http://schemas.openxmlformats.org/drawingml/2006/main" id="5" idx="1"/>
          </p:cNvCxnSpPr>
          <p:nvPr/>
        </p:nvCxnSpPr>
        <p:spPr>
          <a:xfrm xmlns:a="http://schemas.openxmlformats.org/drawingml/2006/main">
            <a:off x="7667625" y="2333625"/>
            <a:ext cx="762000" cy="0"/>
          </a:xfrm>
          <a:prstGeom xmlns:a="http://schemas.openxmlformats.org/drawingml/2006/main" prst="straightConnector1">
            <a:avLst/>
          </a:prstGeom>
          <a:ln xmlns:a="http://schemas.openxmlformats.org/drawingml/2006/main" w="23813">
            <a:solidFill>
              <a:srgbClr val="235F63"/>
            </a:solidFill>
            <a:tailEnd type="triangle" w="med" len="med"/>
          </a:ln>
        </p:spPr>
      </p:cxnSp>
      <p:cxnSp>
        <p:nvCxnSpPr>
          <p:cNvPr id="6" name="">
            <a:extLst xmlns:a="http://schemas.openxmlformats.org/drawingml/2006/main">
              <a:ext uri="{FF2B5EF4-FFF2-40B4-BE49-F238E27FC236}">
                <a16:creationId xmlns:a16="http://schemas.microsoft.com/office/drawing/2014/main" id="{F8CF76AB-D4F3-4670-927E-EBD23384A952}"/>
              </a:ext>
            </a:extLst>
          </p:cNvPr>
          <p:cNvCxnSpPr>
            <a:stCxn xmlns:a="http://schemas.openxmlformats.org/drawingml/2006/main" id="3" idx="3"/>
            <a:endCxn xmlns:a="http://schemas.openxmlformats.org/drawingml/2006/main" id="4" idx="1"/>
          </p:cNvCxnSpPr>
          <p:nvPr/>
        </p:nvCxnSpPr>
        <p:spPr>
          <a:xfrm xmlns:a="http://schemas.openxmlformats.org/drawingml/2006/main">
            <a:off x="3762375" y="2333625"/>
            <a:ext cx="762000" cy="0"/>
          </a:xfrm>
          <a:prstGeom xmlns:a="http://schemas.openxmlformats.org/drawingml/2006/main" prst="straightConnector1">
            <a:avLst/>
          </a:prstGeom>
          <a:ln xmlns:a="http://schemas.openxmlformats.org/drawingml/2006/main" w="23813">
            <a:solidFill>
              <a:srgbClr val="235F63"/>
            </a:solidFill>
            <a:tailEnd type="triangle" w="med" len="med"/>
          </a:ln>
        </p:spPr>
      </p:cxnSp>
      <p:sp>
        <p:nvSpPr>
          <p:cNvPr id="12" name="">
            <a:extLst xmlns:a="http://schemas.openxmlformats.org/drawingml/2006/main">
              <a:ext uri="{FF2B5EF4-FFF2-40B4-BE49-F238E27FC236}">
                <a16:creationId xmlns:a16="http://schemas.microsoft.com/office/drawing/2014/main" id="{B4DB3B65-1906-4820-973E-F1235B417460}"/>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I: repair a failed additive deployment</a:t>
            </a:r>
          </a:p>
        </p:txBody>
      </p:sp>
      <p:sp>
        <p:nvSpPr>
          <p:cNvPr id="2" name="">
            <a:extLst xmlns:a="http://schemas.openxmlformats.org/drawingml/2006/main">
              <a:ext uri="{FF2B5EF4-FFF2-40B4-BE49-F238E27FC236}">
                <a16:creationId xmlns:a16="http://schemas.microsoft.com/office/drawing/2014/main" id="{585CC351-0976-49F8-8D16-308EBFF2F8B0}"/>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24</a:t>
            </a:r>
          </a:p>
        </p:txBody>
      </p:sp>
      <p:sp>
        <p:nvSpPr>
          <p:cNvPr id="3" name="">
            <a:extLst xmlns:a="http://schemas.openxmlformats.org/drawingml/2006/main">
              <a:ext uri="{FF2B5EF4-FFF2-40B4-BE49-F238E27FC236}">
                <a16:creationId xmlns:a16="http://schemas.microsoft.com/office/drawing/2014/main" id="{0D98FC0C-D695-4932-AF3C-A0EC48FC48C3}"/>
              </a:ext>
            </a:extLst>
          </p:cNvPr>
          <p:cNvSpPr>
            <a:spLocks xmlns:a="http://schemas.openxmlformats.org/drawingml/2006/main" noGrp="1"/>
          </p:cNvSpPr>
          <p:nvPr/>
        </p:nvSpPr>
        <p:spPr>
          <a:xfrm xmlns:a="http://schemas.openxmlformats.org/drawingml/2006/main">
            <a:off x="619125" y="1762125"/>
            <a:ext cx="3143250" cy="11430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175">
                <a:solidFill>
                  <a:srgbClr val="172F3B"/>
                </a:solidFill>
                <a:latin typeface="Arial"/>
                <a:ea typeface="Arial"/>
                <a:cs typeface="Arial"/>
              </a:defRPr>
            </a:defPPr>
          </a:lstStyle>
          <a:p xmlns:a="http://schemas.openxmlformats.org/drawingml/2006/main">
            <a:pPr algn="ctr">
              <a:defRPr sz="2175">
                <a:solidFill>
                  <a:srgbClr val="172F3B"/>
                </a:solidFill>
                <a:latin typeface="Arial"/>
                <a:ea typeface="Arial"/>
                <a:cs typeface="Arial"/>
              </a:defRPr>
            </a:pPr>
            <a:r>
              <a:rPr sz="2175">
                <a:solidFill>
                  <a:srgbClr val="172F3B"/>
                </a:solidFill>
                <a:latin typeface="Arial"/>
                <a:ea typeface="Arial"/>
                <a:cs typeface="Arial"/>
              </a:rPr>
              <a:t>First DDL commits</a:t>
            </a:r>
          </a:p>
          <a:p xmlns:a="http://schemas.openxmlformats.org/drawingml/2006/main">
            <a:pPr algn="ctr">
              <a:defRPr sz="2175">
                <a:solidFill>
                  <a:srgbClr val="172F3B"/>
                </a:solidFill>
                <a:latin typeface="Arial"/>
                <a:ea typeface="Arial"/>
                <a:cs typeface="Arial"/>
              </a:defRPr>
            </a:pPr>
            <a:r>
              <a:rPr sz="2175">
                <a:solidFill>
                  <a:srgbClr val="172F3B"/>
                </a:solidFill>
                <a:latin typeface="Arial"/>
                <a:ea typeface="Arial"/>
                <a:cs typeface="Arial"/>
              </a:rPr>
              <a:t>Second step fails</a:t>
            </a:r>
          </a:p>
        </p:txBody>
      </p:sp>
      <p:sp>
        <p:nvSpPr>
          <p:cNvPr id="4" name="">
            <a:extLst xmlns:a="http://schemas.openxmlformats.org/drawingml/2006/main">
              <a:ext uri="{FF2B5EF4-FFF2-40B4-BE49-F238E27FC236}">
                <a16:creationId xmlns:a16="http://schemas.microsoft.com/office/drawing/2014/main" id="{03BCE87F-BD15-4F42-AA97-A7765858B4E8}"/>
              </a:ext>
            </a:extLst>
          </p:cNvPr>
          <p:cNvSpPr>
            <a:spLocks xmlns:a="http://schemas.openxmlformats.org/drawingml/2006/main" noGrp="1"/>
          </p:cNvSpPr>
          <p:nvPr/>
        </p:nvSpPr>
        <p:spPr>
          <a:xfrm xmlns:a="http://schemas.openxmlformats.org/drawingml/2006/main">
            <a:off x="4524375" y="1762125"/>
            <a:ext cx="3143250" cy="11430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175">
                <a:solidFill>
                  <a:srgbClr val="172F3B"/>
                </a:solidFill>
                <a:latin typeface="Arial"/>
                <a:ea typeface="Arial"/>
                <a:cs typeface="Arial"/>
              </a:defRPr>
            </a:defPPr>
          </a:lstStyle>
          <a:p xmlns:a="http://schemas.openxmlformats.org/drawingml/2006/main">
            <a:pPr algn="ctr">
              <a:defRPr sz="2175">
                <a:solidFill>
                  <a:srgbClr val="172F3B"/>
                </a:solidFill>
                <a:latin typeface="Arial"/>
                <a:ea typeface="Arial"/>
                <a:cs typeface="Arial"/>
              </a:defRPr>
            </a:pPr>
            <a:r>
              <a:rPr sz="2175">
                <a:solidFill>
                  <a:srgbClr val="172F3B"/>
                </a:solidFill>
                <a:latin typeface="Arial"/>
                <a:ea typeface="Arial"/>
                <a:cs typeface="Arial"/>
              </a:rPr>
              <a:t>Inspect retained state</a:t>
            </a:r>
          </a:p>
          <a:p xmlns:a="http://schemas.openxmlformats.org/drawingml/2006/main">
            <a:pPr algn="ctr">
              <a:defRPr sz="2175">
                <a:solidFill>
                  <a:srgbClr val="172F3B"/>
                </a:solidFill>
                <a:latin typeface="Arial"/>
                <a:ea typeface="Arial"/>
                <a:cs typeface="Arial"/>
              </a:defRPr>
            </a:pPr>
            <a:r>
              <a:rPr sz="2175">
                <a:solidFill>
                  <a:srgbClr val="172F3B"/>
                </a:solidFill>
                <a:latin typeface="Arial"/>
                <a:ea typeface="Arial"/>
                <a:cs typeface="Arial"/>
              </a:rPr>
              <a:t>Approve its exact hash</a:t>
            </a:r>
          </a:p>
        </p:txBody>
      </p:sp>
      <p:sp>
        <p:nvSpPr>
          <p:cNvPr id="5" name="">
            <a:extLst xmlns:a="http://schemas.openxmlformats.org/drawingml/2006/main">
              <a:ext uri="{FF2B5EF4-FFF2-40B4-BE49-F238E27FC236}">
                <a16:creationId xmlns:a16="http://schemas.microsoft.com/office/drawing/2014/main" id="{FD8C3D43-7B0F-4A69-AEE6-8E6E79A651E3}"/>
              </a:ext>
            </a:extLst>
          </p:cNvPr>
          <p:cNvSpPr>
            <a:spLocks xmlns:a="http://schemas.openxmlformats.org/drawingml/2006/main" noGrp="1"/>
          </p:cNvSpPr>
          <p:nvPr/>
        </p:nvSpPr>
        <p:spPr>
          <a:xfrm xmlns:a="http://schemas.openxmlformats.org/drawingml/2006/main">
            <a:off x="8429625" y="1762125"/>
            <a:ext cx="3143250" cy="1143000"/>
          </a:xfrm>
          <a:prstGeom xmlns:a="http://schemas.openxmlformats.org/drawingml/2006/main" prst="rect">
            <a:avLst/>
          </a:prstGeom>
          <a:solidFill xmlns:a="http://schemas.openxmlformats.org/drawingml/2006/main">
            <a:srgbClr val="F2F5F5"/>
          </a:solidFill>
          <a:ln xmlns:a="http://schemas.openxmlformats.org/drawingml/2006/main" w="14288">
            <a:solidFill>
              <a:srgbClr val="AAB9BE"/>
            </a:solidFill>
          </a:ln>
        </p:spPr>
        <p:txBody>
          <a:bodyPr xmlns:a="http://schemas.openxmlformats.org/drawingml/2006/main" lIns="114300" tIns="114300" rIns="114300" bIns="114300" anchor="ctr">
            <a:noAutofit/>
          </a:bodyPr>
          <a:lstStyle xmlns:a="http://schemas.openxmlformats.org/drawingml/2006/main">
            <a:defPPr algn="ctr">
              <a:defRPr sz="2175">
                <a:solidFill>
                  <a:srgbClr val="172F3B"/>
                </a:solidFill>
                <a:latin typeface="Arial"/>
                <a:ea typeface="Arial"/>
                <a:cs typeface="Arial"/>
              </a:defRPr>
            </a:defPPr>
          </a:lstStyle>
          <a:p xmlns:a="http://schemas.openxmlformats.org/drawingml/2006/main">
            <a:pPr algn="ctr">
              <a:defRPr sz="2175">
                <a:solidFill>
                  <a:srgbClr val="172F3B"/>
                </a:solidFill>
                <a:latin typeface="Arial"/>
                <a:ea typeface="Arial"/>
                <a:cs typeface="Arial"/>
              </a:defRPr>
            </a:pPr>
            <a:r>
              <a:rPr sz="2175">
                <a:solidFill>
                  <a:srgbClr val="172F3B"/>
                </a:solidFill>
                <a:latin typeface="Arial"/>
                <a:ea typeface="Arial"/>
                <a:cs typeface="Arial"/>
              </a:rPr>
              <a:t>Apply reviewed repair</a:t>
            </a:r>
          </a:p>
          <a:p xmlns:a="http://schemas.openxmlformats.org/drawingml/2006/main">
            <a:pPr algn="ctr">
              <a:defRPr sz="2175">
                <a:solidFill>
                  <a:srgbClr val="172F3B"/>
                </a:solidFill>
                <a:latin typeface="Arial"/>
                <a:ea typeface="Arial"/>
                <a:cs typeface="Arial"/>
              </a:defRPr>
            </a:pPr>
            <a:r>
              <a:rPr sz="2175">
                <a:solidFill>
                  <a:srgbClr val="172F3B"/>
                </a:solidFill>
                <a:latin typeface="Arial"/>
                <a:ea typeface="Arial"/>
                <a:cs typeface="Arial"/>
              </a:rPr>
              <a:t>Publish ready state</a:t>
            </a:r>
          </a:p>
        </p:txBody>
      </p:sp>
      <p:sp>
        <p:nvSpPr>
          <p:cNvPr id="8" name="">
            <a:extLst xmlns:a="http://schemas.openxmlformats.org/drawingml/2006/main">
              <a:ext uri="{FF2B5EF4-FFF2-40B4-BE49-F238E27FC236}">
                <a16:creationId xmlns:a16="http://schemas.microsoft.com/office/drawing/2014/main" id="{5427B6F8-8EFB-46FC-8E50-3F9D2315BDE1}"/>
              </a:ext>
            </a:extLst>
          </p:cNvPr>
          <p:cNvSpPr>
            <a:spLocks xmlns:a="http://schemas.openxmlformats.org/drawingml/2006/main" noGrp="1"/>
          </p:cNvSpPr>
          <p:nvPr/>
        </p:nvSpPr>
        <p:spPr>
          <a:xfrm xmlns:a="http://schemas.openxmlformats.org/drawingml/2006/main">
            <a:off x="619125" y="34290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Failure keeps ownership and blocks ordinary runtime access.</a:t>
            </a:r>
          </a:p>
        </p:txBody>
      </p:sp>
      <p:sp>
        <p:nvSpPr>
          <p:cNvPr id="9" name="">
            <a:extLst xmlns:a="http://schemas.openxmlformats.org/drawingml/2006/main">
              <a:ext uri="{FF2B5EF4-FFF2-40B4-BE49-F238E27FC236}">
                <a16:creationId xmlns:a16="http://schemas.microsoft.com/office/drawing/2014/main" id="{423ABEB7-7B2F-4AD2-A19D-90ABB5BA675B}"/>
              </a:ext>
            </a:extLst>
          </p:cNvPr>
          <p:cNvSpPr>
            <a:spLocks xmlns:a="http://schemas.openxmlformats.org/drawingml/2006/main" noGrp="1"/>
          </p:cNvSpPr>
          <p:nvPr/>
        </p:nvSpPr>
        <p:spPr>
          <a:xfrm xmlns:a="http://schemas.openxmlformats.org/drawingml/2006/main">
            <a:off x="619125" y="41148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Repair preserves prior DDL, all history and configuration.</a:t>
            </a:r>
          </a:p>
        </p:txBody>
      </p:sp>
      <p:sp>
        <p:nvSpPr>
          <p:cNvPr id="10" name="">
            <a:extLst xmlns:a="http://schemas.openxmlformats.org/drawingml/2006/main">
              <a:ext uri="{FF2B5EF4-FFF2-40B4-BE49-F238E27FC236}">
                <a16:creationId xmlns:a16="http://schemas.microsoft.com/office/drawing/2014/main" id="{7410DA17-2E64-4862-B6F7-B338A7DCAD00}"/>
              </a:ext>
            </a:extLst>
          </p:cNvPr>
          <p:cNvSpPr>
            <a:spLocks xmlns:a="http://schemas.openxmlformats.org/drawingml/2006/main" noGrp="1"/>
          </p:cNvSpPr>
          <p:nvPr/>
        </p:nvSpPr>
        <p:spPr>
          <a:xfrm xmlns:a="http://schemas.openxmlformats.org/drawingml/2006/main">
            <a:off x="619125" y="48006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72F3B"/>
                </a:solidFill>
                <a:latin typeface="Arial"/>
                <a:ea typeface="Arial"/>
                <a:cs typeface="Arial"/>
              </a:defRPr>
            </a:defPPr>
          </a:lstStyle>
          <a:p xmlns:a="http://schemas.openxmlformats.org/drawingml/2006/main">
            <a:pPr>
              <a:defRPr sz="2025" b="0">
                <a:solidFill>
                  <a:srgbClr val="172F3B"/>
                </a:solidFill>
                <a:latin typeface="Arial"/>
                <a:ea typeface="Arial"/>
                <a:cs typeface="Arial"/>
              </a:defRPr>
            </a:pPr>
            <a:r>
              <a:rPr sz="2025" b="0">
                <a:solidFill>
                  <a:srgbClr val="172F3B"/>
                </a:solidFill>
                <a:latin typeface="Arial"/>
                <a:ea typeface="Arial"/>
                <a:cs typeface="Arial"/>
              </a:rPr>
              <a:t>Repeated repair is a no-op; changed partial state is rejected.</a:t>
            </a:r>
          </a:p>
        </p:txBody>
      </p:sp>
      <p:sp>
        <p:nvSpPr>
          <p:cNvPr id="11" name="">
            <a:extLst xmlns:a="http://schemas.openxmlformats.org/drawingml/2006/main">
              <a:ext uri="{FF2B5EF4-FFF2-40B4-BE49-F238E27FC236}">
                <a16:creationId xmlns:a16="http://schemas.microsoft.com/office/drawing/2014/main" id="{ED1E005A-9971-4180-B49B-A40DBE6A2881}"/>
              </a:ext>
            </a:extLst>
          </p:cNvPr>
          <p:cNvSpPr>
            <a:spLocks xmlns:a="http://schemas.openxmlformats.org/drawingml/2006/main" noGrp="1"/>
          </p:cNvSpPr>
          <p:nvPr/>
        </p:nvSpPr>
        <p:spPr>
          <a:xfrm xmlns:a="http://schemas.openxmlformats.org/drawingml/2006/main">
            <a:off x="619125" y="576262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235F63"/>
                </a:solidFill>
                <a:latin typeface="Arial"/>
                <a:ea typeface="Arial"/>
                <a:cs typeface="Arial"/>
              </a:defRPr>
            </a:defPPr>
          </a:lstStyle>
          <a:p xmlns:a="http://schemas.openxmlformats.org/drawingml/2006/main">
            <a:pPr>
              <a:defRPr sz="1875" b="1">
                <a:solidFill>
                  <a:srgbClr val="235F63"/>
                </a:solidFill>
                <a:latin typeface="Arial"/>
                <a:ea typeface="Arial"/>
                <a:cs typeface="Arial"/>
              </a:defRPr>
            </a:pPr>
            <a:r>
              <a:rPr sz="1875" b="1">
                <a:solidFill>
                  <a:srgbClr val="235F63"/>
                </a:solidFill>
                <a:latin typeface="Arial"/>
                <a:ea typeface="Arial"/>
                <a:cs typeface="Arial"/>
              </a:rPr>
              <a:t>bash scripts/cicd-walkthrough-I_repair.sh</a:t>
            </a:r>
          </a:p>
        </p:txBody>
      </p:sp>
    </p:spTree>
    <p:extLst>
      <p:ext uri="{BB962C8B-B14F-4D97-AF65-F5344CB8AC3E}">
        <p14:creationId xmlns:p14="http://schemas.microsoft.com/office/powerpoint/2010/main" val="429397196"/>
      </p:ext>
    </p:extLst>
  </p:cSld>
</p:sld>
</file>

<file path=ppt/slides/slide25.xml><?xml version="1.0" encoding="utf-8"?>
<p:sld xmlns:p="http://schemas.openxmlformats.org/presentationml/2006/main">
  <p:cSld>
    <p:bg>
      <p:bgPr>
        <a:solidFill xmlns:a="http://schemas.openxmlformats.org/drawingml/2006/main">
          <a:srgbClr val="172F3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337791E-41E9-4A36-AC04-139C8309BBB4}"/>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FFFFFF"/>
                </a:solidFill>
                <a:latin typeface="Arial"/>
                <a:ea typeface="Arial"/>
                <a:cs typeface="Arial"/>
              </a:defRPr>
            </a:defPPr>
          </a:lstStyle>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Evidence and remaining work</a:t>
            </a:r>
          </a:p>
        </p:txBody>
      </p:sp>
      <p:sp>
        <p:nvSpPr>
          <p:cNvPr id="2" name="">
            <a:extLst xmlns:a="http://schemas.openxmlformats.org/drawingml/2006/main">
              <a:ext uri="{FF2B5EF4-FFF2-40B4-BE49-F238E27FC236}">
                <a16:creationId xmlns:a16="http://schemas.microsoft.com/office/drawing/2014/main" id="{A5FD509C-2A8C-4FE9-A562-CA2D531EA51A}"/>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8D7DC"/>
                </a:solidFill>
                <a:latin typeface="Arial"/>
                <a:ea typeface="Arial"/>
                <a:cs typeface="Arial"/>
              </a:defRPr>
            </a:defPPr>
          </a:lstStyle>
          <a:p xmlns:a="http://schemas.openxmlformats.org/drawingml/2006/main">
            <a:pPr>
              <a:defRPr sz="1350" b="0">
                <a:solidFill>
                  <a:srgbClr val="C8D7DC"/>
                </a:solidFill>
                <a:latin typeface="Arial"/>
                <a:ea typeface="Arial"/>
                <a:cs typeface="Arial"/>
              </a:defRPr>
            </a:pPr>
            <a:r>
              <a:rPr sz="1350" b="0">
                <a:solidFill>
                  <a:srgbClr val="C8D7DC"/>
                </a:solidFill>
                <a:latin typeface="Arial"/>
                <a:ea typeface="Arial"/>
                <a:cs typeface="Arial"/>
              </a:rPr>
              <a:t>25</a:t>
            </a:r>
          </a:p>
        </p:txBody>
      </p:sp>
      <p:sp>
        <p:nvSpPr>
          <p:cNvPr id="3" name="">
            <a:extLst xmlns:a="http://schemas.openxmlformats.org/drawingml/2006/main">
              <a:ext uri="{FF2B5EF4-FFF2-40B4-BE49-F238E27FC236}">
                <a16:creationId xmlns:a16="http://schemas.microsoft.com/office/drawing/2014/main" id="{6CE2FD06-7985-4D34-858C-03A9A04AF238}"/>
              </a:ext>
            </a:extLst>
          </p:cNvPr>
          <p:cNvSpPr>
            <a:spLocks xmlns:a="http://schemas.openxmlformats.org/drawingml/2006/main" noGrp="1"/>
          </p:cNvSpPr>
          <p:nvPr/>
        </p:nvSpPr>
        <p:spPr>
          <a:xfrm xmlns:a="http://schemas.openxmlformats.org/drawingml/2006/main">
            <a:off x="619125" y="2286000"/>
            <a:ext cx="10763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FFFFFF"/>
                </a:solidFill>
                <a:latin typeface="Arial"/>
                <a:ea typeface="Arial"/>
                <a:cs typeface="Arial"/>
              </a:defRPr>
            </a:defPPr>
          </a:lstStyle>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The selected journey works.</a:t>
            </a:r>
          </a:p>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The broader architecture still needs proof.</a:t>
            </a:r>
          </a:p>
        </p:txBody>
      </p:sp>
      <p:sp>
        <p:nvSpPr>
          <p:cNvPr id="4" name="">
            <a:extLst xmlns:a="http://schemas.openxmlformats.org/drawingml/2006/main">
              <a:ext uri="{FF2B5EF4-FFF2-40B4-BE49-F238E27FC236}">
                <a16:creationId xmlns:a16="http://schemas.microsoft.com/office/drawing/2014/main" id="{B37E3C20-32FA-4D2F-93D9-5C3AD39E7F51}"/>
              </a:ext>
            </a:extLst>
          </p:cNvPr>
          <p:cNvSpPr>
            <a:spLocks xmlns:a="http://schemas.openxmlformats.org/drawingml/2006/main" noGrp="1"/>
          </p:cNvSpPr>
          <p:nvPr/>
        </p:nvSpPr>
        <p:spPr>
          <a:xfrm xmlns:a="http://schemas.openxmlformats.org/drawingml/2006/main">
            <a:off x="619125" y="4905375"/>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DCE7EB"/>
                </a:solidFill>
                <a:latin typeface="Arial"/>
                <a:ea typeface="Arial"/>
                <a:cs typeface="Arial"/>
              </a:defRPr>
            </a:defPPr>
          </a:lstStyle>
          <a:p xmlns:a="http://schemas.openxmlformats.org/drawingml/2006/main">
            <a:pPr>
              <a:defRPr sz="2100" b="0">
                <a:solidFill>
                  <a:srgbClr val="DCE7EB"/>
                </a:solidFill>
                <a:latin typeface="Arial"/>
                <a:ea typeface="Arial"/>
                <a:cs typeface="Arial"/>
              </a:defRPr>
            </a:pPr>
            <a:r>
              <a:rPr sz="2100" b="0">
                <a:solidFill>
                  <a:srgbClr val="DCE7EB"/>
                </a:solidFill>
                <a:latin typeface="Arial"/>
                <a:ea typeface="Arial"/>
                <a:cs typeface="Arial"/>
              </a:rPr>
              <a:t>Prototype results and full sprint acceptance are separate decisions</a:t>
            </a:r>
          </a:p>
        </p:txBody>
      </p:sp>
    </p:spTree>
    <p:extLst>
      <p:ext uri="{BB962C8B-B14F-4D97-AF65-F5344CB8AC3E}">
        <p14:creationId xmlns:p14="http://schemas.microsoft.com/office/powerpoint/2010/main" val="125607105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E58DB6-55B6-486D-86F2-DD93DF3BD52A}"/>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Delivered evidence and official status</a:t>
            </a:r>
          </a:p>
        </p:txBody>
      </p:sp>
      <p:sp>
        <p:nvSpPr>
          <p:cNvPr id="2" name="">
            <a:extLst xmlns:a="http://schemas.openxmlformats.org/drawingml/2006/main">
              <a:ext uri="{FF2B5EF4-FFF2-40B4-BE49-F238E27FC236}">
                <a16:creationId xmlns:a16="http://schemas.microsoft.com/office/drawing/2014/main" id="{C1F5FD3B-DA74-40CF-9E48-D9AD830A1FBC}"/>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26</a:t>
            </a:r>
          </a:p>
        </p:txBody>
      </p:sp>
      <p:sp>
        <p:nvSpPr>
          <p:cNvPr id="3" name="">
            <a:extLst xmlns:a="http://schemas.openxmlformats.org/drawingml/2006/main">
              <a:ext uri="{FF2B5EF4-FFF2-40B4-BE49-F238E27FC236}">
                <a16:creationId xmlns:a16="http://schemas.microsoft.com/office/drawing/2014/main" id="{0E635706-86FD-4A00-9D42-203821C04976}"/>
              </a:ext>
            </a:extLst>
          </p:cNvPr>
          <p:cNvSpPr>
            <a:spLocks xmlns:a="http://schemas.openxmlformats.org/drawingml/2006/main" noGrp="1"/>
          </p:cNvSpPr>
          <p:nvPr/>
        </p:nvSpPr>
        <p:spPr>
          <a:xfrm xmlns:a="http://schemas.openxmlformats.org/drawingml/2006/main">
            <a:off x="619125" y="1619250"/>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PBI-011.1 and 011.3: tested on the board</a:t>
            </a:r>
          </a:p>
        </p:txBody>
      </p:sp>
      <p:sp>
        <p:nvSpPr>
          <p:cNvPr id="4" name="">
            <a:extLst xmlns:a="http://schemas.openxmlformats.org/drawingml/2006/main">
              <a:ext uri="{FF2B5EF4-FFF2-40B4-BE49-F238E27FC236}">
                <a16:creationId xmlns:a16="http://schemas.microsoft.com/office/drawing/2014/main" id="{7E35C4BE-2864-485E-9CB8-4B3A7BA59117}"/>
              </a:ext>
            </a:extLst>
          </p:cNvPr>
          <p:cNvSpPr>
            <a:spLocks xmlns:a="http://schemas.openxmlformats.org/drawingml/2006/main" noGrp="1"/>
          </p:cNvSpPr>
          <p:nvPr/>
        </p:nvSpPr>
        <p:spPr>
          <a:xfrm xmlns:a="http://schemas.openxmlformats.org/drawingml/2006/main">
            <a:off x="619125" y="2476500"/>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PBI-011.2, 011.4, 011.6 and 011.7: under construction</a:t>
            </a:r>
          </a:p>
        </p:txBody>
      </p:sp>
      <p:sp>
        <p:nvSpPr>
          <p:cNvPr id="5" name="">
            <a:extLst xmlns:a="http://schemas.openxmlformats.org/drawingml/2006/main">
              <a:ext uri="{FF2B5EF4-FFF2-40B4-BE49-F238E27FC236}">
                <a16:creationId xmlns:a16="http://schemas.microsoft.com/office/drawing/2014/main" id="{08E482D3-B854-40DE-9119-38501B646D1A}"/>
              </a:ext>
            </a:extLst>
          </p:cNvPr>
          <p:cNvSpPr>
            <a:spLocks xmlns:a="http://schemas.openxmlformats.org/drawingml/2006/main" noGrp="1"/>
          </p:cNvSpPr>
          <p:nvPr/>
        </p:nvSpPr>
        <p:spPr>
          <a:xfrm xmlns:a="http://schemas.openxmlformats.org/drawingml/2006/main">
            <a:off x="619125" y="3333750"/>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PBI-011.5: under construction, with concurrent integration still unproved</a:t>
            </a:r>
          </a:p>
        </p:txBody>
      </p:sp>
      <p:sp>
        <p:nvSpPr>
          <p:cNvPr id="6" name="">
            <a:extLst xmlns:a="http://schemas.openxmlformats.org/drawingml/2006/main">
              <a:ext uri="{FF2B5EF4-FFF2-40B4-BE49-F238E27FC236}">
                <a16:creationId xmlns:a16="http://schemas.microsoft.com/office/drawing/2014/main" id="{F8A0BFA5-72FF-4C3D-978B-07F682D15AF9}"/>
              </a:ext>
            </a:extLst>
          </p:cNvPr>
          <p:cNvSpPr>
            <a:spLocks xmlns:a="http://schemas.openxmlformats.org/drawingml/2006/main" noGrp="1"/>
          </p:cNvSpPr>
          <p:nvPr/>
        </p:nvSpPr>
        <p:spPr>
          <a:xfrm xmlns:a="http://schemas.openxmlformats.org/drawingml/2006/main">
            <a:off x="619125" y="4191000"/>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PBI-011.8: bounded additive failure/repair proved; broader acceptance remains open</a:t>
            </a:r>
          </a:p>
        </p:txBody>
      </p:sp>
      <p:sp>
        <p:nvSpPr>
          <p:cNvPr id="7" name="">
            <a:extLst xmlns:a="http://schemas.openxmlformats.org/drawingml/2006/main">
              <a:ext uri="{FF2B5EF4-FFF2-40B4-BE49-F238E27FC236}">
                <a16:creationId xmlns:a16="http://schemas.microsoft.com/office/drawing/2014/main" id="{5AC93A91-FD95-4435-888D-26BC54DA9C65}"/>
              </a:ext>
            </a:extLst>
          </p:cNvPr>
          <p:cNvSpPr>
            <a:spLocks xmlns:a="http://schemas.openxmlformats.org/drawingml/2006/main" noGrp="1"/>
          </p:cNvSpPr>
          <p:nvPr/>
        </p:nvSpPr>
        <p:spPr>
          <a:xfrm xmlns:a="http://schemas.openxmlformats.org/drawingml/2006/main">
            <a:off x="619125" y="54292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A43224"/>
                </a:solidFill>
                <a:latin typeface="Arial"/>
                <a:ea typeface="Arial"/>
                <a:cs typeface="Arial"/>
              </a:defRPr>
            </a:defPPr>
          </a:lstStyle>
          <a:p xmlns:a="http://schemas.openxmlformats.org/drawingml/2006/main">
            <a:pPr>
              <a:defRPr sz="1875" b="0">
                <a:solidFill>
                  <a:srgbClr val="A43224"/>
                </a:solidFill>
                <a:latin typeface="Arial"/>
                <a:ea typeface="Arial"/>
                <a:cs typeface="Arial"/>
              </a:defRPr>
            </a:pPr>
            <a:r>
              <a:rPr sz="1875" b="0">
                <a:solidFill>
                  <a:srgbClr val="A43224"/>
                </a:solidFill>
                <a:latin typeface="Arial"/>
                <a:ea typeface="Arial"/>
                <a:cs typeface="Arial"/>
              </a:rPr>
              <a:t>PBI-012–016 remain under_design. This handover proposes conclusions and follow-up, not status changes.</a:t>
            </a:r>
          </a:p>
        </p:txBody>
      </p:sp>
    </p:spTree>
    <p:extLst>
      <p:ext uri="{BB962C8B-B14F-4D97-AF65-F5344CB8AC3E}">
        <p14:creationId xmlns:p14="http://schemas.microsoft.com/office/powerpoint/2010/main" val="19506910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9C3CAC-D81E-41FB-9F4E-2161C9CCEDB9}"/>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The remaining Elaboration proofs</a:t>
            </a:r>
          </a:p>
        </p:txBody>
      </p:sp>
      <p:sp>
        <p:nvSpPr>
          <p:cNvPr id="2" name="">
            <a:extLst xmlns:a="http://schemas.openxmlformats.org/drawingml/2006/main">
              <a:ext uri="{FF2B5EF4-FFF2-40B4-BE49-F238E27FC236}">
                <a16:creationId xmlns:a16="http://schemas.microsoft.com/office/drawing/2014/main" id="{464D192C-55E0-47C5-8F24-BF6EDA12A8DE}"/>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27</a:t>
            </a:r>
          </a:p>
        </p:txBody>
      </p:sp>
      <p:sp>
        <p:nvSpPr>
          <p:cNvPr id="3" name="">
            <a:extLst xmlns:a="http://schemas.openxmlformats.org/drawingml/2006/main">
              <a:ext uri="{FF2B5EF4-FFF2-40B4-BE49-F238E27FC236}">
                <a16:creationId xmlns:a16="http://schemas.microsoft.com/office/drawing/2014/main" id="{0ACED3DF-37EC-41EB-B51C-A013604EF51C}"/>
              </a:ext>
            </a:extLst>
          </p:cNvPr>
          <p:cNvSpPr>
            <a:spLocks xmlns:a="http://schemas.openxmlformats.org/drawingml/2006/main" noGrp="1"/>
          </p:cNvSpPr>
          <p:nvPr/>
        </p:nvSpPr>
        <p:spPr>
          <a:xfrm xmlns:a="http://schemas.openxmlformats.org/drawingml/2006/main">
            <a:off x="619125" y="161925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Atomic contention: synchronized Hello competitors, exactly one winner</a:t>
            </a:r>
          </a:p>
        </p:txBody>
      </p:sp>
      <p:sp>
        <p:nvSpPr>
          <p:cNvPr id="4" name="">
            <a:extLst xmlns:a="http://schemas.openxmlformats.org/drawingml/2006/main">
              <a:ext uri="{FF2B5EF4-FFF2-40B4-BE49-F238E27FC236}">
                <a16:creationId xmlns:a16="http://schemas.microsoft.com/office/drawing/2014/main" id="{89912618-75E3-4E1A-95F0-C06AEEF7EEF7}"/>
              </a:ext>
            </a:extLst>
          </p:cNvPr>
          <p:cNvSpPr>
            <a:spLocks xmlns:a="http://schemas.openxmlformats.org/drawingml/2006/main" noGrp="1"/>
          </p:cNvSpPr>
          <p:nvPr/>
        </p:nvSpPr>
        <p:spPr>
          <a:xfrm xmlns:a="http://schemas.openxmlformats.org/drawingml/2006/main">
            <a:off x="619125" y="264795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Parallel work: independent Hello/World contributions and safe integration</a:t>
            </a:r>
          </a:p>
        </p:txBody>
      </p:sp>
      <p:sp>
        <p:nvSpPr>
          <p:cNvPr id="5" name="">
            <a:extLst xmlns:a="http://schemas.openxmlformats.org/drawingml/2006/main">
              <a:ext uri="{FF2B5EF4-FFF2-40B4-BE49-F238E27FC236}">
                <a16:creationId xmlns:a16="http://schemas.microsoft.com/office/drawing/2014/main" id="{BAA3D4EF-5D56-46A9-AE02-1DAB5241A27E}"/>
              </a:ext>
            </a:extLst>
          </p:cNvPr>
          <p:cNvSpPr>
            <a:spLocks xmlns:a="http://schemas.openxmlformats.org/drawingml/2006/main" noGrp="1"/>
          </p:cNvSpPr>
          <p:nvPr/>
        </p:nvSpPr>
        <p:spPr>
          <a:xfrm xmlns:a="http://schemas.openxmlformats.org/drawingml/2006/main">
            <a:off x="619125" y="367665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Maintenance: stale workers, in-flight sessions and verifier revocation</a:t>
            </a:r>
          </a:p>
        </p:txBody>
      </p:sp>
      <p:sp>
        <p:nvSpPr>
          <p:cNvPr id="6" name="">
            <a:extLst xmlns:a="http://schemas.openxmlformats.org/drawingml/2006/main">
              <a:ext uri="{FF2B5EF4-FFF2-40B4-BE49-F238E27FC236}">
                <a16:creationId xmlns:a16="http://schemas.microsoft.com/office/drawing/2014/main" id="{9056DD3B-7817-4557-8B41-D7896CCE2426}"/>
              </a:ext>
            </a:extLst>
          </p:cNvPr>
          <p:cNvSpPr>
            <a:spLocks xmlns:a="http://schemas.openxmlformats.org/drawingml/2006/main" noGrp="1"/>
          </p:cNvSpPr>
          <p:nvPr/>
        </p:nvSpPr>
        <p:spPr>
          <a:xfrm xmlns:a="http://schemas.openxmlformats.org/drawingml/2006/main">
            <a:off x="619125" y="470535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172F3B"/>
                </a:solidFill>
                <a:latin typeface="Arial"/>
                <a:ea typeface="Arial"/>
                <a:cs typeface="Arial"/>
              </a:defRPr>
            </a:defPPr>
          </a:lstStyle>
          <a:p xmlns:a="http://schemas.openxmlformats.org/drawingml/2006/main">
            <a:pPr>
              <a:defRPr sz="2100" b="0">
                <a:solidFill>
                  <a:srgbClr val="172F3B"/>
                </a:solidFill>
                <a:latin typeface="Arial"/>
                <a:ea typeface="Arial"/>
                <a:cs typeface="Arial"/>
              </a:defRPr>
            </a:pPr>
            <a:r>
              <a:rPr sz="2100" b="0">
                <a:solidFill>
                  <a:srgbClr val="172F3B"/>
                </a:solidFill>
                <a:latin typeface="Arial"/>
                <a:ea typeface="Arial"/>
                <a:cs typeface="Arial"/>
              </a:rPr>
              <a:t>Recovery: broader schema drift and unsupported partial database states</a:t>
            </a:r>
          </a:p>
        </p:txBody>
      </p:sp>
    </p:spTree>
    <p:extLst>
      <p:ext uri="{BB962C8B-B14F-4D97-AF65-F5344CB8AC3E}">
        <p14:creationId xmlns:p14="http://schemas.microsoft.com/office/powerpoint/2010/main" val="136254415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3EF0F2-BD9D-4109-8BCC-27752FD6E4BA}"/>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172F3B"/>
                </a:solidFill>
                <a:latin typeface="Arial"/>
                <a:ea typeface="Arial"/>
                <a:cs typeface="Arial"/>
              </a:defRPr>
            </a:defPPr>
          </a:lstStyle>
          <a:p xmlns:a="http://schemas.openxmlformats.org/drawingml/2006/main">
            <a:pPr>
              <a:defRPr sz="3450" b="1">
                <a:solidFill>
                  <a:srgbClr val="172F3B"/>
                </a:solidFill>
                <a:latin typeface="Arial"/>
                <a:ea typeface="Arial"/>
                <a:cs typeface="Arial"/>
              </a:defRPr>
            </a:pPr>
            <a:r>
              <a:rPr sz="3450" b="1">
                <a:solidFill>
                  <a:srgbClr val="172F3B"/>
                </a:solidFill>
                <a:latin typeface="Arial"/>
                <a:ea typeface="Arial"/>
                <a:cs typeface="Arial"/>
              </a:rPr>
              <a:t>Recommended next step</a:t>
            </a:r>
          </a:p>
        </p:txBody>
      </p:sp>
      <p:sp>
        <p:nvSpPr>
          <p:cNvPr id="2" name="">
            <a:extLst xmlns:a="http://schemas.openxmlformats.org/drawingml/2006/main">
              <a:ext uri="{FF2B5EF4-FFF2-40B4-BE49-F238E27FC236}">
                <a16:creationId xmlns:a16="http://schemas.microsoft.com/office/drawing/2014/main" id="{17FB3E60-6CD6-480A-97A7-50C38829233D}"/>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52636B"/>
                </a:solidFill>
                <a:latin typeface="Arial"/>
                <a:ea typeface="Arial"/>
                <a:cs typeface="Arial"/>
              </a:defRPr>
            </a:defPPr>
          </a:lstStyle>
          <a:p xmlns:a="http://schemas.openxmlformats.org/drawingml/2006/main">
            <a:pPr>
              <a:defRPr sz="1350" b="0">
                <a:solidFill>
                  <a:srgbClr val="52636B"/>
                </a:solidFill>
                <a:latin typeface="Arial"/>
                <a:ea typeface="Arial"/>
                <a:cs typeface="Arial"/>
              </a:defRPr>
            </a:pPr>
            <a:r>
              <a:rPr sz="1350" b="0">
                <a:solidFill>
                  <a:srgbClr val="52636B"/>
                </a:solidFill>
                <a:latin typeface="Arial"/>
                <a:ea typeface="Arial"/>
                <a:cs typeface="Arial"/>
              </a:rPr>
              <a:t>28</a:t>
            </a:r>
          </a:p>
        </p:txBody>
      </p:sp>
      <p:sp>
        <p:nvSpPr>
          <p:cNvPr id="3" name="">
            <a:extLst xmlns:a="http://schemas.openxmlformats.org/drawingml/2006/main">
              <a:ext uri="{FF2B5EF4-FFF2-40B4-BE49-F238E27FC236}">
                <a16:creationId xmlns:a16="http://schemas.microsoft.com/office/drawing/2014/main" id="{7B1296DA-D35F-4425-8427-662EF04536BD}"/>
              </a:ext>
            </a:extLst>
          </p:cNvPr>
          <p:cNvSpPr>
            <a:spLocks xmlns:a="http://schemas.openxmlformats.org/drawingml/2006/main" noGrp="1"/>
          </p:cNvSpPr>
          <p:nvPr/>
        </p:nvSpPr>
        <p:spPr>
          <a:xfrm xmlns:a="http://schemas.openxmlformats.org/drawingml/2006/main">
            <a:off x="619125" y="1762125"/>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Retain the demonstrated delivery and protection slice as E.1 evidence.</a:t>
            </a:r>
          </a:p>
        </p:txBody>
      </p:sp>
      <p:sp>
        <p:nvSpPr>
          <p:cNvPr id="4" name="">
            <a:extLst xmlns:a="http://schemas.openxmlformats.org/drawingml/2006/main">
              <a:ext uri="{FF2B5EF4-FFF2-40B4-BE49-F238E27FC236}">
                <a16:creationId xmlns:a16="http://schemas.microsoft.com/office/drawing/2014/main" id="{BEF2F16A-3261-4FF6-9EBA-317229C68741}"/>
              </a:ext>
            </a:extLst>
          </p:cNvPr>
          <p:cNvSpPr>
            <a:spLocks xmlns:a="http://schemas.openxmlformats.org/drawingml/2006/main" noGrp="1"/>
          </p:cNvSpPr>
          <p:nvPr/>
        </p:nvSpPr>
        <p:spPr>
          <a:xfrm xmlns:a="http://schemas.openxmlformats.org/drawingml/2006/main">
            <a:off x="619125" y="28575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Run one bounded Elaboration follow-up for concurrency, fencing and broader drift controls.</a:t>
            </a:r>
          </a:p>
        </p:txBody>
      </p:sp>
      <p:sp>
        <p:nvSpPr>
          <p:cNvPr id="5" name="">
            <a:extLst xmlns:a="http://schemas.openxmlformats.org/drawingml/2006/main">
              <a:ext uri="{FF2B5EF4-FFF2-40B4-BE49-F238E27FC236}">
                <a16:creationId xmlns:a16="http://schemas.microsoft.com/office/drawing/2014/main" id="{F0B71108-1BBF-48E0-A88E-5C19378BA2D3}"/>
              </a:ext>
            </a:extLst>
          </p:cNvPr>
          <p:cNvSpPr>
            <a:spLocks xmlns:a="http://schemas.openxmlformats.org/drawingml/2006/main" noGrp="1"/>
          </p:cNvSpPr>
          <p:nvPr/>
        </p:nvSpPr>
        <p:spPr>
          <a:xfrm xmlns:a="http://schemas.openxmlformats.org/drawingml/2006/main">
            <a:off x="619125" y="3952875"/>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72F3B"/>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172F3B"/>
                </a:solidFill>
                <a:latin typeface="Arial"/>
                <a:ea typeface="Arial"/>
                <a:cs typeface="Arial"/>
              </a:rPr>
              <a:t>Reassess Lifecycle Architecture before committing to full Construction.</a:t>
            </a:r>
          </a:p>
        </p:txBody>
      </p:sp>
      <p:sp>
        <p:nvSpPr>
          <p:cNvPr id="6" name="">
            <a:extLst xmlns:a="http://schemas.openxmlformats.org/drawingml/2006/main">
              <a:ext uri="{FF2B5EF4-FFF2-40B4-BE49-F238E27FC236}">
                <a16:creationId xmlns:a16="http://schemas.microsoft.com/office/drawing/2014/main" id="{3E218EE8-CBB3-4CA3-8271-05FD4D315674}"/>
              </a:ext>
            </a:extLst>
          </p:cNvPr>
          <p:cNvSpPr>
            <a:spLocks xmlns:a="http://schemas.openxmlformats.org/drawingml/2006/main" noGrp="1"/>
          </p:cNvSpPr>
          <p:nvPr/>
        </p:nvSpPr>
        <p:spPr>
          <a:xfrm xmlns:a="http://schemas.openxmlformats.org/drawingml/2006/main">
            <a:off x="619125" y="57150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52636B"/>
                </a:solidFill>
                <a:latin typeface="Arial"/>
                <a:ea typeface="Arial"/>
                <a:cs typeface="Arial"/>
              </a:defRPr>
            </a:defPPr>
          </a:lstStyle>
          <a:p xmlns:a="http://schemas.openxmlformats.org/drawingml/2006/main">
            <a:pPr>
              <a:defRPr sz="1800" b="0">
                <a:solidFill>
                  <a:srgbClr val="52636B"/>
                </a:solidFill>
                <a:latin typeface="Arial"/>
                <a:ea typeface="Arial"/>
                <a:cs typeface="Arial"/>
              </a:defRPr>
            </a:pPr>
            <a:r>
              <a:rPr sz="1800" b="0">
                <a:solidFill>
                  <a:srgbClr val="52636B"/>
                </a:solidFill>
                <a:latin typeface="Arial"/>
                <a:ea typeface="Arial"/>
                <a:cs typeface="Arial"/>
              </a:rPr>
              <a:t>A follow-up sprint and revised scope require Product Owner selection. No new sprint is activated here.</a:t>
            </a:r>
          </a:p>
        </p:txBody>
      </p:sp>
    </p:spTree>
    <p:extLst>
      <p:ext uri="{BB962C8B-B14F-4D97-AF65-F5344CB8AC3E}">
        <p14:creationId xmlns:p14="http://schemas.microsoft.com/office/powerpoint/2010/main" val="1807015777"/>
      </p:ext>
    </p:extLst>
  </p:cSld>
</p:sld>
</file>

<file path=ppt/slides/slide29.xml><?xml version="1.0" encoding="utf-8"?>
<p:sld xmlns:p="http://schemas.openxmlformats.org/presentationml/2006/main">
  <p:cSld>
    <p:bg>
      <p:bgPr>
        <a:solidFill xmlns:a="http://schemas.openxmlformats.org/drawingml/2006/main">
          <a:srgbClr val="172F3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E18BB7-C79E-4E09-999A-7800B26D0AD4}"/>
              </a:ext>
            </a:extLst>
          </p:cNvPr>
          <p:cNvSpPr>
            <a:spLocks xmlns:a="http://schemas.openxmlformats.org/drawingml/2006/main" noGrp="1"/>
          </p:cNvSpPr>
          <p:nvPr/>
        </p:nvSpPr>
        <p:spPr>
          <a:xfrm xmlns:a="http://schemas.openxmlformats.org/drawingml/2006/main">
            <a:off x="571500" y="4286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FFFFFF"/>
                </a:solidFill>
                <a:latin typeface="Arial"/>
                <a:ea typeface="Arial"/>
                <a:cs typeface="Arial"/>
              </a:defRPr>
            </a:defPPr>
          </a:lstStyle>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Product Owner review decision</a:t>
            </a:r>
          </a:p>
        </p:txBody>
      </p:sp>
      <p:sp>
        <p:nvSpPr>
          <p:cNvPr id="2" name="">
            <a:extLst xmlns:a="http://schemas.openxmlformats.org/drawingml/2006/main">
              <a:ext uri="{FF2B5EF4-FFF2-40B4-BE49-F238E27FC236}">
                <a16:creationId xmlns:a16="http://schemas.microsoft.com/office/drawing/2014/main" id="{2D68B889-18DD-4131-973B-C410009A013F}"/>
              </a:ext>
            </a:extLst>
          </p:cNvPr>
          <p:cNvSpPr>
            <a:spLocks xmlns:a="http://schemas.openxmlformats.org/drawingml/2006/main" noGrp="1"/>
          </p:cNvSpPr>
          <p:nvPr/>
        </p:nvSpPr>
        <p:spPr>
          <a:xfrm xmlns:a="http://schemas.openxmlformats.org/drawingml/2006/main">
            <a:off x="11239500" y="64484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8D7DC"/>
                </a:solidFill>
                <a:latin typeface="Arial"/>
                <a:ea typeface="Arial"/>
                <a:cs typeface="Arial"/>
              </a:defRPr>
            </a:defPPr>
          </a:lstStyle>
          <a:p xmlns:a="http://schemas.openxmlformats.org/drawingml/2006/main">
            <a:pPr>
              <a:defRPr sz="1350" b="0">
                <a:solidFill>
                  <a:srgbClr val="C8D7DC"/>
                </a:solidFill>
                <a:latin typeface="Arial"/>
                <a:ea typeface="Arial"/>
                <a:cs typeface="Arial"/>
              </a:defRPr>
            </a:pPr>
            <a:r>
              <a:rPr sz="1350" b="0">
                <a:solidFill>
                  <a:srgbClr val="C8D7DC"/>
                </a:solidFill>
                <a:latin typeface="Arial"/>
                <a:ea typeface="Arial"/>
                <a:cs typeface="Arial"/>
              </a:rPr>
              <a:t>29</a:t>
            </a:r>
          </a:p>
        </p:txBody>
      </p:sp>
      <p:sp>
        <p:nvSpPr>
          <p:cNvPr id="3" name="">
            <a:extLst xmlns:a="http://schemas.openxmlformats.org/drawingml/2006/main">
              <a:ext uri="{FF2B5EF4-FFF2-40B4-BE49-F238E27FC236}">
                <a16:creationId xmlns:a16="http://schemas.microsoft.com/office/drawing/2014/main" id="{79B81595-393F-42A7-BAA6-1A2FA4D58E43}"/>
              </a:ext>
            </a:extLst>
          </p:cNvPr>
          <p:cNvSpPr>
            <a:spLocks xmlns:a="http://schemas.openxmlformats.org/drawingml/2006/main" noGrp="1"/>
          </p:cNvSpPr>
          <p:nvPr/>
        </p:nvSpPr>
        <p:spPr>
          <a:xfrm xmlns:a="http://schemas.openxmlformats.org/drawingml/2006/main">
            <a:off x="619125" y="19050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FFFFFF"/>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FFFFFF"/>
                </a:solidFill>
                <a:latin typeface="Arial"/>
                <a:ea typeface="Arial"/>
                <a:cs typeface="Arial"/>
              </a:rPr>
              <a:t>Does the handover explain and demonstrate the selected A–I outcomes?</a:t>
            </a:r>
          </a:p>
        </p:txBody>
      </p:sp>
      <p:sp>
        <p:nvSpPr>
          <p:cNvPr id="4" name="">
            <a:extLst xmlns:a="http://schemas.openxmlformats.org/drawingml/2006/main">
              <a:ext uri="{FF2B5EF4-FFF2-40B4-BE49-F238E27FC236}">
                <a16:creationId xmlns:a16="http://schemas.microsoft.com/office/drawing/2014/main" id="{16568A1B-A79E-4CB4-B527-A98BE3531398}"/>
              </a:ext>
            </a:extLst>
          </p:cNvPr>
          <p:cNvSpPr>
            <a:spLocks xmlns:a="http://schemas.openxmlformats.org/drawingml/2006/main" noGrp="1"/>
          </p:cNvSpPr>
          <p:nvPr/>
        </p:nvSpPr>
        <p:spPr>
          <a:xfrm xmlns:a="http://schemas.openxmlformats.org/drawingml/2006/main">
            <a:off x="619125" y="3000375"/>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FFFFFF"/>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FFFFFF"/>
                </a:solidFill>
                <a:latin typeface="Arial"/>
                <a:ea typeface="Arial"/>
                <a:cs typeface="Arial"/>
              </a:rPr>
              <a:t>Should the current manual edit be restored or retained for Git review?</a:t>
            </a:r>
          </a:p>
        </p:txBody>
      </p:sp>
      <p:sp>
        <p:nvSpPr>
          <p:cNvPr id="5" name="">
            <a:extLst xmlns:a="http://schemas.openxmlformats.org/drawingml/2006/main">
              <a:ext uri="{FF2B5EF4-FFF2-40B4-BE49-F238E27FC236}">
                <a16:creationId xmlns:a16="http://schemas.microsoft.com/office/drawing/2014/main" id="{E8D794CC-F872-4D1B-A0A2-C670E75BDB26}"/>
              </a:ext>
            </a:extLst>
          </p:cNvPr>
          <p:cNvSpPr>
            <a:spLocks xmlns:a="http://schemas.openxmlformats.org/drawingml/2006/main" noGrp="1"/>
          </p:cNvSpPr>
          <p:nvPr/>
        </p:nvSpPr>
        <p:spPr>
          <a:xfrm xmlns:a="http://schemas.openxmlformats.org/drawingml/2006/main">
            <a:off x="619125" y="409575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FFFFFF"/>
                </a:solidFill>
                <a:latin typeface="Arial"/>
                <a:ea typeface="Arial"/>
                <a:cs typeface="Arial"/>
              </a:defRPr>
            </a:defPPr>
          </a:lstStyle>
          <a:p xmlns:a="http://schemas.openxmlformats.org/drawingml/2006/main">
            <a:pPr>
              <a:defRPr sz="2325" b="0">
                <a:solidFill>
                  <a:srgbClr val="172F3B"/>
                </a:solidFill>
                <a:latin typeface="Arial"/>
                <a:ea typeface="Arial"/>
                <a:cs typeface="Arial"/>
              </a:defRPr>
            </a:pPr>
            <a:r>
              <a:rPr sz="2325" b="0">
                <a:solidFill>
                  <a:srgbClr val="FFFFFF"/>
                </a:solidFill>
                <a:latin typeface="Arial"/>
                <a:ea typeface="Arial"/>
                <a:cs typeface="Arial"/>
              </a:rPr>
              <a:t>Which remaining proofs should the next Elaboration increment prioritize?</a:t>
            </a:r>
          </a:p>
        </p:txBody>
      </p:sp>
      <p:sp>
        <p:nvSpPr>
          <p:cNvPr id="6" name="">
            <a:extLst xmlns:a="http://schemas.openxmlformats.org/drawingml/2006/main">
              <a:ext uri="{FF2B5EF4-FFF2-40B4-BE49-F238E27FC236}">
                <a16:creationId xmlns:a16="http://schemas.microsoft.com/office/drawing/2014/main" id="{AE758669-EE60-4667-9317-96AE559D6A40}"/>
              </a:ext>
            </a:extLst>
          </p:cNvPr>
          <p:cNvSpPr>
            <a:spLocks xmlns:a="http://schemas.openxmlformats.org/drawingml/2006/main" noGrp="1"/>
          </p:cNvSpPr>
          <p:nvPr/>
        </p:nvSpPr>
        <p:spPr>
          <a:xfrm xmlns:a="http://schemas.openxmlformats.org/drawingml/2006/main">
            <a:off x="619125" y="58102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DCE7EB"/>
                </a:solidFill>
                <a:latin typeface="Arial"/>
                <a:ea typeface="Arial"/>
                <a:cs typeface="Arial"/>
              </a:defRPr>
            </a:defPPr>
          </a:lstStyle>
          <a:p xmlns:a="http://schemas.openxmlformats.org/drawingml/2006/main">
            <a:pPr>
              <a:defRPr sz="2175" b="1">
                <a:solidFill>
                  <a:srgbClr val="DCE7EB"/>
                </a:solidFill>
                <a:latin typeface="Arial"/>
                <a:ea typeface="Arial"/>
                <a:cs typeface="Arial"/>
              </a:defRPr>
            </a:pPr>
            <a:r>
              <a:rPr sz="2175" b="1">
                <a:solidFill>
                  <a:srgbClr val="DCE7EB"/>
                </a:solidFill>
                <a:latin typeface="Arial"/>
                <a:ea typeface="Arial"/>
                <a:cs typeface="Arial"/>
              </a:rPr>
              <a:t>E.1 remains open pending review and scope decisions</a:t>
            </a:r>
          </a:p>
        </p:txBody>
      </p:sp>
    </p:spTree>
    <p:extLst>
      <p:ext uri="{BB962C8B-B14F-4D97-AF65-F5344CB8AC3E}">
        <p14:creationId xmlns:p14="http://schemas.microsoft.com/office/powerpoint/2010/main" val="18319249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2026-10-18T18:37:06.3610000Z</dcterms:created>
  <dcterms:modified xsi:type="dcterms:W3CDTF">2026-10-18T18:37:06.3610000Z</dcterms:modified>
</coreProperties>
</file>
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adfa6e29448cd" /><Relationship Type="http://schemas.openxmlformats.org/officeDocument/2006/relationships/extended-properties" Target="/docProps/app.xml" Id="R2cbb2e5b27d44cad" /><Relationship Type="http://schemas.openxmlformats.org/officeDocument/2006/relationships/officeDocument" Target="/ppt/presentation.xml" Id="Rece461031cc4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553cf85b174641"/>
  </p:sldMasterIdLst>
  <p:notesMasterIdLst>
    <p:notesMasterId xmlns:r="http://schemas.openxmlformats.org/officeDocument/2006/relationships" r:id="Rc1c6e580f30540ab"/>
  </p:notesMasterIdLst>
  <p:sldIdLst>
    <p:sldId xmlns:r="http://schemas.openxmlformats.org/officeDocument/2006/relationships" id="256" r:id="Rf8b2647398af4b2b"/>
    <p:sldId xmlns:r="http://schemas.openxmlformats.org/officeDocument/2006/relationships" id="257" r:id="R4cebc6cbe21243d3"/>
    <p:sldId xmlns:r="http://schemas.openxmlformats.org/officeDocument/2006/relationships" id="258" r:id="R8a11beaadf3e4e38"/>
    <p:sldId xmlns:r="http://schemas.openxmlformats.org/officeDocument/2006/relationships" id="259" r:id="R401da61e66b7493a"/>
    <p:sldId xmlns:r="http://schemas.openxmlformats.org/officeDocument/2006/relationships" id="260" r:id="R4bc3121ff00145c0"/>
    <p:sldId xmlns:r="http://schemas.openxmlformats.org/officeDocument/2006/relationships" id="261" r:id="R7ff4d8f7444d4b12"/>
    <p:sldId xmlns:r="http://schemas.openxmlformats.org/officeDocument/2006/relationships" id="262" r:id="R49bdc2fef333448c"/>
    <p:sldId xmlns:r="http://schemas.openxmlformats.org/officeDocument/2006/relationships" id="263" r:id="R907f57bf96f2456a"/>
    <p:sldId xmlns:r="http://schemas.openxmlformats.org/officeDocument/2006/relationships" id="264" r:id="R04f48b0a8bca4257"/>
    <p:sldId xmlns:r="http://schemas.openxmlformats.org/officeDocument/2006/relationships" id="265" r:id="R78509f1131aa49eb"/>
    <p:sldId xmlns:r="http://schemas.openxmlformats.org/officeDocument/2006/relationships" id="266" r:id="Re7098496153740b7"/>
    <p:sldId xmlns:r="http://schemas.openxmlformats.org/officeDocument/2006/relationships" id="267" r:id="Rb6c84f8b78814796"/>
    <p:sldId xmlns:r="http://schemas.openxmlformats.org/officeDocument/2006/relationships" id="268" r:id="Ra3b56cc830034b37"/>
    <p:sldId xmlns:r="http://schemas.openxmlformats.org/officeDocument/2006/relationships" id="269" r:id="R3be9511886fa491d"/>
    <p:sldId xmlns:r="http://schemas.openxmlformats.org/officeDocument/2006/relationships" id="270" r:id="R360e8ee28c9e4052"/>
    <p:sldId xmlns:r="http://schemas.openxmlformats.org/officeDocument/2006/relationships" id="271" r:id="R5559d9de9f834246"/>
    <p:sldId xmlns:r="http://schemas.openxmlformats.org/officeDocument/2006/relationships" id="272" r:id="R6e2d4774dd454e8b"/>
    <p:sldId xmlns:r="http://schemas.openxmlformats.org/officeDocument/2006/relationships" id="273" r:id="Rf2cb9ccc980745f7"/>
    <p:sldId xmlns:r="http://schemas.openxmlformats.org/officeDocument/2006/relationships" id="274" r:id="Rbee9485e4a5a4004"/>
    <p:sldId xmlns:r="http://schemas.openxmlformats.org/officeDocument/2006/relationships" id="275" r:id="R6a408d830922415a"/>
    <p:sldId xmlns:r="http://schemas.openxmlformats.org/officeDocument/2006/relationships" id="276" r:id="R3ead09aecb564252"/>
    <p:sldId xmlns:r="http://schemas.openxmlformats.org/officeDocument/2006/relationships" id="277" r:id="R05e05be17a3b4026"/>
    <p:sldId xmlns:r="http://schemas.openxmlformats.org/officeDocument/2006/relationships" id="278" r:id="Ra7ccac94b2d54251"/>
    <p:sldId xmlns:r="http://schemas.openxmlformats.org/officeDocument/2006/relationships" id="279" r:id="Rde0bc5f2f4db45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a7f01d63d4c28" /><Relationship Type="http://schemas.openxmlformats.org/officeDocument/2006/relationships/slideMaster" Target="/ppt/slideMasters/slideMaster1.xml" Id="Rbf553cf85b174641" /><Relationship Type="http://schemas.openxmlformats.org/officeDocument/2006/relationships/notesMaster" Target="/ppt/notesMasters/notesMaster1.xml" Id="Rc1c6e580f30540ab" /><Relationship Type="http://schemas.openxmlformats.org/officeDocument/2006/relationships/presProps" Target="/ppt/presProps.xml" Id="R9764566c6d08405a" /><Relationship Type="http://schemas.openxmlformats.org/officeDocument/2006/relationships/tableStyles" Target="/ppt/tableStyles.xml" Id="R24edec422db44248" /><Relationship Type="http://schemas.openxmlformats.org/officeDocument/2006/relationships/slide" Target="/ppt/slides/slide1.xml" Id="Rf8b2647398af4b2b" /><Relationship Type="http://schemas.openxmlformats.org/officeDocument/2006/relationships/slide" Target="/ppt/slides/slide2.xml" Id="R4cebc6cbe21243d3" /><Relationship Type="http://schemas.openxmlformats.org/officeDocument/2006/relationships/slide" Target="/ppt/slides/slide3.xml" Id="R8a11beaadf3e4e38" /><Relationship Type="http://schemas.openxmlformats.org/officeDocument/2006/relationships/slide" Target="/ppt/slides/slide4.xml" Id="R401da61e66b7493a" /><Relationship Type="http://schemas.openxmlformats.org/officeDocument/2006/relationships/slide" Target="/ppt/slides/slide5.xml" Id="R4bc3121ff00145c0" /><Relationship Type="http://schemas.openxmlformats.org/officeDocument/2006/relationships/slide" Target="/ppt/slides/slide6.xml" Id="R7ff4d8f7444d4b12" /><Relationship Type="http://schemas.openxmlformats.org/officeDocument/2006/relationships/slide" Target="/ppt/slides/slide7.xml" Id="R49bdc2fef333448c" /><Relationship Type="http://schemas.openxmlformats.org/officeDocument/2006/relationships/slide" Target="/ppt/slides/slide8.xml" Id="R907f57bf96f2456a" /><Relationship Type="http://schemas.openxmlformats.org/officeDocument/2006/relationships/slide" Target="/ppt/slides/slide9.xml" Id="R04f48b0a8bca4257" /><Relationship Type="http://schemas.openxmlformats.org/officeDocument/2006/relationships/slide" Target="/ppt/slides/slide10.xml" Id="R78509f1131aa49eb" /><Relationship Type="http://schemas.openxmlformats.org/officeDocument/2006/relationships/slide" Target="/ppt/slides/slide11.xml" Id="Re7098496153740b7" /><Relationship Type="http://schemas.openxmlformats.org/officeDocument/2006/relationships/slide" Target="/ppt/slides/slide12.xml" Id="Rb6c84f8b78814796" /><Relationship Type="http://schemas.openxmlformats.org/officeDocument/2006/relationships/slide" Target="/ppt/slides/slide13.xml" Id="Ra3b56cc830034b37" /><Relationship Type="http://schemas.openxmlformats.org/officeDocument/2006/relationships/slide" Target="/ppt/slides/slide14.xml" Id="R3be9511886fa491d" /><Relationship Type="http://schemas.openxmlformats.org/officeDocument/2006/relationships/slide" Target="/ppt/slides/slide15.xml" Id="R360e8ee28c9e4052" /><Relationship Type="http://schemas.openxmlformats.org/officeDocument/2006/relationships/slide" Target="/ppt/slides/slide16.xml" Id="R5559d9de9f834246" /><Relationship Type="http://schemas.openxmlformats.org/officeDocument/2006/relationships/slide" Target="/ppt/slides/slide17.xml" Id="R6e2d4774dd454e8b" /><Relationship Type="http://schemas.openxmlformats.org/officeDocument/2006/relationships/slide" Target="/ppt/slides/slide18.xml" Id="Rf2cb9ccc980745f7" /><Relationship Type="http://schemas.openxmlformats.org/officeDocument/2006/relationships/slide" Target="/ppt/slides/slide19.xml" Id="Rbee9485e4a5a4004" /><Relationship Type="http://schemas.openxmlformats.org/officeDocument/2006/relationships/slide" Target="/ppt/slides/slide20.xml" Id="R6a408d830922415a" /><Relationship Type="http://schemas.openxmlformats.org/officeDocument/2006/relationships/slide" Target="/ppt/slides/slide21.xml" Id="R3ead09aecb564252" /><Relationship Type="http://schemas.openxmlformats.org/officeDocument/2006/relationships/slide" Target="/ppt/slides/slide22.xml" Id="R05e05be17a3b4026" /><Relationship Type="http://schemas.openxmlformats.org/officeDocument/2006/relationships/slide" Target="/ppt/slides/slide23.xml" Id="Ra7ccac94b2d54251" /><Relationship Type="http://schemas.openxmlformats.org/officeDocument/2006/relationships/slide" Target="/ppt/slides/slide24.xml" Id="Rde0bc5f2f4db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f4c60412fa49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60448b7f14009" /><Relationship Type="http://schemas.openxmlformats.org/officeDocument/2006/relationships/notesMaster" Target="/ppt/notesMasters/notesMaster1.xml" Id="R7c2f3e9c3c1b40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5d879d343b426f" /><Relationship Type="http://schemas.openxmlformats.org/officeDocument/2006/relationships/notesMaster" Target="/ppt/notesMasters/notesMaster1.xml" Id="Rc084128b117f48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de9a32d5f34318" /><Relationship Type="http://schemas.openxmlformats.org/officeDocument/2006/relationships/notesMaster" Target="/ppt/notesMasters/notesMaster1.xml" Id="Ra6bc4abad93f41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f2a788eb444e5" /><Relationship Type="http://schemas.openxmlformats.org/officeDocument/2006/relationships/notesMaster" Target="/ppt/notesMasters/notesMaster1.xml" Id="Re4c22ff0754b4f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757725af954600" /><Relationship Type="http://schemas.openxmlformats.org/officeDocument/2006/relationships/notesMaster" Target="/ppt/notesMasters/notesMaster1.xml" Id="R4c4dea366742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ae7a6982e4c88" /><Relationship Type="http://schemas.openxmlformats.org/officeDocument/2006/relationships/notesMaster" Target="/ppt/notesMasters/notesMaster1.xml" Id="R0169d38231a344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7a0e53e2604042" /><Relationship Type="http://schemas.openxmlformats.org/officeDocument/2006/relationships/notesMaster" Target="/ppt/notesMasters/notesMaster1.xml" Id="R163b89823a5141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2ca4740a9c4bb8" /><Relationship Type="http://schemas.openxmlformats.org/officeDocument/2006/relationships/notesMaster" Target="/ppt/notesMasters/notesMaster1.xml" Id="Rb7c58f0e220245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162216d0de4af6" /><Relationship Type="http://schemas.openxmlformats.org/officeDocument/2006/relationships/notesMaster" Target="/ppt/notesMasters/notesMaster1.xml" Id="Re84a0390766a4e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fa79a899a42b0" /><Relationship Type="http://schemas.openxmlformats.org/officeDocument/2006/relationships/notesMaster" Target="/ppt/notesMasters/notesMaster1.xml" Id="R40045783612c46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9f5853ef0a4234" /><Relationship Type="http://schemas.openxmlformats.org/officeDocument/2006/relationships/notesMaster" Target="/ppt/notesMasters/notesMaster1.xml" Id="R5f390cf885d644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1cc5df33d94261" /><Relationship Type="http://schemas.openxmlformats.org/officeDocument/2006/relationships/notesMaster" Target="/ppt/notesMasters/notesMaster1.xml" Id="R0d6858fa29534a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1d143df39b4f6e" /><Relationship Type="http://schemas.openxmlformats.org/officeDocument/2006/relationships/notesMaster" Target="/ppt/notesMasters/notesMaster1.xml" Id="Ra498b1890dc04e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acdd2ff338f46b5" /><Relationship Type="http://schemas.openxmlformats.org/officeDocument/2006/relationships/notesMaster" Target="/ppt/notesMasters/notesMaster1.xml" Id="R622c079642ea4e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f7794f087844d4" /><Relationship Type="http://schemas.openxmlformats.org/officeDocument/2006/relationships/notesMaster" Target="/ppt/notesMasters/notesMaster1.xml" Id="Reae223725cd44c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25882b9d484a58" /><Relationship Type="http://schemas.openxmlformats.org/officeDocument/2006/relationships/notesMaster" Target="/ppt/notesMasters/notesMaster1.xml" Id="R6dedb3f4160349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596a94499c4ea5" /><Relationship Type="http://schemas.openxmlformats.org/officeDocument/2006/relationships/notesMaster" Target="/ppt/notesMasters/notesMaster1.xml" Id="R6d2048bd064c440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8835183fcd4419e" /><Relationship Type="http://schemas.openxmlformats.org/officeDocument/2006/relationships/notesMaster" Target="/ppt/notesMasters/notesMaster1.xml" Id="R30107e7466964f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bcb75b37d44445" /><Relationship Type="http://schemas.openxmlformats.org/officeDocument/2006/relationships/notesMaster" Target="/ppt/notesMasters/notesMaster1.xml" Id="R76828d40f58142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bbd4b6ad5549f2" /><Relationship Type="http://schemas.openxmlformats.org/officeDocument/2006/relationships/notesMaster" Target="/ppt/notesMasters/notesMaster1.xml" Id="Re68826b053ad478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2d9e533c464707" /><Relationship Type="http://schemas.openxmlformats.org/officeDocument/2006/relationships/notesMaster" Target="/ppt/notesMasters/notesMaster1.xml" Id="R698647ef9dd54c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5e65c529034f44" /><Relationship Type="http://schemas.openxmlformats.org/officeDocument/2006/relationships/notesMaster" Target="/ppt/notesMasters/notesMaster1.xml" Id="R6f9b10d14b8e4b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95c307c19b402e" /><Relationship Type="http://schemas.openxmlformats.org/officeDocument/2006/relationships/notesMaster" Target="/ppt/notesMasters/notesMaster1.xml" Id="Rf731984dca7d4c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d5ddb7216db426f" /><Relationship Type="http://schemas.openxmlformats.org/officeDocument/2006/relationships/notesMaster" Target="/ppt/notesMasters/notesMaster1.xml" Id="R7cef1734fd724c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progress/E.1/sprint_E.1_design.md; config/areas.json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progress/E.1/model.drawio; progress/E.1/repo_layout.md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'lifecycle', cells dev, git, q, t, packager, build, qarchive, same. Source SHA256 317050eb8f9705de970d64cf1f3f81a1b58a8cdf976ef7239e7c66b2087c0ffe. Full cell labels: dev: Development — A/B/C</a:t>
            </a:r>
          </a:p>
          <a:p xmlns:a="http://schemas.openxmlformats.org/drawingml/2006/main">
            <a:r>
              <a:t>git: Shared source and package</a:t>
            </a:r>
          </a:p>
          <a:p xmlns:a="http://schemas.openxmlformats.org/drawingml/2006/main">
            <a:r>
              <a:t>q: D — integration_test · 810004</a:t>
            </a:r>
          </a:p>
          <a:p xmlns:a="http://schemas.openxmlformats.org/drawingml/2006/main">
            <a:r>
              <a:t>t: E — user_acceptance_test · 810005</a:t>
            </a:r>
          </a:p>
          <a:p xmlns:a="http://schemas.openxmlformats.org/drawingml/2006/main">
            <a:r>
              <a:t>build: Development team releases package</a:t>
            </a:r>
          </a:p>
          <a:p xmlns:a="http://schemas.openxmlformats.org/drawingml/2006/main">
            <a:r>
              <a:t>Accepted Git + candidate evidence</a:t>
            </a:r>
          </a:p>
          <a:p xmlns:a="http://schemas.openxmlformats.org/drawingml/2006/main">
            <a:r>
              <a:t>Build once: archive, manifest, SHA-256</a:t>
            </a:r>
          </a:p>
          <a:p xmlns:a="http://schemas.openxmlformats.org/drawingml/2006/main">
            <a:r>
              <a:t>qarchive: Install and qualify this exact archive</a:t>
            </a:r>
          </a:p>
          <a:p xmlns:a="http://schemas.openxmlformats.org/drawingml/2006/main">
            <a:r>
              <a:t>No developer business data copied</a:t>
            </a:r>
          </a:p>
          <a:p xmlns:a="http://schemas.openxmlformats.org/drawingml/2006/main">
            <a:r>
              <a:t>same: Promote the SAME qualified archive</a:t>
            </a:r>
          </a:p>
          <a:p xmlns:a="http://schemas.openxmlformats.org/drawingml/2006/main">
            <a:r>
              <a:t>Require its successful integration_test receipt</a:t>
            </a:r>
          </a:p>
          <a:p xmlns:a="http://schemas.openxmlformats.org/drawingml/2006/main">
            <a:r>
              <a:t>packager: Packager / verifier — A-02</a:t>
            </a:r>
          </a:p>
          <a:p xmlns:a="http://schemas.openxmlformats.org/drawingml/2006/main">
            <a:r>
              <a:t>Development team</a:t>
            </a:r>
          </a:p>
          <a:p xmlns:a="http://schemas.openxmlformats.org/drawingml/2006/main">
            <a:r>
              <a:t>Smoke-check C → release reviewed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progress/E.1/model.drawio; docs/architecture.md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'lifecycle', cells f, h, w, hf, wf. Source SHA256 317050eb8f9705de970d64cf1f3f81a1b58a8cdf976ef7239e7c66b2087c0ffe. Full cell labels: f: Foundation</a:t>
            </a:r>
          </a:p>
          <a:p xmlns:a="http://schemas.openxmlformats.org/drawingml/2006/main">
            <a:r>
              <a:t>h: Hello</a:t>
            </a:r>
          </a:p>
          <a:p xmlns:a="http://schemas.openxmlformats.org/drawingml/2006/main">
            <a:r>
              <a:t>w: World</a:t>
            </a:r>
          </a:p>
          <a:p xmlns:a="http://schemas.openxmlformats.org/drawingml/2006/main">
            <a:r>
              <a:t>hf: </a:t>
            </a:r>
          </a:p>
          <a:p xmlns:a="http://schemas.openxmlformats.org/drawingml/2006/main">
            <a:r>
              <a:t>wf: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docs/architecture.md;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deploy/operator/capture.sql; deploy/operator/import.sql; docs/architecture.md; scripts/cicd-drift-diff.py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Capture uses apex export -applicationid with -split -skipExportDate -expOriginalIds -expSupportingObjects N and a staging -dir. Import sets workspace, application ID, schema, alias and supported offset context before executing native exported install.sql. APEX_EXPORT.GET_APPLICATION with CHECKSUM-SH256 fingerprints live APEX metadata. ORDS serves runtime HTTP; it is not the release deployment API. APEX export is application metadata, not business data or a database schema migration. Working Copies remain a candidate break-glass option in the architecture; this prototype does not validate their compare/merge workflow. Team Development is not the CI/CD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docs/deploy.md;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Full commands, credentials, separate area provisioning and developer login setup are in companion Markdown stage 2. Infrastructure initialization cannot create project schemas. This is a previously rehearsed destructive fresh-start path, not a new run performed for this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progress/E.1/cicd-walkthrough.md; progress/E.1/model.drawio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'lifecycle', cells devnote, a, b, c, f, h, w, devcheck. Source SHA256 317050eb8f9705de970d64cf1f3f81a1b58a8cdf976ef7239e7c66b2087c0ffe. Full cell labels: devnote: Private schemas/workspaces/apps on one host.</a:t>
            </a:r>
          </a:p>
          <a:p xmlns:a="http://schemas.openxmlformats.org/drawingml/2006/main">
            <a:r>
              <a:t>A: Foundation · B: + Hello · C: complete assembly.</a:t>
            </a:r>
          </a:p>
          <a:p xmlns:a="http://schemas.openxmlformats.org/drawingml/2006/main">
            <a:r>
              <a:t>Hello and World both depend on Foundation.</a:t>
            </a:r>
          </a:p>
          <a:p xmlns:a="http://schemas.openxmlformats.org/drawingml/2006/main">
            <a:r>
              <a:t>No World → Hello dependency; no shared editing area.</a:t>
            </a:r>
          </a:p>
          <a:p xmlns:a="http://schemas.openxmlformats.org/drawingml/2006/main">
            <a:r>
              <a:t>a: A</a:t>
            </a:r>
          </a:p>
          <a:p xmlns:a="http://schemas.openxmlformats.org/drawingml/2006/main">
            <a:r>
              <a:t>b: B</a:t>
            </a:r>
          </a:p>
          <a:p xmlns:a="http://schemas.openxmlformats.org/drawingml/2006/main">
            <a:r>
              <a:t>c: C</a:t>
            </a:r>
          </a:p>
          <a:p xmlns:a="http://schemas.openxmlformats.org/drawingml/2006/main">
            <a:r>
              <a:t>f: Foundation</a:t>
            </a:r>
          </a:p>
          <a:p xmlns:a="http://schemas.openxmlformats.org/drawingml/2006/main">
            <a:r>
              <a:t>h: Hello</a:t>
            </a:r>
          </a:p>
          <a:p xmlns:a="http://schemas.openxmlformats.org/drawingml/2006/main">
            <a:r>
              <a:t>w: World</a:t>
            </a:r>
          </a:p>
          <a:p xmlns:a="http://schemas.openxmlformats.org/drawingml/2006/main">
            <a:r>
              <a:t>devcheck: Development team / Packager smoke check</a:t>
            </a:r>
          </a:p>
          <a:p xmlns:a="http://schemas.openxmlformats.org/drawingml/2006/main">
            <a:r>
              <a:t>Uses VERIFIER in C application 810003</a:t>
            </a:r>
          </a:p>
          <a:p xmlns:a="http://schemas.openxmlformats.org/drawingml/2006/main">
            <a:r>
              <a:t>Passing opens C to LAB_USER, not user_acceptance_test</a:t>
            </a:r>
          </a:p>
          <a:p xmlns:a="http://schemas.openxmlformats.org/drawingml/2006/main">
            <a:r>
              <a:t>This walkthrough replays reviewed sequential source checkpoints. Real concurrent Hello/World development is not proved by A–C. C uses independent Hello/World selectors; configure defaults when using the default greeting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progress/E.1/model.drawio; scripts/cicd-walkthrough-D_integration_test.sh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'D integration_test', cells step2, step3, step4, step5, step6. Source SHA256 317050eb8f9705de970d64cf1f3f81a1b58a8cdf976ef7239e7c66b2087c0ffe. Full cell labels: step2: 2. Select + inspect archive</a:t>
            </a:r>
          </a:p>
          <a:p xmlns:a="http://schemas.openxmlformats.org/drawingml/2006/main">
            <a:r>
              <a:t>initial-selected.txt → immutable reviewed 1.0.0 archive.</a:t>
            </a:r>
          </a:p>
          <a:p xmlns:a="http://schemas.openxmlformats.org/drawingml/2006/main">
            <a:r>
              <a:t>Check SHA-256, members, manifest and source/candidate identity.</a:t>
            </a:r>
          </a:p>
          <a:p xmlns:a="http://schemas.openxmlformats.org/drawingml/2006/main">
            <a:r>
              <a:t>step3: 3. Read status</a:t>
            </a:r>
          </a:p>
          <a:p xmlns:a="http://schemas.openxmlformats.org/drawingml/2006/main">
            <a:r>
              <a:t>Archive controller: status. Read current integration_test epoch.</a:t>
            </a:r>
          </a:p>
          <a:p xmlns:a="http://schemas.openxmlformats.org/drawingml/2006/main">
            <a:r>
              <a:t>step4: 4. Admit empty target</a:t>
            </a:r>
          </a:p>
          <a:p xmlns:a="http://schemas.openxmlformats.org/drawingml/2006/main">
            <a:r>
              <a:t>Prompt → admit with expected epoch.</a:t>
            </a:r>
          </a:p>
          <a:p xmlns:a="http://schemas.openxmlformats.org/drawingml/2006/main">
            <a:r>
              <a:t>Record ownership/attempt; advance epoch; runtime remains gated.</a:t>
            </a:r>
          </a:p>
          <a:p xmlns:a="http://schemas.openxmlformats.org/drawingml/2006/main">
            <a:r>
              <a:t>step5: 5. Migrate</a:t>
            </a:r>
          </a:p>
          <a:p xmlns:a="http://schemas.openxmlformats.org/drawingml/2006/main">
            <a:r>
              <a:t>Prompt → migrate. SQLcl Liquibase validate → update → status.</a:t>
            </a:r>
          </a:p>
          <a:p xmlns:a="http://schemas.openxmlformats.org/drawingml/2006/main">
            <a:r>
              <a:t>Initial archive migrations 001–004, not checkout patch migrations.</a:t>
            </a:r>
          </a:p>
          <a:p xmlns:a="http://schemas.openxmlformats.org/drawingml/2006/main">
            <a:r>
              <a:t>step6: 6. Import</a:t>
            </a:r>
          </a:p>
          <a:p xmlns:a="http://schemas.openxmlformats.org/drawingml/2006/main">
            <a:r>
              <a:t>Prompt → import native split source into app 810004.</a:t>
            </a:r>
          </a:p>
          <a:p xmlns:a="http://schemas.openxmlformats.org/drawingml/2006/main">
            <a:r>
              <a:t>Map E1_INTEGRATION; assert ordinary runtime is still blocked.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progress/E.1/model.drawio; deploy/operator/publish_initial.sql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'D integration_test', cells step7, step8, step9, step10, step11, step12, step14. Source SHA256 317050eb8f9705de970d64cf1f3f81a1b58a8cdf976ef7239e7c66b2087c0ffe. Full cell labels: step7: 7. Units + integrity</a:t>
            </a:r>
          </a:p>
          <a:p xmlns:a="http://schemas.openxmlformats.org/drawingml/2006/main">
            <a:r>
              <a:t>Prompt → units. Versions/pages/compilation, composition/history.</a:t>
            </a:r>
          </a:p>
          <a:p xmlns:a="http://schemas.openxmlformats.org/drawingml/2006/main">
            <a:r>
              <a:t>Transactional unit fixtures roll back.</a:t>
            </a:r>
          </a:p>
          <a:p xmlns:a="http://schemas.openxmlformats.org/drawingml/2006/main">
            <a:r>
              <a:t>step8: 8. Enable verification</a:t>
            </a:r>
          </a:p>
          <a:p xmlns:a="http://schemas.openxmlformats.org/drawingml/2006/main">
            <a:r>
              <a:t>Prompt → verify. Integrity + no packaged business data.</a:t>
            </a:r>
          </a:p>
          <a:p xmlns:a="http://schemas.openxmlformats.org/drawingml/2006/main">
            <a:r>
              <a:t>Allow VERIFIER; mark attempt verifying. Browser test is next.</a:t>
            </a:r>
          </a:p>
          <a:p xmlns:a="http://schemas.openxmlformats.org/drawingml/2006/main">
            <a:r>
              <a:t>step9: 9. Retrieve VERIFIER password</a:t>
            </a:r>
          </a:p>
          <a:p xmlns:a="http://schemas.openxmlformats.org/drawingml/2006/main">
            <a:r>
              <a:t>Second terminal: python3 scripts/cicd-password.py VERIFIER</a:t>
            </a:r>
          </a:p>
          <a:p xmlns:a="http://schemas.openxmlformats.org/drawingml/2006/main">
            <a:r>
              <a:t>step10: 10. Browser as VERIFIER</a:t>
            </a:r>
          </a:p>
          <a:p xmlns:a="http://schemas.openxmlformats.org/drawingml/2006/main">
            <a:r>
              <a:t>integration_test URL: create Hello/World, configure defaults,</a:t>
            </a:r>
          </a:p>
          <a:p xmlns:a="http://schemas.openxmlformats.org/drawingml/2006/main">
            <a:r>
              <a:t>save Hello World and refresh history. Leave CLI waiting.</a:t>
            </a:r>
          </a:p>
          <a:p xmlns:a="http://schemas.openxmlformats.org/drawingml/2006/main">
            <a:r>
              <a:t>step11: 11. Publish integration_test</a:t>
            </a:r>
          </a:p>
          <a:p xmlns:a="http://schemas.openxmlformats.org/drawingml/2006/main">
            <a:r>
              <a:t>Continue CLI. Require saved VERIFIER snapshot; prepare native</a:t>
            </a:r>
          </a:p>
          <a:p xmlns:a="http://schemas.openxmlformats.org/drawingml/2006/main">
            <a:r>
              <a:t>availability; fingerprint; commit ready gate + success receipt.</a:t>
            </a:r>
          </a:p>
          <a:p xmlns:a="http://schemas.openxmlformats.org/drawingml/2006/main">
            <a:r>
              <a:t>step12: 12. Check result</a:t>
            </a:r>
          </a:p>
          <a:p xmlns:a="http://schemas.openxmlformats.org/drawingml/2006/main">
            <a:r>
              <a:t>Ready state, versions, same archive hash and matching live</a:t>
            </a:r>
          </a:p>
          <a:p xmlns:a="http://schemas.openxmlformats.org/drawingml/2006/main">
            <a:r>
              <a:t>fingerprint. Mark D complete only after result succeeds.</a:t>
            </a:r>
          </a:p>
          <a:p xmlns:a="http://schemas.openxmlformats.org/drawingml/2006/main">
            <a:r>
              <a:t>step14: 14. Browser as LAB_USER</a:t>
            </a:r>
          </a:p>
          <a:p xmlns:a="http://schemas.openxmlformats.org/drawingml/2006/main">
            <a:r>
              <a:t>Sign out of VERIFIER; use integration_test app; create a greeting</a:t>
            </a:r>
          </a:p>
          <a:p xmlns:a="http://schemas.openxmlformats.org/drawingml/2006/main">
            <a:r>
              <a:t>and refresh history. Confirm ordinary access after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scripts/cicd-walkthrough-E_promotion.sh; progress/E.1/tests/environment_rename_20261018.txt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Editable presentation adaptation of model.drawio page 'lifecycle', cells qarchive, same, retain. Source SHA256 317050eb8f9705de970d64cf1f3f81a1b58a8cdf976ef7239e7c66b2087c0ffe. Full cell labels: qarchive: Install and qualify this exact archive</a:t>
            </a:r>
          </a:p>
          <a:p xmlns:a="http://schemas.openxmlformats.org/drawingml/2006/main">
            <a:r>
              <a:t>No developer business data copied</a:t>
            </a:r>
          </a:p>
          <a:p xmlns:a="http://schemas.openxmlformats.org/drawingml/2006/main">
            <a:r>
              <a:t>retain: Normal upgrades preserve</a:t>
            </a:r>
          </a:p>
          <a:p xmlns:a="http://schemas.openxmlformats.org/drawingml/2006/main">
            <a:r>
              <a:t>user_acceptance_test settings and greeting history.</a:t>
            </a:r>
          </a:p>
          <a:p xmlns:a="http://schemas.openxmlformats.org/drawingml/2006/main">
            <a:r>
              <a:t>Whole-lab destruction is separate.</a:t>
            </a:r>
          </a:p>
          <a:p xmlns:a="http://schemas.openxmlformats.org/drawingml/2006/main">
            <a:r>
              <a:t>same: Promote the SAME qualified archive</a:t>
            </a:r>
          </a:p>
          <a:p xmlns:a="http://schemas.openxmlformats.org/drawingml/2006/main">
            <a:r>
              <a:t>Require its successful integration_test receipt</a:t>
            </a:r>
          </a:p>
          <a:p xmlns:a="http://schemas.openxmlformats.org/drawingml/2006/main">
            <a:r>
              <a:t>Initial archive SHA256 d99fe83ec3d149739a12ec0cf2f01081ae027d1ec015e16d5a971ff3c602ab45. Source 08a5cf27e8a31ff7b77b6fd694f673847726eda1. E and F passed in the Product Owner walkthrough. The initial runtime is historical after F; do not downgrade UAT to replay it. A successful UAT deployment is not Product Owner acceptance of the full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scripts/cicd-walkthrough-F_hello_patch.sh; release/manifest.json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Current handover read-only comparison: PASS all fields of 21 prior history rows, old entries and complete configuration unchanged. New rows may append. Patch SHA256 4ba3abb8709f256c7a47e3e9294d3e7303f742145a95cb58d808ca6c6bcf7200, source ee8f1af8e35f81bb3b75051243df2ab9c6e4c0e5. Complete application archive contains the Hello-only version change and additive migration; Foundation and World versions remain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release/proposals/foundation-major.json; scripts/cicd-compatibility.py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Dependency rules live in release/manifest.json and the breaking proposal. Controller executes the archived checker before its deployment connection. Explicit exact versions and supported triples are prototype policy, not SQL semantic inference. G passed in the Product Owner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scripts/cicd-protection-check.sh; progress/E.1/cicd-walkthrough.md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The checker exits successfully after a recognized clean/protected outcome and unchanged snapshots. DETECTED DRIFT is a blocked deployment, not permission to deploy. Unexpected errors fail. Manual detection is observed in current E1_UAT. Synthetic fixture remains optional repeatable test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scripts/cicd-drift-diff.py; progress/E.1/tests/handover_live_drift_20261018.txt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Observed on 18 October 2026 in the current retained UAT. Source comparison validates exact successful archive/source/configuration receipt. review.diff omits import offset lines and generated Manifest comments only; raw.diff retains every exported difference. Other source/export differences remain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progress/E.1/cicd-walkthrough.md; docs/srs.md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Current manual restoration is pending the Product Owner decision. Do not report it complete. Synthetic H has its own saved-definition restoration and must not be interleaved with the manual edit. No automatic adoption or overwrite of unexpected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progress/E.1/sprint_E.1_tests.md; scripts/cicd-walkthrough-E_promotion.sh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Observed E failures were ORA-20619 missing runtime snapshot and ORA-20304 fixture relying on an unset World default. Fixes: checkpoint-bound verification resume/missing-data retry, and explicit active-entry selections with post-publication example continuation. No new application release or general recovery contract was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PROGRESS_BOARD.md; progress/E.1/sprint_E.1_tests.md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PROGRESS_BOARD.md; progress/E.1/sprint_E.1_assessment.md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progress/E.1/sprint_E.1_design.md; docs/test-profile.md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  <a:p xmlns:a="http://schemas.openxmlformats.org/drawingml/2006/main">
            <a:r>
              <a:t>Existing scope: PBI-011.2/.5/.7/.8, validation under PBI-012; original IT-6/7/8/9/12. These are registered child definitions, not newly scheduled sprints. Dedicated measurements and all full-suite gates remain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progress/E.1/sprint_E.1_assessment.md; ROADMAP.md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progress/E.1/sprint_E.1_handover.md</a:t>
            </a:r>
          </a:p>
          <a:p xmlns:a="http://schemas.openxmlformats.org/drawingml/2006/main">
            <a:r>
              <a:t>E.1 handover snapshot, 18 October 2026. PLAN: Progress; PROGRESS_BOARD: under_construction. No sprint closure or full quality-gate acceptance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6552629c2c4a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ba4d5872846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5803cb6df4b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61d0e7e5246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3817877d944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a9454fc3a64f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AE975-C00E-48BD-80FA-193872AAE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707323-4495-4B10-938F-2973EF1C9F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F0C012D-F72E-4199-A237-A705098082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D9AE79-B95F-4476-85E8-CB3E40C0BB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508FCEA-F8E4-40B2-8110-F128D2032C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9F19D6-3019-44FD-8141-27C485BAF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85D408-49BF-4855-9774-63EC23E418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D88D88-4F99-4EA0-BD49-F03B8FB9A4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F2D397-6CDD-4899-B5E9-1DBE24BE42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DCD5F3-EA96-488D-90CF-CA7779F01A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1969f15f04d52" /><Relationship Type="http://schemas.openxmlformats.org/officeDocument/2006/relationships/slideLayout" Target="/ppt/slideLayouts/slideLayout1.xml" Id="R83f187e13f7f4ba6" /><Relationship Type="http://schemas.openxmlformats.org/officeDocument/2006/relationships/slideLayout" Target="/ppt/slideLayouts/slideLayout2.xml" Id="R849b3367951249e7" /><Relationship Type="http://schemas.openxmlformats.org/officeDocument/2006/relationships/slideLayout" Target="/ppt/slideLayouts/slideLayout3.xml" Id="R91a9f83a779a4557" /><Relationship Type="http://schemas.openxmlformats.org/officeDocument/2006/relationships/slideLayout" Target="/ppt/slideLayouts/slideLayout4.xml" Id="Rc5a493f2f8ca4c3c" /><Relationship Type="http://schemas.openxmlformats.org/officeDocument/2006/relationships/slideLayout" Target="/ppt/slideLayouts/slideLayout5.xml" Id="R1970f74497ad4d27" /><Relationship Type="http://schemas.openxmlformats.org/officeDocument/2006/relationships/slideLayout" Target="/ppt/slideLayouts/slideLayout6.xml" Id="R6d75716fcc6a49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187e13f7f4ba6"/>
    <p:sldLayoutId xmlns:r="http://schemas.openxmlformats.org/officeDocument/2006/relationships" id="2147483650" r:id="R849b3367951249e7"/>
    <p:sldLayoutId xmlns:r="http://schemas.openxmlformats.org/officeDocument/2006/relationships" id="2147483651" r:id="R91a9f83a779a4557"/>
    <p:sldLayoutId xmlns:r="http://schemas.openxmlformats.org/officeDocument/2006/relationships" id="2147483652" r:id="Rc5a493f2f8ca4c3c"/>
    <p:sldLayoutId xmlns:r="http://schemas.openxmlformats.org/officeDocument/2006/relationships" id="2147483653" r:id="R1970f74497ad4d27"/>
    <p:sldLayoutId xmlns:r="http://schemas.openxmlformats.org/officeDocument/2006/relationships" id="2147483654" r:id="R6d75716fcc6a49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854627bad94c79" /><Relationship Type="http://schemas.openxmlformats.org/officeDocument/2006/relationships/notesSlide" Target="/ppt/notesSlides/notesSlide1.xml" Id="R5dafb5a15df143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c20673bd434743" /><Relationship Type="http://schemas.openxmlformats.org/officeDocument/2006/relationships/notesSlide" Target="/ppt/notesSlides/notesSlide2.xml" Id="Ra400f75f8e154a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26fc6bf4d4dcc" /><Relationship Type="http://schemas.openxmlformats.org/officeDocument/2006/relationships/notesSlide" Target="/ppt/notesSlides/notesSlide3.xml" Id="Ra42c7cd545b1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af72b52224474" /><Relationship Type="http://schemas.openxmlformats.org/officeDocument/2006/relationships/notesSlide" Target="/ppt/notesSlides/notesSlide4.xml" Id="R6093f56266294e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9b51601a24e4e" /><Relationship Type="http://schemas.openxmlformats.org/officeDocument/2006/relationships/notesSlide" Target="/ppt/notesSlides/notesSlide5.xml" Id="Rf0267772581a4e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686f5f7424a5f" /><Relationship Type="http://schemas.openxmlformats.org/officeDocument/2006/relationships/notesSlide" Target="/ppt/notesSlides/notesSlide6.xml" Id="Rbff0a3e3731946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c896443d94d58" /><Relationship Type="http://schemas.openxmlformats.org/officeDocument/2006/relationships/notesSlide" Target="/ppt/notesSlides/notesSlide7.xml" Id="Rb67e84f86f144e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31a17ded104393" /><Relationship Type="http://schemas.openxmlformats.org/officeDocument/2006/relationships/notesSlide" Target="/ppt/notesSlides/notesSlide8.xml" Id="R97c80310648849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f07cc615b84e94" /><Relationship Type="http://schemas.openxmlformats.org/officeDocument/2006/relationships/notesSlide" Target="/ppt/notesSlides/notesSlide9.xml" Id="R3fbec94eb36b4f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4dcf130644c1a" /><Relationship Type="http://schemas.openxmlformats.org/officeDocument/2006/relationships/notesSlide" Target="/ppt/notesSlides/notesSlide10.xml" Id="R2cf350ec562e4a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aa99a6eda0418c" /><Relationship Type="http://schemas.openxmlformats.org/officeDocument/2006/relationships/notesSlide" Target="/ppt/notesSlides/notesSlide11.xml" Id="Rf6f82dd611b341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396bdf4d41440c" /><Relationship Type="http://schemas.openxmlformats.org/officeDocument/2006/relationships/notesSlide" Target="/ppt/notesSlides/notesSlide12.xml" Id="R7c594cdde9404a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0dfc42e6f424b" /><Relationship Type="http://schemas.openxmlformats.org/officeDocument/2006/relationships/notesSlide" Target="/ppt/notesSlides/notesSlide13.xml" Id="R8fa2a728e53f4e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460ee841e4237" /><Relationship Type="http://schemas.openxmlformats.org/officeDocument/2006/relationships/notesSlide" Target="/ppt/notesSlides/notesSlide14.xml" Id="Re85f6b51422c44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7d239dcdd47f7" /><Relationship Type="http://schemas.openxmlformats.org/officeDocument/2006/relationships/notesSlide" Target="/ppt/notesSlides/notesSlide15.xml" Id="R568a2f3821a74e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956ec28a134d0f" /><Relationship Type="http://schemas.openxmlformats.org/officeDocument/2006/relationships/notesSlide" Target="/ppt/notesSlides/notesSlide16.xml" Id="Rdab549ca6f4249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bc10ec383469c" /><Relationship Type="http://schemas.openxmlformats.org/officeDocument/2006/relationships/notesSlide" Target="/ppt/notesSlides/notesSlide17.xml" Id="R433981da32b442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ffa6b646e431e" /><Relationship Type="http://schemas.openxmlformats.org/officeDocument/2006/relationships/notesSlide" Target="/ppt/notesSlides/notesSlide18.xml" Id="R50f10d3bbb034a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9f192ab114f1e" /><Relationship Type="http://schemas.openxmlformats.org/officeDocument/2006/relationships/notesSlide" Target="/ppt/notesSlides/notesSlide19.xml" Id="R38ff0fb076fe49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044e6cda34258" /><Relationship Type="http://schemas.openxmlformats.org/officeDocument/2006/relationships/notesSlide" Target="/ppt/notesSlides/notesSlide20.xml" Id="Rb5b1842d36c1469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819059ffe84024" /><Relationship Type="http://schemas.openxmlformats.org/officeDocument/2006/relationships/notesSlide" Target="/ppt/notesSlides/notesSlide21.xml" Id="Rf32742dd00224f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cda822aa6428f" /><Relationship Type="http://schemas.openxmlformats.org/officeDocument/2006/relationships/notesSlide" Target="/ppt/notesSlides/notesSlide22.xml" Id="Re784c903a2b041c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7fc66ce9d4527" /><Relationship Type="http://schemas.openxmlformats.org/officeDocument/2006/relationships/notesSlide" Target="/ppt/notesSlides/notesSlide23.xml" Id="R3e5d35fbd77f422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c6d8122364925" /><Relationship Type="http://schemas.openxmlformats.org/officeDocument/2006/relationships/notesSlide" Target="/ppt/notesSlides/notesSlide24.xml" Id="R90c63247157d49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12777-4EF2-4BB6-8CC2-E604CBD6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Git to APEX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2E64-54CD-4D55-A844-9FBC005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7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5C5AD-FFEC-44EF-91D6-9681297C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Traceable releases. Safe upgrades.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Protected deployments.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53D6-DDAA-44B1-9824-F77C6EA0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CE7EB"/>
                </a:solidFill>
                <a:latin typeface="Arial"/>
                <a:ea typeface="Arial"/>
                <a:cs typeface="Arial"/>
              </a:rPr>
              <a:t>One application. A repeatable delivery path.</a:t>
            </a:r>
          </a:p>
          <a:p xmlns:a="http://schemas.openxmlformats.org/drawingml/2006/main">
            <a:pPr>
              <a:defRPr sz="24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CE7EB"/>
                </a:solidFill>
                <a:latin typeface="Arial"/>
                <a:ea typeface="Arial"/>
                <a:cs typeface="Arial"/>
              </a:rPr>
              <a:t>Evidence at every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40623-A9DB-4ABB-91B9-2AE14E7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7EB"/>
                </a:solidFill>
                <a:latin typeface="Arial"/>
                <a:ea typeface="Arial"/>
                <a:cs typeface="Arial"/>
              </a:rPr>
              <a:t>Oracle APEX CI/CD Laboratory · 18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2508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2BA79-763A-4655-A57C-EB2CFBD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Review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DF1D8-1FAA-4235-A678-DE58F0AD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65ED8-327E-4EFA-8D33-3367722A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1. The application, source and delivery roles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25C2B-A589-42F5-8EF4-BFAC7871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574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2. A–F: assembly, release and compatible patch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10955-6F58-486D-9A08-CC8B382C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3. G–H: incompatible upgrade and live 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7DF89-B476-4FD9-A4A9-1A27836E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3867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4. Evidence, remaining risks and next decision</a:t>
            </a:r>
          </a:p>
        </p:txBody>
      </p:sp>
    </p:spTree>
    <p:extLst>
      <p:ext uri="{BB962C8B-B14F-4D97-AF65-F5344CB8AC3E}">
        <p14:creationId xmlns:p14="http://schemas.microsoft.com/office/powerpoint/2010/main" val="597720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DED70-A01F-4FE2-AA10-520BB74F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selected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7C11C-38F1-44AC-AA86-546F4707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619EB-1F91-49AC-B11D-4DC8BA50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One APEX application per area on one Oracle host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4F565-FB8C-4C82-87CF-E80783E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Foundation, Hello and World share one Git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A0D21-FFFF-484B-A743-00D576A8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8137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Private A/B/C areas, disposable integration_test, retained UAT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010E2-7B59-4E57-8DC1-47185E9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Supported Oracle interfaces and small operator scripts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C6B6B-6143-48D1-8520-820FFB8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43224"/>
                </a:solidFill>
                <a:latin typeface="Arial"/>
                <a:ea typeface="Arial"/>
                <a:cs typeface="Arial"/>
              </a:rPr>
              <a:t>Full concurrency, complete fencing and failed-deployment repair remain open</a:t>
            </a:r>
          </a:p>
        </p:txBody>
      </p:sp>
    </p:spTree>
    <p:extLst>
      <p:ext uri="{BB962C8B-B14F-4D97-AF65-F5344CB8AC3E}">
        <p14:creationId xmlns:p14="http://schemas.microsoft.com/office/powerpoint/2010/main" val="1057581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7612-D9BB-4838-A5C5-A44C79295A1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15375" y="371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42C4D-3F2D-4A04-96BA-D245B65FD24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57875" y="371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F7B60-5ADB-450F-A681-6C9AB49B800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000375" y="371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4F3C5-CF72-41F8-B23B-BE2E7401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delivery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46E0C-633D-4326-9A81-1AD4226F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14340-F7CC-40B9-8C20-EA84AA0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4DBD0-85B0-4E6E-9546-339278E8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Private A / B / C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Author and capture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Smoke-check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7A62C-5709-432B-9EC5-D4CFFAA2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Shared Git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D77CA-546B-4ACC-A1DD-0A3D1385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Reviewed source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Candidate evidence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One release archive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E5616-3C71-48F0-A735-2B52F3ED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Integration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A0675-9D1C-494E-91EC-36AF191B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1937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Install that archive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Verify the application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Record successful receipt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0C6E6-51D6-4694-9050-FB349DC6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User acceptance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26F1E-5103-4CAC-A6D2-37F2F3D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9375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Promote same archive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Preserve history/settings</a:t>
            </a:r>
          </a:p>
          <a:p xmlns:a="http://schemas.openxmlformats.org/drawingml/2006/main">
            <a:pPr algn="ctr">
              <a:defRPr sz="187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72F3B"/>
                </a:solidFill>
                <a:latin typeface="Arial"/>
                <a:ea typeface="Arial"/>
                <a:cs typeface="Arial"/>
              </a:rPr>
              <a:t>LAB_USER uses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DEF3-3DFC-4D07-9293-19A0490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development team releases the package. The Deployer moves the same bytes through both targets.</a:t>
            </a:r>
          </a:p>
        </p:txBody>
      </p:sp>
    </p:spTree>
    <p:extLst>
      <p:ext uri="{BB962C8B-B14F-4D97-AF65-F5344CB8AC3E}">
        <p14:creationId xmlns:p14="http://schemas.microsoft.com/office/powerpoint/2010/main" val="6495809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72D0A-F089-440E-ADBE-BDB255980DCA}"/>
              </a:ext>
            </a:extLst>
          </p:cNvPr>
          <p:cNvCxnSpPr>
            <a:stCxn xmlns:a="http://schemas.openxmlformats.org/drawingml/2006/main" id="5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H="1" flipV="1">
            <a:off x="6096000" y="2762250"/>
            <a:ext cx="25717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9A5E4-617F-4D11-AB61-3CCF3B54DD4A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3524250" y="2762250"/>
            <a:ext cx="25717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3EF47-9DE6-4DC8-93E0-0F46AF4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Foundation, Hello and World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CD583-33AF-4EC8-9405-1A22353A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99329-F3D3-48F7-B416-91986E2D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66875"/>
            <a:ext cx="4762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Foundation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Composition, history and runtime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4B018-22D6-4A4A-8BD6-591FC4D7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381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Hello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Entries and configuration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F4723-EFD7-4513-85F6-3866BF51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381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World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Entries and configuration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8D0CA-8DD0-4E6F-96D0-93921BB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Both components depend on Foundation. The release installs the complete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4911138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48E05-99C4-4974-86DE-9BF199AF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Oracle toolchain and 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D9D9F-BBEE-46B3-9ED0-D56BA970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7D255-C54E-4466-B85A-FA85092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APEX / ORDS: authoring, application metadata and HTTP runtime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EB2CF-6FE4-41B6-A175-3427F6D1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SQLcl + Java: saved connections, SQL checks and native capture/import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FA994-7020-452F-A9F2-5D696F5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SQLcl Liquibase: ordered migrations and applied-change checksums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7363A-9D84-46C4-A743-589F358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E1_CTRL SQL packages: reservations, deployment epochs and receipts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85164-21AB-4F67-B7CE-0EB83370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Git + SHA-256: accepted source and immutable release 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B6C39-915E-49BE-91ED-B0F9A21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Bash / Python: explicit operator steps and focused lab checks</a:t>
            </a:r>
          </a:p>
        </p:txBody>
      </p:sp>
    </p:spTree>
    <p:extLst>
      <p:ext uri="{BB962C8B-B14F-4D97-AF65-F5344CB8AC3E}">
        <p14:creationId xmlns:p14="http://schemas.microsoft.com/office/powerpoint/2010/main" val="12979528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05EFB-77BB-436B-8D90-D998C67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APEX interfaces: export, import and fingerprint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008F9-7693-4375-9ED6-F38AF707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70B53-944F-4DA0-96FD-F739CCA3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Author: App Builder saves application definitions in a developer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58290-A437-4898-A274-9EFBB14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Capture: SQLcl apex export writes split SQL files for Git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0D2CE-302D-4DCC-A326-EAE756B1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75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Deploy: APEX_APPLICATION_INSTALL maps the target; install.sql imports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DC073-4C02-4702-9F6E-490CC45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Guard: APEX_EXPORT.GET_APPLICATION computes the live fingerprint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5F6DC-14D9-4BA7-A973-7C9750B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Database: separate Liquibase migrations change schema objects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AA4FF-B906-4436-B01C-7BF8B670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5F63"/>
                </a:solidFill>
                <a:latin typeface="Arial"/>
                <a:ea typeface="Arial"/>
                <a:cs typeface="Arial"/>
              </a:rPr>
              <a:t>Git and immutable archives carry releases. APEX Working Copies and Team Development are not used for release integration or promotion.</a:t>
            </a:r>
          </a:p>
        </p:txBody>
      </p:sp>
    </p:spTree>
    <p:extLst>
      <p:ext uri="{BB962C8B-B14F-4D97-AF65-F5344CB8AC3E}">
        <p14:creationId xmlns:p14="http://schemas.microsoft.com/office/powerpoint/2010/main" val="393250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47DA1-0B02-48B4-9F96-A02EBDA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D130F-AA46-4DCF-B28E-E5A1BB02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7D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C81BE-CF66-4309-A3C4-BB5EFF48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Product Owner sees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 after each operation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38E6F-04FB-4F4C-BA12-40869856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CE7EB"/>
                </a:solidFill>
                <a:latin typeface="Arial"/>
                <a:ea typeface="Arial"/>
                <a:cs typeface="Arial"/>
              </a:rPr>
              <a:t>The following slides follow the implemented A–H journey</a:t>
            </a:r>
          </a:p>
        </p:txBody>
      </p:sp>
    </p:spTree>
    <p:extLst>
      <p:ext uri="{BB962C8B-B14F-4D97-AF65-F5344CB8AC3E}">
        <p14:creationId xmlns:p14="http://schemas.microsoft.com/office/powerpoint/2010/main" val="1630631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A3FF2-54F0-4716-B1BF-472534F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Infrastructure and project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CA801-4CCF-4F78-B9F0-174056B8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5BE0-9255-4128-9C41-F57BE553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432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43224"/>
                </a:solidFill>
                <a:latin typeface="Arial"/>
                <a:ea typeface="Arial"/>
                <a:cs typeface="Arial"/>
              </a:rPr>
              <a:t>Fresh replay only: destruction removes every lab database row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76829-6FC7-403C-B394-DEA9D3F1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scripts/cicd-walkthrough-prerequisites.sh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0B8C-696E-4E02-A00E-34BB3216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051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scripts/cicd-walkthrough-host.sh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6E565-C25F-48F3-BF93-BC72BCF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scripts/apex-destroy.sh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DC10B-B6FA-4C2A-9AAD-0B8FB30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scripts/cicd-walkthrough-apex-init.sh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E7D21-38DA-4622-9001-5B83CC3C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Then initialize E1_CTRL and provision each named area separately.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74D43-1955-4AA6-B46C-DB2323ED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95950"/>
            <a:ext cx="10858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Expected result: vanilla DB/APEX/ORDS first, then empty isolated project areas.</a:t>
            </a:r>
          </a:p>
        </p:txBody>
      </p:sp>
    </p:spTree>
    <p:extLst>
      <p:ext uri="{BB962C8B-B14F-4D97-AF65-F5344CB8AC3E}">
        <p14:creationId xmlns:p14="http://schemas.microsoft.com/office/powerpoint/2010/main" val="18939294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34AD2-C9CA-44FE-8B51-D3AC2EFDB6A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67625" y="4524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AE365-E798-457F-AD0A-D2C2B4C2F91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10000" y="45243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D07B65-445B-4789-85E4-755A460D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A–C: assemble the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F2FE1-2A4F-4D10-85F2-6B16363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D4DD3-7CBC-46FB-A825-28CB7239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scripts/cicd-walkthrough-A_foundation.sh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43FE6-3B7D-48BB-B8B4-019BB9D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scripts/cicd-walkthrough-B_hello.sh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2FF21-BDCF-4052-A448-214FF32A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scripts/cicd-walkthrough-C_world.sh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10A98-7210-447C-B35F-F18647A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3190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Foundation only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810001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6035B-EEF7-44EF-B081-028D5010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190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B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Foundation + Hello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810002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5A096-295B-4790-884F-0B58E1D3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3190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Complete 1.0.0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810003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FD2CD-BDDD-4251-B3A2-5D31C38F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 and B remain unavailable. VERIFIER checks C, then LAB_USER can use it.</a:t>
            </a:r>
          </a:p>
        </p:txBody>
      </p:sp>
    </p:spTree>
    <p:extLst>
      <p:ext uri="{BB962C8B-B14F-4D97-AF65-F5344CB8AC3E}">
        <p14:creationId xmlns:p14="http://schemas.microsoft.com/office/powerpoint/2010/main" val="4051829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6AF6D-B58B-42CC-9CDA-0ED1247F99A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72125" y="46196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974AF-2C44-4A0F-808D-6DFFA6D323B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095625" y="3524250"/>
            <a:ext cx="590550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DA28F-8AC2-4FB6-8203-C97A196BC91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72125" y="3048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8DBB7-ED13-4786-B9DD-09CF5619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D: install in integration_test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02705-C40F-4C1D-B27E-C95FB69E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2FE34-34AC-4720-9EB3-B324816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scripts/cicd-walkthrough-D_integration_test.sh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61A8-A994-43D8-9718-61B01391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Inspect the archive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Hash, members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678352-B690-4E15-85A6-DDB94C94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Admit the target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Owned attempt and epoch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01B58-243C-4C67-81F5-DA34550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Apply migrations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SQLcl Liquibase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74FA1-DA88-4E87-9A83-D980B13B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43375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Import native APEX source</a:t>
            </a:r>
          </a:p>
          <a:p xmlns:a="http://schemas.openxmlformats.org/drawingml/2006/main">
            <a:pPr algn="ctr">
              <a:defRPr sz="195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2F3B"/>
                </a:solidFill>
                <a:latin typeface="Arial"/>
                <a:ea typeface="Arial"/>
                <a:cs typeface="Arial"/>
              </a:rPr>
              <a:t>Application 810004 stays 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0A217-9993-49DD-B7BA-746FD1F8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Source comes from the Git-built archive. No live export from C and no copied developer data.</a:t>
            </a:r>
          </a:p>
        </p:txBody>
      </p:sp>
    </p:spTree>
    <p:extLst>
      <p:ext uri="{BB962C8B-B14F-4D97-AF65-F5344CB8AC3E}">
        <p14:creationId xmlns:p14="http://schemas.microsoft.com/office/powerpoint/2010/main" val="14483613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F1F7E-CAC1-4313-A784-22B9025C5BB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67625" y="2309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BBC42-110C-4015-95E4-E1838CF5DFE6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810000" y="2309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7BEE6-068F-4CC5-B36F-67183DFE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D: verify before publication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CEFBC-8C67-4C3B-A8B5-C6AB69F5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9B113-5C97-45E9-B349-6EE3391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Automated integrity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and unit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B0B1E-DECB-4B54-AC5C-C6F42B4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VERIFIER browser check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Save Hello World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448D6-0796-421D-AE95-3E3F9F2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Publish ready state</a:t>
            </a:r>
          </a:p>
          <a:p xmlns:a="http://schemas.openxmlformats.org/drawingml/2006/main">
            <a:pPr algn="ctr">
              <a:defRPr sz="2025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72F3B"/>
                </a:solidFill>
                <a:latin typeface="Arial"/>
                <a:ea typeface="Arial"/>
                <a:cs typeface="Arial"/>
              </a:rPr>
              <a:t>Fingerprint + receipt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C935-909E-4777-A9E3-E491A00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24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python3 scripts/cicd-password.py VERIFIER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B4D09-1416-4149-B041-596FF7DE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5F63"/>
                </a:solidFill>
                <a:latin typeface="Arial"/>
                <a:ea typeface="Arial"/>
                <a:cs typeface="Arial"/>
              </a:rPr>
              <a:t>Open http://127.0.0.1:8080/ords/f?p=810004:1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B223D-5037-46DC-971B-E8E1AD6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 missing required greeting repeats the verification prompt.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37E5E-62F6-4E5F-9ED6-BCB4C8D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After publication, LAB_USER can use the complete application.</a:t>
            </a:r>
          </a:p>
        </p:txBody>
      </p:sp>
    </p:spTree>
    <p:extLst>
      <p:ext uri="{BB962C8B-B14F-4D97-AF65-F5344CB8AC3E}">
        <p14:creationId xmlns:p14="http://schemas.microsoft.com/office/powerpoint/2010/main" val="909542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81AD2-33FD-4F9D-B43D-533CFC28AA3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95875" y="33813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35F63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04A2A-C3C8-4761-90D4-6D2FA73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E: promote the same initial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1072C-27C5-498F-8D8F-DA7A1779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B977B-7512-46A6-A05C-CA98603D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scripts/cicd-walkthrough-E_promotion.sh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169ED-144C-47F1-972E-18DF4E10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143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F3B"/>
                </a:solidFill>
                <a:latin typeface="Arial"/>
                <a:ea typeface="Arial"/>
                <a:cs typeface="Arial"/>
              </a:rPr>
              <a:t>integration_test</a:t>
            </a:r>
          </a:p>
          <a:p xmlns:a="http://schemas.openxmlformats.org/drawingml/2006/main">
            <a: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F3B"/>
                </a:solidFill>
                <a:latin typeface="Arial"/>
                <a:ea typeface="Arial"/>
                <a:cs typeface="Arial"/>
              </a:rPr>
              <a:t>Successful 1.0.0 receipt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32C20-BC44-4EC0-80F4-AF27773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62250"/>
            <a:ext cx="4143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5"/>
          </a:solidFill>
          <a:ln xmlns:a="http://schemas.openxmlformats.org/drawingml/2006/main" w="14288">
            <a:solidFill>
              <a:srgbClr val="AAB9BE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F3B"/>
                </a:solidFill>
                <a:latin typeface="Arial"/>
                <a:ea typeface="Arial"/>
                <a:cs typeface="Arial"/>
              </a:rPr>
              <a:t>user_acceptance_test</a:t>
            </a:r>
          </a:p>
          <a:p xmlns:a="http://schemas.openxmlformats.org/drawingml/2006/main">
            <a:pPr algn="ctr">
              <a:defRPr sz="210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F3B"/>
                </a:solidFill>
                <a:latin typeface="Arial"/>
                <a:ea typeface="Arial"/>
                <a:cs typeface="Arial"/>
              </a:rPr>
              <a:t>Same archive hash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A7126-1916-4C82-A867-CA21C81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UAT application 810005 becomes available to LAB_USER.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5DAE7-0E2D-476A-B3A2-354AEC40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Capture the field-level history/configuration baseline for F.</a:t>
            </a:r>
          </a:p>
        </p:txBody>
      </p:sp>
    </p:spTree>
    <p:extLst>
      <p:ext uri="{BB962C8B-B14F-4D97-AF65-F5344CB8AC3E}">
        <p14:creationId xmlns:p14="http://schemas.microsoft.com/office/powerpoint/2010/main" val="18960097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63D3E-209C-4A74-B6B5-6E1B5A4F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F: Hello 1.0.1 with preserved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9C62B-9E4D-4FAF-910D-A06EE73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AA5E0-792F-406D-89A9-8D5DB94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scripts/cicd-walkthrough-F_hello_patch.sh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C23D4-1AAA-4F07-A20A-4D4B6F4AA4C6}"/>
              </a:ext>
            </a:extLst>
          </p:cNvPr>
          <p:cNvGraphicFramePr/>
          <p:nvPr/>
        </p:nvGraphicFramePr>
        <p:xfrm>
          <a:off xmlns:a="http://schemas.openxmlformats.org/drawingml/2006/main" x="619125" y="2524125"/>
          <a:ext xmlns:a="http://schemas.openxmlformats.org/drawingml/2006/main" cx="10858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0721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B9BE"/>
                      </a:solidFill>
                      <a:prstDash val="solid"/>
                    </a:lnL>
                    <a:lnR w="9525">
                      <a:solidFill>
                        <a:srgbClr val="AAB9BE"/>
                      </a:solidFill>
                      <a:prstDash val="solid"/>
                    </a:lnR>
                    <a:lnT w="9525">
                      <a:solidFill>
                        <a:srgbClr val="AAB9BE"/>
                      </a:solidFill>
                      <a:prstDash val="solid"/>
                    </a:lnT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172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T w="9525">
                      <a:solidFill>
                        <a:srgbClr val="AAB9BE"/>
                      </a:solidFill>
                      <a:prstDash val="solid"/>
                    </a:lnT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172F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T w="9525">
                      <a:solidFill>
                        <a:srgbClr val="AAB9BE"/>
                      </a:solidFill>
                      <a:prstDash val="solid"/>
                    </a:lnT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172F3B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Foundation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B9BE"/>
                      </a:solidFill>
                      <a:prstDash val="solid"/>
                    </a:lnL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Hello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B9BE"/>
                      </a:solidFill>
                      <a:prstDash val="solid"/>
                    </a:lnL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World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B9BE"/>
                      </a:solidFill>
                      <a:prstDash val="solid"/>
                    </a:lnL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F3B"/>
                          </a:solidFill>
                          <a:latin typeface="Arial"/>
                          <a:ea typeface="Arial"/>
                          <a:cs typeface="Arial"/>
                        </a:rPr>
                        <a:t>1.0.0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B9BE"/>
                      </a:solidFill>
                      <a:prstDash val="solid"/>
                    </a:lnR>
                    <a:lnB w="9525">
                      <a:solidFill>
                        <a:srgbClr val="AAB9B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AB68F-2C53-4CC4-A766-92AF4D4B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Integration test checks fresh install and upgrade from 1.0.0.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701EE-D1C1-4E33-A5ED-D2336257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same patch archive upgrades UAT. All 21 baseline history rows and settings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20405049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1135E-B226-4964-8440-378CB09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G: reject a known incompatibility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563B9-2A07-4A37-AB78-4AD518C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BE0D5-52CC-4D9A-AF97-81D43050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scripts/cicd-walkthrough-G_incompatible_upgrade.sh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EE0C8-24C5-4C93-A996-998A6E5F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Proposal: Foundation 2.0.0 with Hello 1.0.1 and World 1.0.0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6E486-DDAA-433D-ACFF-B9DC5822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Hello and World still declare Foundation 1.0.0 as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FE91-3015-4A3E-8792-C76DA982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A432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3224"/>
                </a:solidFill>
                <a:latin typeface="Arial"/>
                <a:ea typeface="Arial"/>
                <a:cs typeface="Arial"/>
              </a:rPr>
              <a:t>REJECTED INCOMPATIBLE:</a:t>
            </a:r>
          </a:p>
          <a:p xmlns:a="http://schemas.openxmlformats.org/drawingml/2006/main">
            <a:pPr>
              <a:defRPr sz="2175" b="1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43224"/>
                </a:solidFill>
                <a:latin typeface="Arial"/>
                <a:ea typeface="Arial"/>
                <a:cs typeface="Arial"/>
              </a:rPr>
              <a:t>Hello requires Foundation 1.0.0; proposed Foundation 2.0.0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9E9AA-CE36-4BE9-992F-9615581B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245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Stops before maintenance, migration or import. Target and release records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4855104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FEADF-228C-4531-BD8E-3CCAA685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H: one drift check, three situations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B1499-8AD9-48E4-8B10-866135BA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B201B-780B-49D4-B9EB-0B6B0042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scripts/cicd-protection-check.sh drift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9472C-5933-4C02-A969-B09CB26D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1. Before an edit: NO DRIFT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E233A-FE9D-4059-B7D4-B5596151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2. After a real Page Designer save: DETECTED 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BAB32-5D02-48EF-832F-B1EA117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3. After the scripted fixture: DETECTED DRIFT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C179-7157-47CA-8AC6-D8B10F4F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Restore the original definition between cases. The check never overwrites the edit.</a:t>
            </a:r>
          </a:p>
        </p:txBody>
      </p:sp>
    </p:spTree>
    <p:extLst>
      <p:ext uri="{BB962C8B-B14F-4D97-AF65-F5344CB8AC3E}">
        <p14:creationId xmlns:p14="http://schemas.microsoft.com/office/powerpoint/2010/main" val="16145097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80E09-CF77-4F39-B7E8-87ED5808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H: inspect the changed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F43C5-8C8C-4790-A229-E8260DB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44BB9-138C-42A1-8E70-28ECF72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scripts/cicd-protection-check.sh drift --show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CF8D6-8210-4294-9439-88AF2FAE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Published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E5AD6-692D-4B61-9C06-B0411455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241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C4B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C4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C4B35"/>
                </a:solidFill>
                <a:latin typeface="Arial"/>
                <a:ea typeface="Arial"/>
                <a:cs typeface="Arial"/>
              </a:rPr>
              <a:t>Live edit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69A1B-457D-4180-8686-73B61E14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Page title</a:t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APEX Delivery Laboratory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Region name</a:t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APEX Delivery Laboratory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4D1FF-E46B-48CB-B18A-052C94CA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3337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Page title</a:t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Manual drift demonstration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Region name</a:t>
            </a:r>
          </a:p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APEX Delivery XX Laboratory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57189-202E-4155-845D-033292B8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command preserves both source trees and complete diffs. No restoration occurs.</a:t>
            </a:r>
          </a:p>
        </p:txBody>
      </p:sp>
    </p:spTree>
    <p:extLst>
      <p:ext uri="{BB962C8B-B14F-4D97-AF65-F5344CB8AC3E}">
        <p14:creationId xmlns:p14="http://schemas.microsoft.com/office/powerpoint/2010/main" val="3754094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DDFA3-40CC-4220-89A7-216DEE50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H: the Product Owner chooses restoration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E5538-6E76-4AF2-9080-080DFB29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9CC13-F047-4207-9525-FFF81CC6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Undo: restore the published Title and region Name in Page Designer, then Save.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39165-3BF4-49B3-9D72-B8E10650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Keep: retain the export, capture/review it in Git and deliver a new release.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558D5-9395-4438-A2F6-E9953AA8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Deployment remains blocked while unexpected drift remains.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C31EF-7095-415A-AF00-F89165B0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scripts/cicd-protection-check.sh drift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652D7-26CA-4B77-82FB-46BD24C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5F63"/>
                </a:solidFill>
                <a:latin typeface="Arial"/>
                <a:ea typeface="Arial"/>
                <a:cs typeface="Arial"/>
              </a:rPr>
              <a:t>Restoration passes only when the check returns NO DRIFT against the original receipt.</a:t>
            </a:r>
          </a:p>
        </p:txBody>
      </p:sp>
    </p:spTree>
    <p:extLst>
      <p:ext uri="{BB962C8B-B14F-4D97-AF65-F5344CB8AC3E}">
        <p14:creationId xmlns:p14="http://schemas.microsoft.com/office/powerpoint/2010/main" val="6978702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2D061-F9F1-4EC4-98DA-652B37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Verification and recovery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F17CD-FFA3-4A62-AEE6-C36CC904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36159-75F1-46A8-B489-756209B3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Missing VERIFIER greeting: publication stops, then the prompt allows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9D2E5-62AA-4CF2-95AD-67542B5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Post-publication fixture failure: delivery stays successful and history stays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CA321-50C5-45FD-93B8-16867EE2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 bounded continuation resumes the matching checkpoint without reinstalling.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58E4F-1B93-47AB-8DCA-334F9567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35F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5F63"/>
                </a:solidFill>
                <a:latin typeface="Arial"/>
                <a:ea typeface="Arial"/>
                <a:cs typeface="Arial"/>
              </a:rPr>
              <a:t>bash scripts/cicd-walkthrough-E_promotion.sh --resume-examples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2DB66-AADB-41B6-8AAA-521DE4D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43224"/>
                </a:solidFill>
                <a:latin typeface="Arial"/>
                <a:ea typeface="Arial"/>
                <a:cs typeface="Arial"/>
              </a:rPr>
              <a:t>These operator continuations do not prove automated repair of a failed database migration.</a:t>
            </a:r>
          </a:p>
        </p:txBody>
      </p:sp>
    </p:spTree>
    <p:extLst>
      <p:ext uri="{BB962C8B-B14F-4D97-AF65-F5344CB8AC3E}">
        <p14:creationId xmlns:p14="http://schemas.microsoft.com/office/powerpoint/2010/main" val="16792426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2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B55C3-5110-4CAA-BF80-212A5DE1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66C50-3705-4DCB-96EB-45391EE5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7D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4F52A-C499-48E9-BC74-C65854EB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selected journey works.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broader architecture still needs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ABDDE-D4E9-4020-BE7C-5E25E8C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CE7EB"/>
                </a:solidFill>
                <a:latin typeface="Arial"/>
                <a:ea typeface="Arial"/>
                <a:cs typeface="Arial"/>
              </a:rPr>
              <a:t>Prototype results and full sprint acceptance are separate decisions</a:t>
            </a:r>
          </a:p>
        </p:txBody>
      </p:sp>
    </p:spTree>
    <p:extLst>
      <p:ext uri="{BB962C8B-B14F-4D97-AF65-F5344CB8AC3E}">
        <p14:creationId xmlns:p14="http://schemas.microsoft.com/office/powerpoint/2010/main" val="15653683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91F95-6C21-413B-A42D-1F96925D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Delivered evidence and official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DC062-7685-43AF-A306-191E7943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FF83D-22E6-4888-AE65-0720FA9F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PBI-011.1 and 011.3: tested on the 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BAB3F-2671-4703-A924-A3907A91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PBI-011.2, 011.4, 011.6 and 011.7: under construction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ABECC-2A6F-44E3-A90D-10B51BD4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PBI-011.5: under construction, with concurrent integration still unproved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8CBC-BC4D-437E-A507-DDBFE713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PBI-011.8: failed additive deployment and repair remain unimplemented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5981A-C290-4EDF-A29D-2FE51882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A4322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43224"/>
                </a:solidFill>
                <a:latin typeface="Arial"/>
                <a:ea typeface="Arial"/>
                <a:cs typeface="Arial"/>
              </a:rPr>
              <a:t>PBI-012–016 remain under_design. This handover proposes conclusions and follow-up, not status changes.</a:t>
            </a:r>
          </a:p>
        </p:txBody>
      </p:sp>
    </p:spTree>
    <p:extLst>
      <p:ext uri="{BB962C8B-B14F-4D97-AF65-F5344CB8AC3E}">
        <p14:creationId xmlns:p14="http://schemas.microsoft.com/office/powerpoint/2010/main" val="6245100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BB59E-B1DD-4306-A70B-A982C837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The remaining Elaboration proofs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BFE27-43A3-49DA-9A28-93323A7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6ABB1-74C9-46CA-93DE-820F6102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Atomic contention: synchronized Hello competitors, exactly one winner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D4AAD-35C7-4C6A-A3E4-B12A05A9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Parallel work: independent Hello/World contributions and safe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D6DDD-A540-4FA3-8008-DB11A8C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Maintenance: stale workers, in-flight sessions and verifier revocation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F3ADE-7813-4819-BE85-76181166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Recovery: schema drift and one failed additive deployment with history-preserving repair</a:t>
            </a:r>
          </a:p>
        </p:txBody>
      </p:sp>
    </p:spTree>
    <p:extLst>
      <p:ext uri="{BB962C8B-B14F-4D97-AF65-F5344CB8AC3E}">
        <p14:creationId xmlns:p14="http://schemas.microsoft.com/office/powerpoint/2010/main" val="3221022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0154E-DFED-40C5-AF3E-740E39D0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F3B"/>
                </a:solidFill>
                <a:latin typeface="Arial"/>
                <a:ea typeface="Arial"/>
                <a:cs typeface="Arial"/>
              </a:rPr>
              <a:t>Recommended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7B477-81C6-47D6-B0AC-0F396682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4B6F-EFE6-45A5-AE52-9268964F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Retain the demonstrated delivery and protection slice as E.1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2FE709-D5C6-4E69-B736-3CDA3FCC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Run one bounded Elaboration follow-up for concurrency, fencing and forward repair.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3E658-65F9-44F7-8651-9D2DF6BE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5287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Reassess Lifecycle Architecture before committing to full Construction.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BD39F-72A5-434B-9D99-CA0D63E5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A follow-up sprint and revised scope require Product Owner selection. No new sprint is activated here.</a:t>
            </a:r>
          </a:p>
        </p:txBody>
      </p:sp>
    </p:spTree>
    <p:extLst>
      <p:ext uri="{BB962C8B-B14F-4D97-AF65-F5344CB8AC3E}">
        <p14:creationId xmlns:p14="http://schemas.microsoft.com/office/powerpoint/2010/main" val="167513642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2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26612-E9A8-4912-8ED5-C562BC86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Owner review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2FA4E-2F54-426F-8CDC-8D2824F7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7D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7D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0DF28-EF6C-4349-B91F-5AAC37B9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Does the handover explain and demonstrate the selected A–H outcomes?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071198-0780-44E5-96CE-44122B0D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 the current manual edit be restored or retained for Git review?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79890-3E60-4A5C-8971-E709A972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remaining proofs should the next Elaboration increment prioritize?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C4765-669E-47FF-9CE9-203597B3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DCE7E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CE7E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CE7EB"/>
                </a:solidFill>
                <a:latin typeface="Arial"/>
                <a:ea typeface="Arial"/>
                <a:cs typeface="Arial"/>
              </a:rPr>
              <a:t>E.1 remains open pending review and scope decisions</a:t>
            </a:r>
          </a:p>
        </p:txBody>
      </p:sp>
    </p:spTree>
    <p:extLst>
      <p:ext uri="{BB962C8B-B14F-4D97-AF65-F5344CB8AC3E}">
        <p14:creationId xmlns:p14="http://schemas.microsoft.com/office/powerpoint/2010/main" val="1623525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2026-10-18T15:54:35.3700000Z</dcterms:created>
  <dcterms:modified xsi:type="dcterms:W3CDTF">2026-10-18T15:54:35.3700000Z</dcterms:modified>
</coreProperties>
</file>
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789ca8ac474408" /><Relationship Type="http://schemas.openxmlformats.org/officeDocument/2006/relationships/extended-properties" Target="/docProps/app.xml" Id="R18a3b2e27bb64eab" /><Relationship Type="http://schemas.openxmlformats.org/officeDocument/2006/relationships/officeDocument" Target="/ppt/presentation.xml" Id="Rb98875e4f3534d7a" /></Relationships>
</file>

<file path=ppt/presentation.xml><?xml version="1.0" encoding="utf-8"?>
<p:presentation xmlns:p="http://schemas.openxmlformats.org/presentationml/2006/main">
  <p:sldMasterIdLst>
    <p:sldMasterId xmlns:r="http://schemas.openxmlformats.org/officeDocument/2006/relationships" id="2147483648" r:id="Ree4b582354b94bc7"/>
  </p:sldMasterIdLst>
  <p:notesMasterIdLst>
    <p:notesMasterId xmlns:r="http://schemas.openxmlformats.org/officeDocument/2006/relationships" r:id="R801b30e9f8064b3d"/>
  </p:notesMasterIdLst>
  <p:sldIdLst>
    <p:sldId xmlns:r="http://schemas.openxmlformats.org/officeDocument/2006/relationships" id="256" r:id="R8cfd0883331340e6"/>
    <p:sldId xmlns:r="http://schemas.openxmlformats.org/officeDocument/2006/relationships" id="257" r:id="R0014a1c473f64d45"/>
    <p:sldId xmlns:r="http://schemas.openxmlformats.org/officeDocument/2006/relationships" id="258" r:id="R766cc5c8632c47b6"/>
    <p:sldId xmlns:r="http://schemas.openxmlformats.org/officeDocument/2006/relationships" id="259" r:id="R881cae6fc77f4aec"/>
    <p:sldId xmlns:r="http://schemas.openxmlformats.org/officeDocument/2006/relationships" id="260" r:id="Refc8b60eff7348f3"/>
    <p:sldId xmlns:r="http://schemas.openxmlformats.org/officeDocument/2006/relationships" id="261" r:id="R7a4d9c6f8e9e4605"/>
    <p:sldId xmlns:r="http://schemas.openxmlformats.org/officeDocument/2006/relationships" id="262" r:id="R81be3deae1ca4ac2"/>
    <p:sldId xmlns:r="http://schemas.openxmlformats.org/officeDocument/2006/relationships" id="263" r:id="R3b7f25d6511a428d"/>
    <p:sldId xmlns:r="http://schemas.openxmlformats.org/officeDocument/2006/relationships" id="264" r:id="R5aed78e9fc9443cf"/>
    <p:sldId xmlns:r="http://schemas.openxmlformats.org/officeDocument/2006/relationships" id="265" r:id="Re35ccd01596f4d19"/>
    <p:sldId xmlns:r="http://schemas.openxmlformats.org/officeDocument/2006/relationships" id="266" r:id="R273cfde4a31940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ebf2bd6bc34c28" /><Relationship Type="http://schemas.openxmlformats.org/officeDocument/2006/relationships/slideMaster" Target="/ppt/slideMasters/slideMaster1.xml" Id="Ree4b582354b94bc7" /><Relationship Type="http://schemas.openxmlformats.org/officeDocument/2006/relationships/notesMaster" Target="/ppt/notesMasters/notesMaster1.xml" Id="R801b30e9f8064b3d" /><Relationship Type="http://schemas.openxmlformats.org/officeDocument/2006/relationships/presProps" Target="/ppt/presProps.xml" Id="R1bc44dc164cd49f7" /><Relationship Type="http://schemas.openxmlformats.org/officeDocument/2006/relationships/tableStyles" Target="/ppt/tableStyles.xml" Id="Ra51812ea88a64b48" /><Relationship Type="http://schemas.openxmlformats.org/officeDocument/2006/relationships/slide" Target="/ppt/slides/slide1.xml" Id="R8cfd0883331340e6" /><Relationship Type="http://schemas.openxmlformats.org/officeDocument/2006/relationships/slide" Target="/ppt/slides/slide2.xml" Id="R0014a1c473f64d45" /><Relationship Type="http://schemas.openxmlformats.org/officeDocument/2006/relationships/slide" Target="/ppt/slides/slide3.xml" Id="R766cc5c8632c47b6" /><Relationship Type="http://schemas.openxmlformats.org/officeDocument/2006/relationships/slide" Target="/ppt/slides/slide4.xml" Id="R881cae6fc77f4aec" /><Relationship Type="http://schemas.openxmlformats.org/officeDocument/2006/relationships/slide" Target="/ppt/slides/slide5.xml" Id="Refc8b60eff7348f3" /><Relationship Type="http://schemas.openxmlformats.org/officeDocument/2006/relationships/slide" Target="/ppt/slides/slide6.xml" Id="R7a4d9c6f8e9e4605" /><Relationship Type="http://schemas.openxmlformats.org/officeDocument/2006/relationships/slide" Target="/ppt/slides/slide7.xml" Id="R81be3deae1ca4ac2" /><Relationship Type="http://schemas.openxmlformats.org/officeDocument/2006/relationships/slide" Target="/ppt/slides/slide8.xml" Id="R3b7f25d6511a428d" /><Relationship Type="http://schemas.openxmlformats.org/officeDocument/2006/relationships/slide" Target="/ppt/slides/slide9.xml" Id="R5aed78e9fc9443cf" /><Relationship Type="http://schemas.openxmlformats.org/officeDocument/2006/relationships/slide" Target="/ppt/slides/slide10.xml" Id="Re35ccd01596f4d19" /><Relationship Type="http://schemas.openxmlformats.org/officeDocument/2006/relationships/slide" Target="/ppt/slides/slide11.xml" Id="R273cfde4a31940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efe7f2fad44b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0635ff03d04078" /><Relationship Type="http://schemas.openxmlformats.org/officeDocument/2006/relationships/notesMaster" Target="/ppt/notesMasters/notesMaster1.xml" Id="R632705fea67444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8963f730a342e0" /><Relationship Type="http://schemas.openxmlformats.org/officeDocument/2006/relationships/notesMaster" Target="/ppt/notesMasters/notesMaster1.xml" Id="R88b7966760504a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6f400389bf4777" /><Relationship Type="http://schemas.openxmlformats.org/officeDocument/2006/relationships/notesMaster" Target="/ppt/notesMasters/notesMaster1.xml" Id="R7089eef09eb141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a08b897878421c" /><Relationship Type="http://schemas.openxmlformats.org/officeDocument/2006/relationships/notesMaster" Target="/ppt/notesMasters/notesMaster1.xml" Id="R06fd7dd0143649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d4d501746e425b" /><Relationship Type="http://schemas.openxmlformats.org/officeDocument/2006/relationships/notesMaster" Target="/ppt/notesMasters/notesMaster1.xml" Id="Rc10b0a5c8a7c40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7ffccb3d804ec7" /><Relationship Type="http://schemas.openxmlformats.org/officeDocument/2006/relationships/notesMaster" Target="/ppt/notesMasters/notesMaster1.xml" Id="Re0de7dea85b64a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a0b5ae4cc44309" /><Relationship Type="http://schemas.openxmlformats.org/officeDocument/2006/relationships/notesMaster" Target="/ppt/notesMasters/notesMaster1.xml" Id="R165e0a1ddd8d40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d42fb375c14de0" /><Relationship Type="http://schemas.openxmlformats.org/officeDocument/2006/relationships/notesMaster" Target="/ppt/notesMasters/notesMaster1.xml" Id="R715435c4900b41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898da059fc4909" /><Relationship Type="http://schemas.openxmlformats.org/officeDocument/2006/relationships/notesMaster" Target="/ppt/notesMasters/notesMaster1.xml" Id="R70c2a102addc48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47489d7893420a" /><Relationship Type="http://schemas.openxmlformats.org/officeDocument/2006/relationships/notesMaster" Target="/ppt/notesMasters/notesMaster1.xml" Id="R0ac5380803d848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3f0eb0ae1146bb" /><Relationship Type="http://schemas.openxmlformats.org/officeDocument/2006/relationships/notesMaster" Target="/ppt/notesMasters/notesMaster1.xml" Id="R1bbd77c3bb5f44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progress/E.2/sprint_E.2_handover.md</a:t>
            </a:r>
          </a:p>
          <a:p xmlns:a="http://schemas.openxmlformats.org/drawingml/2006/main">
            <a:r>
              <a:t>progress/E.2/oracle-gap-analysis.md</a:t>
            </a:r>
          </a:p>
          <a:p xmlns:a="http://schemas.openxmlformats.org/drawingml/2006/main">
            <a:r>
              <a:t>Recommendation only. No Product Owner decision, sprint closure or production certification is implied. E.1 historical evidence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progress/E.2/tests/project-integration-mapped-validation.json</a:t>
            </a:r>
          </a:p>
          <a:p xmlns:a="http://schemas.openxmlformats.org/drawingml/2006/main">
            <a:r>
              <a:t>progress/E.2/tests/project-uat-promotion-validation.json</a:t>
            </a:r>
          </a:p>
          <a:p xmlns:a="http://schemas.openxmlformats.org/drawingml/2006/main">
            <a:r>
              <a:t>progress/E.2/tests/project-f2-upgrade-validation.json</a:t>
            </a:r>
          </a:p>
          <a:p xmlns:a="http://schemas.openxmlformats.org/drawingml/2006/main">
            <a:r>
              <a:t>progress/E.2/sprint_E.2_handover.md</a:t>
            </a:r>
          </a:p>
          <a:p xmlns:a="http://schemas.openxmlformats.org/drawingml/2006/main">
            <a:r>
              <a:t>Counts concern the reference assessment patch, not a new acceptance claim for every artifact. Retained F verification still fails. Operator-reported F completion is separate from preparation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progress/E.2/tests/e2_desktop_repeat_merge_full.jpg</a:t>
            </a:r>
          </a:p>
          <a:p xmlns:a="http://schemas.openxmlformats.org/drawingml/2006/main">
            <a:r>
              <a:t>progress/E.2/tests/desktop_repeat_main_preservation.json</a:t>
            </a:r>
          </a:p>
          <a:p xmlns:a="http://schemas.openxmlformats.org/drawingml/2006/main">
            <a:r>
              <a:t>progress/E.2/tests/project-f1-working-copy-validation.json</a:t>
            </a:r>
          </a:p>
          <a:p xmlns:a="http://schemas.openxmlformats.org/drawingml/2006/main">
            <a:r>
              <a:t>https://docs.oracle.com/en/database/oracle/apex/24.2/htmdb/about-working-copies.html</a:t>
            </a:r>
          </a:p>
          <a:p xmlns:a="http://schemas.openxmlformats.org/drawingml/2006/main">
            <a:r>
              <a:t>Image is a later desktop repeat on the earlier reduced fixture, not a screenshot of the Product Owner F execution. Native comparison, selective refresh and merge are observed. Working Copies share the parsing schema. Direct private-copy export is possible through selection filters but is not the demonstrated release path. A team checkpoint remains part of the Working Copy/Main journey.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progress/E.2/oracle-gap-analysis.md</a:t>
            </a:r>
          </a:p>
          <a:p xmlns:a="http://schemas.openxmlformats.org/drawingml/2006/main">
            <a:r>
              <a:t>deploy/control.sql</a:t>
            </a:r>
          </a:p>
          <a:p xmlns:a="http://schemas.openxmlformats.org/drawingml/2006/main">
            <a:r>
              <a:t>deploy/release_control.sql</a:t>
            </a:r>
          </a:p>
          <a:p xmlns:a="http://schemas.openxmlformats.org/drawingml/2006/main">
            <a:r>
              <a:t>deploy/recovery/control.sql</a:t>
            </a:r>
          </a:p>
          <a:p xmlns:a="http://schemas.openxmlformats.org/drawingml/2006/main">
            <a:r>
              <a:t>Avoid a wholesale replacement claim. Native availability covers the exercised access gate, not request draining, stale-attempt fencing or promotion trust. Prefer native functions where qualified. Do not duplicate capture or packaging in a new controller.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progress/E.2/tests/project-verify-fix-validation.json</a:t>
            </a:r>
          </a:p>
          <a:p xmlns:a="http://schemas.openxmlformats.org/drawingml/2006/main">
            <a:r>
              <a:t>progress/E.2/h-live-drift-evidence.md</a:t>
            </a:r>
          </a:p>
          <a:p xmlns:a="http://schemas.openxmlformats.org/drawingml/2006/main">
            <a:r>
              <a:t>progress/E.2/cicd-walkthrough.md</a:t>
            </a:r>
          </a:p>
          <a:p xmlns:a="http://schemas.openxmlformats.org/drawingml/2006/main">
            <a:r>
              <a:t>https://docs.oracle.com/en/database/oracle/sql-developer-command-line/25.2/sqcug/update.html</a:t>
            </a:r>
          </a:p>
          <a:p xmlns:a="http://schemas.openxmlformats.org/drawingml/2006/main">
            <a:r>
              <a:t>G: 25.4.1 clean native verification accepted both allowed and conflicting project declarations. H: limited export comparison detected the edit; zero-change replay proves neither rejection nor overwrite behavior for a pending import. Do not infer absence of every Oracle drift capability. I: automatic repair and reviewed forward repair are different capabilities. E.1-equivalent repair remains missing E.2 validation. Business-data equality is not application/schema drift 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progress/E.2/tests/project-verify-fix-validation.json</a:t>
            </a:r>
          </a:p>
          <a:p xmlns:a="http://schemas.openxmlformats.org/drawingml/2006/main">
            <a:r>
              <a:t>progress/E.2/tests/project-f2-upgrade-validation.json</a:t>
            </a:r>
          </a:p>
          <a:p xmlns:a="http://schemas.openxmlformats.org/drawingml/2006/main">
            <a:r>
              <a:t>progress/E.2/oracle-gap-analysis-detail.md</a:t>
            </a:r>
          </a:p>
          <a:p xmlns:a="http://schemas.openxmlformats.org/drawingml/2006/main">
            <a:r>
              <a:t>25.4.1 comparison: Errors 0 / Warnings 0 / Info 15. Negative controls failed on a missing stage include and post-stage APEX alteration. Earlier mapped import changed observed region IDs, so required identity/saved-report preservation remains to qualify. This is a release-qualification blocker rather than general PROJECT/Working Copy incompatibility.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BACKLOG.md</a:t>
            </a:r>
          </a:p>
          <a:p xmlns:a="http://schemas.openxmlformats.org/drawingml/2006/main">
            <a:r>
              <a:t>progress/E.2/oracle-gap-analysis.md</a:t>
            </a:r>
          </a:p>
          <a:p xmlns:a="http://schemas.openxmlformats.org/drawingml/2006/main">
            <a:r>
              <a:t>Dependency order, not new sprint scheduling. Contract definition can begin during stabilization. Existing backlog owns priority and assignment. No duplicate root items. Combine checks without claiming any single audit, coverage measure or import proves overall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progress/E.2/sprint_E.2_handover.md</a:t>
            </a:r>
          </a:p>
          <a:p xmlns:a="http://schemas.openxmlformats.org/drawingml/2006/main">
            <a:r>
              <a:t>progress/E.2/oracle-gap-analysis.md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progress/E.2/cicd-walkthrough.md</a:t>
            </a:r>
          </a:p>
          <a:p xmlns:a="http://schemas.openxmlformats.org/drawingml/2006/main">
            <a:r>
              <a:t>progress/E.2/repository-layout.md</a:t>
            </a:r>
          </a:p>
          <a:p xmlns:a="http://schemas.openxmlformats.org/drawingml/2006/main">
            <a:r>
              <a:t>.local-apex/e2/project-walkthrough/component-repo-f2</a:t>
            </a:r>
          </a:p>
          <a:p xmlns:a="http://schemas.openxmlformats.org/drawingml/2006/main">
            <a:r>
              <a:t>Actual local app repo .local-apex/e2/project-walkthrough/component-repo-f2 inspected during authoring. Tree abbreviated. artifact holds generated archives; tracked source/distribution and private archives are different retention responsibilities. .dbtools filters select Main 810003 for demonstrated release capture. Do not confuse this application repository with the parent APEX_CICD delivery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progress/E.2/cicd-walkthrough.md</a:t>
            </a:r>
          </a:p>
          <a:p xmlns:a="http://schemas.openxmlformats.org/drawingml/2006/main">
            <a:r>
              <a:t>https://docs.oracle.com/en/database/oracle/sql-developer-command-line/25.3/sqcug/project.html</a:t>
            </a:r>
          </a:p>
          <a:p xmlns:a="http://schemas.openxmlformats.org/drawingml/2006/main">
            <a:r>
              <a:t>This appendix is an explanation, not a new runnable walkthrough or a request to generate/overwrite archives. Actual artifact names and mappings are in cicd-walkthrough.md. PROJECT export does not commit to Git. Git reviews/commits are separate operations. Native commands do not infer component compatibility or implement a target drift admission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Product Owner handover, 22 October 2026. Decisions pending.</a:t>
            </a:r>
          </a:p>
          <a:p xmlns:a="http://schemas.openxmlformats.org/drawingml/2006/main">
            <a:r>
              <a:t>Sources:</a:t>
            </a:r>
          </a:p>
          <a:p xmlns:a="http://schemas.openxmlformats.org/drawingml/2006/main">
            <a:r>
              <a:t>progress/E.2/sprint_E.2_handover.md</a:t>
            </a:r>
          </a:p>
          <a:p xmlns:a="http://schemas.openxmlformats.org/drawingml/2006/main">
            <a:r>
              <a:t>progress/E.2/oracle-gap-analysis.md</a:t>
            </a:r>
          </a:p>
          <a:p xmlns:a="http://schemas.openxmlformats.org/drawingml/2006/main">
            <a:r>
              <a:t>progress/E.2/tests/project-integration-mapped-validation.json</a:t>
            </a:r>
          </a:p>
          <a:p xmlns:a="http://schemas.openxmlformats.org/drawingml/2006/main">
            <a:r>
              <a:t>progress/E.2/tests/project-f2-upgrade-validation.json</a:t>
            </a:r>
          </a:p>
          <a:p xmlns:a="http://schemas.openxmlformats.org/drawingml/2006/main">
            <a:r>
              <a:t>progress/E.2/tests/project-verify-fix-validation.json</a:t>
            </a:r>
          </a:p>
          <a:p xmlns:a="http://schemas.openxmlformats.org/drawingml/2006/main">
            <a:r>
              <a:t>refs/apex-lifecycle-management-v3.pdf</a:t>
            </a:r>
          </a:p>
          <a:p xmlns:a="http://schemas.openxmlformats.org/drawingml/2006/main">
            <a:r>
              <a:t>All source file paths relative to repository root. Primary Oracle sources: refs/apex-lifecycle-management-v3.pdf; https://docs.oracle.com/en/database/oracle/sql-developer-command-line/25.3/sqcug/project.html; https://docs.oracle.com/en/database/oracle/sql-developer-command-line/25.4/sqcug/project.html; https://docs.oracle.com/en/database/oracle/apex/24.2/htmdb/about-working-copies.html; https://docs.oracle.com/en/database/oracle/apex/24.2/htmdb/using-shared-component-subscriptions.html; https://docs.oracle.com/en/database/oracle/sql-developer-command-line/25.2/sqcug/update.html. The historical increment deck remains separate. Product Owner decisions and sprint status have not been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8edadd336d40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a9931582c645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e8959aac724e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ca52beb23143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5beebaa4e8413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c6eb28591844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1C41B4-7F0B-4845-9089-5757BE9C247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011FE91-EE4F-4A48-86F7-86969935482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DD477F-8337-4474-9415-E9E162C566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46B122-DCB7-47F1-B00B-D249471DAF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EB9F2E-FBFA-43F7-96A4-B43B690E70A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7C0E09-574F-43DF-A499-7B0F33B78F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44C3B6-9ABF-411A-99EC-F99EB0C716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0EAFB3-6F4D-45D7-BD17-B7A0F512FB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15DB22-59C1-49BA-8B1E-A59452671B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057EC2-CEC4-4FCF-9591-42EA1564F1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8fdf46bccf42a2" /><Relationship Type="http://schemas.openxmlformats.org/officeDocument/2006/relationships/slideLayout" Target="/ppt/slideLayouts/slideLayout1.xml" Id="Rd2f4f0c74cda499f" /><Relationship Type="http://schemas.openxmlformats.org/officeDocument/2006/relationships/slideLayout" Target="/ppt/slideLayouts/slideLayout2.xml" Id="R43578eaceb3a4ddf" /><Relationship Type="http://schemas.openxmlformats.org/officeDocument/2006/relationships/slideLayout" Target="/ppt/slideLayouts/slideLayout3.xml" Id="Rba4d04da4f9b4638" /><Relationship Type="http://schemas.openxmlformats.org/officeDocument/2006/relationships/slideLayout" Target="/ppt/slideLayouts/slideLayout4.xml" Id="R2272cf7d666c4566" /><Relationship Type="http://schemas.openxmlformats.org/officeDocument/2006/relationships/slideLayout" Target="/ppt/slideLayouts/slideLayout5.xml" Id="Rd06f7d856c5d48eb" /><Relationship Type="http://schemas.openxmlformats.org/officeDocument/2006/relationships/slideLayout" Target="/ppt/slideLayouts/slideLayout6.xml" Id="R1a735705da194a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f4f0c74cda499f"/>
    <p:sldLayoutId xmlns:r="http://schemas.openxmlformats.org/officeDocument/2006/relationships" id="2147483650" r:id="R43578eaceb3a4ddf"/>
    <p:sldLayoutId xmlns:r="http://schemas.openxmlformats.org/officeDocument/2006/relationships" id="2147483651" r:id="Rba4d04da4f9b4638"/>
    <p:sldLayoutId xmlns:r="http://schemas.openxmlformats.org/officeDocument/2006/relationships" id="2147483652" r:id="R2272cf7d666c4566"/>
    <p:sldLayoutId xmlns:r="http://schemas.openxmlformats.org/officeDocument/2006/relationships" id="2147483653" r:id="Rd06f7d856c5d48eb"/>
    <p:sldLayoutId xmlns:r="http://schemas.openxmlformats.org/officeDocument/2006/relationships" id="2147483654" r:id="R1a735705da194a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8b37c5a0cd40a4" /><Relationship Type="http://schemas.openxmlformats.org/officeDocument/2006/relationships/notesSlide" Target="/ppt/notesSlides/notesSlide1.xml" Id="R3f5b57ba395049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43641eceb242eb" /><Relationship Type="http://schemas.openxmlformats.org/officeDocument/2006/relationships/notesSlide" Target="/ppt/notesSlides/notesSlide2.xml" Id="R3e40b61d8f1d4d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0731e0ddbd34832" /><Relationship Type="http://schemas.openxmlformats.org/officeDocument/2006/relationships/image" Target="/ppt/media/image.jpeg" Id="R677c49a44d584e8c" /><Relationship Type="http://schemas.openxmlformats.org/officeDocument/2006/relationships/notesSlide" Target="/ppt/notesSlides/notesSlide3.xml" Id="R5e2abdf85f6c49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2a2fbb51f34de5" /><Relationship Type="http://schemas.openxmlformats.org/officeDocument/2006/relationships/notesSlide" Target="/ppt/notesSlides/notesSlide4.xml" Id="R727208cd9dde40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c978a258ba4fca" /><Relationship Type="http://schemas.openxmlformats.org/officeDocument/2006/relationships/notesSlide" Target="/ppt/notesSlides/notesSlide5.xml" Id="Re562890124904b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73058d6f6a34a2a" /><Relationship Type="http://schemas.openxmlformats.org/officeDocument/2006/relationships/notesSlide" Target="/ppt/notesSlides/notesSlide6.xml" Id="Rac55af5ecc7f46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e79c7695884e3c" /><Relationship Type="http://schemas.openxmlformats.org/officeDocument/2006/relationships/notesSlide" Target="/ppt/notesSlides/notesSlide7.xml" Id="Rbaa48a51270a4e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42bebf2bc646ac" /><Relationship Type="http://schemas.openxmlformats.org/officeDocument/2006/relationships/notesSlide" Target="/ppt/notesSlides/notesSlide8.xml" Id="Rb864892d3ebd43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e9d59e8bab4aa4" /><Relationship Type="http://schemas.openxmlformats.org/officeDocument/2006/relationships/notesSlide" Target="/ppt/notesSlides/notesSlide9.xml" Id="R3f7f4ce163584b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2c820d3b56e46ca" /><Relationship Type="http://schemas.openxmlformats.org/officeDocument/2006/relationships/notesSlide" Target="/ppt/notesSlides/notesSlide10.xml" Id="R2566c90d7e2641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19b57ef0be4cf5" /><Relationship Type="http://schemas.openxmlformats.org/officeDocument/2006/relationships/notesSlide" Target="/ppt/notesSlides/notesSlide11.xml" Id="R9fcb130be10246a2" /></Relationships>
</file>

<file path=ppt/slides/slide1.xml><?xml version="1.0" encoding="utf-8"?>
<p:sld xmlns:p="http://schemas.openxmlformats.org/presentationml/2006/main">
  <p:cSld>
    <p:bg>
      <p:bgPr>
        <a:solidFill xmlns:a="http://schemas.openxmlformats.org/drawingml/2006/main">
          <a:srgbClr val="14313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95757C-0C23-4238-AFBD-946EA44BE90C}"/>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E.2</a:t>
            </a:r>
          </a:p>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Product Owner handover</a:t>
            </a:r>
          </a:p>
        </p:txBody>
      </p:sp>
      <p:sp>
        <p:nvSpPr>
          <p:cNvPr id="2" name="">
            <a:extLst xmlns:a="http://schemas.openxmlformats.org/drawingml/2006/main">
              <a:ext uri="{FF2B5EF4-FFF2-40B4-BE49-F238E27FC236}">
                <a16:creationId xmlns:a16="http://schemas.microsoft.com/office/drawing/2014/main" id="{A248715F-43D4-4317-8577-009D8B2ED173}"/>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5E4E6"/>
                </a:solidFill>
                <a:latin typeface="Arial"/>
                <a:ea typeface="Arial"/>
                <a:cs typeface="Arial"/>
              </a:defRPr>
            </a:defPPr>
          </a:lstStyle>
          <a:p xmlns:a="http://schemas.openxmlformats.org/drawingml/2006/main">
            <a:pPr>
              <a:defRPr sz="1200" b="0">
                <a:solidFill>
                  <a:srgbClr val="D5E4E6"/>
                </a:solidFill>
                <a:latin typeface="Arial"/>
                <a:ea typeface="Arial"/>
                <a:cs typeface="Arial"/>
              </a:defRPr>
            </a:pPr>
            <a:r>
              <a:rPr sz="1200" b="0">
                <a:solidFill>
                  <a:srgbClr val="D5E4E6"/>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9FE5B57-E8DC-4DB4-95EB-CA56E1B7728A}"/>
              </a:ext>
            </a:extLst>
          </p:cNvPr>
          <p:cNvSpPr>
            <a:spLocks xmlns:a="http://schemas.openxmlformats.org/drawingml/2006/main" noGrp="1"/>
          </p:cNvSpPr>
          <p:nvPr/>
        </p:nvSpPr>
        <p:spPr>
          <a:xfrm xmlns:a="http://schemas.openxmlformats.org/drawingml/2006/main">
            <a:off x="609600" y="21717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SQLcl PROJECT and Working Copies</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fit the delivery approach</a:t>
            </a:r>
          </a:p>
        </p:txBody>
      </p:sp>
      <p:sp>
        <p:nvSpPr>
          <p:cNvPr id="4" name="">
            <a:extLst xmlns:a="http://schemas.openxmlformats.org/drawingml/2006/main">
              <a:ext uri="{FF2B5EF4-FFF2-40B4-BE49-F238E27FC236}">
                <a16:creationId xmlns:a16="http://schemas.microsoft.com/office/drawing/2014/main" id="{4AE7D9B9-278C-4255-8834-BB2B5020BD1D}"/>
              </a:ext>
            </a:extLst>
          </p:cNvPr>
          <p:cNvSpPr>
            <a:spLocks xmlns:a="http://schemas.openxmlformats.org/drawingml/2006/main" noGrp="1"/>
          </p:cNvSpPr>
          <p:nvPr/>
        </p:nvSpPr>
        <p:spPr>
          <a:xfrm xmlns:a="http://schemas.openxmlformats.org/drawingml/2006/main">
            <a:off x="609600" y="37338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D5E4E6"/>
                </a:solidFill>
                <a:latin typeface="Arial"/>
                <a:ea typeface="Arial"/>
                <a:cs typeface="Arial"/>
              </a:defRPr>
            </a:defPPr>
          </a:lstStyle>
          <a:p xmlns:a="http://schemas.openxmlformats.org/drawingml/2006/main">
            <a:pPr>
              <a:defRPr sz="2400" b="0">
                <a:solidFill>
                  <a:srgbClr val="D5E4E6"/>
                </a:solidFill>
                <a:latin typeface="Arial"/>
                <a:ea typeface="Arial"/>
                <a:cs typeface="Arial"/>
              </a:defRPr>
            </a:pPr>
            <a:r>
              <a:rPr sz="2400" b="0">
                <a:solidFill>
                  <a:srgbClr val="D5E4E6"/>
                </a:solidFill>
                <a:latin typeface="Arial"/>
                <a:ea typeface="Arial"/>
                <a:cs typeface="Arial"/>
              </a:rPr>
              <a:t>Continue qualification before production adoption</a:t>
            </a:r>
          </a:p>
        </p:txBody>
      </p:sp>
      <p:sp>
        <p:nvSpPr>
          <p:cNvPr id="5" name="">
            <a:extLst xmlns:a="http://schemas.openxmlformats.org/drawingml/2006/main">
              <a:ext uri="{FF2B5EF4-FFF2-40B4-BE49-F238E27FC236}">
                <a16:creationId xmlns:a16="http://schemas.microsoft.com/office/drawing/2014/main" id="{32FCD1C0-0018-4CDC-AC41-0EA3300BD2CB}"/>
              </a:ext>
            </a:extLst>
          </p:cNvPr>
          <p:cNvSpPr>
            <a:spLocks xmlns:a="http://schemas.openxmlformats.org/drawingml/2006/main" noGrp="1"/>
          </p:cNvSpPr>
          <p:nvPr/>
        </p:nvSpPr>
        <p:spPr>
          <a:xfrm xmlns:a="http://schemas.openxmlformats.org/drawingml/2006/main">
            <a:off x="609600" y="4876800"/>
            <a:ext cx="1000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D5E4E6"/>
                </a:solidFill>
                <a:latin typeface="Arial"/>
                <a:ea typeface="Arial"/>
                <a:cs typeface="Arial"/>
              </a:defRPr>
            </a:defPPr>
          </a:lstStyle>
          <a:p xmlns:a="http://schemas.openxmlformats.org/drawingml/2006/main">
            <a:pPr>
              <a:defRPr sz="2175" b="0">
                <a:solidFill>
                  <a:srgbClr val="D5E4E6"/>
                </a:solidFill>
                <a:latin typeface="Arial"/>
                <a:ea typeface="Arial"/>
                <a:cs typeface="Arial"/>
              </a:defRPr>
            </a:pPr>
            <a:r>
              <a:rPr sz="2175" b="0">
                <a:solidFill>
                  <a:srgbClr val="D5E4E6"/>
                </a:solidFill>
                <a:latin typeface="Arial"/>
                <a:ea typeface="Arial"/>
                <a:cs typeface="Arial"/>
              </a:rPr>
              <a:t>Give developers flexibility through stable,</a:t>
            </a:r>
          </a:p>
          <a:p xmlns:a="http://schemas.openxmlformats.org/drawingml/2006/main">
            <a:pPr>
              <a:defRPr sz="2175" b="0">
                <a:solidFill>
                  <a:srgbClr val="D5E4E6"/>
                </a:solidFill>
                <a:latin typeface="Arial"/>
                <a:ea typeface="Arial"/>
                <a:cs typeface="Arial"/>
              </a:defRPr>
            </a:pPr>
            <a:r>
              <a:rPr sz="2175" b="0">
                <a:solidFill>
                  <a:srgbClr val="D5E4E6"/>
                </a:solidFill>
                <a:latin typeface="Arial"/>
                <a:ea typeface="Arial"/>
                <a:cs typeface="Arial"/>
              </a:rPr>
              <a:t>industry-standard tools and techniques.</a:t>
            </a:r>
          </a:p>
        </p:txBody>
      </p:sp>
      <p:sp>
        <p:nvSpPr>
          <p:cNvPr id="6" name="">
            <a:extLst xmlns:a="http://schemas.openxmlformats.org/drawingml/2006/main">
              <a:ext uri="{FF2B5EF4-FFF2-40B4-BE49-F238E27FC236}">
                <a16:creationId xmlns:a16="http://schemas.microsoft.com/office/drawing/2014/main" id="{BA93E160-F1A3-4891-8138-5581CCFA6B72}"/>
              </a:ext>
            </a:extLst>
          </p:cNvPr>
          <p:cNvSpPr>
            <a:spLocks xmlns:a="http://schemas.openxmlformats.org/drawingml/2006/main" noGrp="1"/>
          </p:cNvSpPr>
          <p:nvPr/>
        </p:nvSpPr>
        <p:spPr>
          <a:xfrm xmlns:a="http://schemas.openxmlformats.org/drawingml/2006/main">
            <a:off x="609600" y="6191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D5E4E6"/>
                </a:solidFill>
                <a:latin typeface="Arial"/>
                <a:ea typeface="Arial"/>
                <a:cs typeface="Arial"/>
              </a:defRPr>
            </a:defPPr>
          </a:lstStyle>
          <a:p xmlns:a="http://schemas.openxmlformats.org/drawingml/2006/main">
            <a:pPr>
              <a:defRPr sz="1500" b="0">
                <a:solidFill>
                  <a:srgbClr val="D5E4E6"/>
                </a:solidFill>
                <a:latin typeface="Arial"/>
                <a:ea typeface="Arial"/>
                <a:cs typeface="Arial"/>
              </a:defRPr>
            </a:pPr>
            <a:r>
              <a:rPr sz="1500" b="0">
                <a:solidFill>
                  <a:srgbClr val="D5E4E6"/>
                </a:solidFill>
                <a:latin typeface="Arial"/>
                <a:ea typeface="Arial"/>
                <a:cs typeface="Arial"/>
              </a:rPr>
              <a:t>22 October 2026</a:t>
            </a:r>
          </a:p>
        </p:txBody>
      </p:sp>
    </p:spTree>
    <p:extLst>
      <p:ext uri="{BB962C8B-B14F-4D97-AF65-F5344CB8AC3E}">
        <p14:creationId xmlns:p14="http://schemas.microsoft.com/office/powerpoint/2010/main" val="9830605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5BFA72-DF3A-451A-AE2F-0DEB8643E005}"/>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313E"/>
                </a:solidFill>
                <a:latin typeface="Arial"/>
                <a:ea typeface="Arial"/>
                <a:cs typeface="Arial"/>
              </a:defRPr>
            </a:defPPr>
          </a:lstStyle>
          <a:p xmlns:a="http://schemas.openxmlformats.org/drawingml/2006/main">
            <a:pPr>
              <a:defRPr sz="3300" b="1">
                <a:solidFill>
                  <a:srgbClr val="14313E"/>
                </a:solidFill>
                <a:latin typeface="Arial"/>
                <a:ea typeface="Arial"/>
                <a:cs typeface="Arial"/>
              </a:defRPr>
            </a:pPr>
            <a:r>
              <a:rPr sz="3300" b="1">
                <a:solidFill>
                  <a:srgbClr val="14313E"/>
                </a:solidFill>
                <a:latin typeface="Arial"/>
                <a:ea typeface="Arial"/>
                <a:cs typeface="Arial"/>
              </a:rPr>
              <a:t>Demonstrated delivery outcomes</a:t>
            </a:r>
          </a:p>
        </p:txBody>
      </p:sp>
      <p:sp>
        <p:nvSpPr>
          <p:cNvPr id="2" name="">
            <a:extLst xmlns:a="http://schemas.openxmlformats.org/drawingml/2006/main">
              <a:ext uri="{FF2B5EF4-FFF2-40B4-BE49-F238E27FC236}">
                <a16:creationId xmlns:a16="http://schemas.microsoft.com/office/drawing/2014/main" id="{E53D8D56-B5A2-4BF9-8BC0-AC1D8A60F2B1}"/>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36D"/>
                </a:solidFill>
                <a:latin typeface="Arial"/>
                <a:ea typeface="Arial"/>
                <a:cs typeface="Arial"/>
              </a:defRPr>
            </a:defPPr>
          </a:lstStyle>
          <a:p xmlns:a="http://schemas.openxmlformats.org/drawingml/2006/main">
            <a:pPr>
              <a:defRPr sz="1200" b="0">
                <a:solidFill>
                  <a:srgbClr val="52636D"/>
                </a:solidFill>
                <a:latin typeface="Arial"/>
                <a:ea typeface="Arial"/>
                <a:cs typeface="Arial"/>
              </a:defRPr>
            </a:pPr>
            <a:r>
              <a:rPr sz="1200" b="0">
                <a:solidFill>
                  <a:srgbClr val="52636D"/>
                </a:solidFill>
                <a:latin typeface="Arial"/>
                <a:ea typeface="Arial"/>
                <a:cs typeface="Arial"/>
              </a:rPr>
              <a:t>02</a:t>
            </a:r>
          </a:p>
        </p:txBody>
      </p:sp>
      <p:graphicFrame>
        <p:nvGraphicFramePr>
          <p:cNvPr id="3" name="">
            <a:extLst xmlns:a="http://schemas.openxmlformats.org/drawingml/2006/main">
              <a:ext uri="{FF2B5EF4-FFF2-40B4-BE49-F238E27FC236}">
                <a16:creationId xmlns:a16="http://schemas.microsoft.com/office/drawing/2014/main" id="{F8DB661B-A22D-4B23-A8FF-2789E34C3A0D}"/>
              </a:ext>
            </a:extLst>
          </p:cNvPr>
          <p:cNvGraphicFramePr/>
          <p:nvPr/>
        </p:nvGraphicFramePr>
        <p:xfrm>
          <a:off xmlns:a="http://schemas.openxmlformats.org/drawingml/2006/main" x="609600" y="1571625"/>
          <a:ext xmlns:a="http://schemas.openxmlformats.org/drawingml/2006/main" cx="10972800" cy="3571875"/>
        </p:xfrm>
        <a:graphic xmlns:a="http://schemas.openxmlformats.org/drawingml/2006/main">
          <a:graphicData uri="http://schemas.openxmlformats.org/drawingml/2006/table">
            <a:tbl>
              <a:tblPr firstRow="1" bandRow="0"/>
              <a:tblGrid>
                <a:gridCol w="2952750"/>
                <a:gridCol w="8020050"/>
              </a:tblGrid>
              <a:tr h="714375">
                <a:tc>
                  <a:txBody>
                    <a:bodyPr lIns="152400" tIns="152400" rIns="152400" bIns="152400">
                      <a:noAutofit/>
                    </a:bodyPr>
                    <a:lstStyle/>
                    <a:p>
                      <a:r>
                        <a:rPr sz="1800" b="1">
                          <a:solidFill>
                            <a:srgbClr val="FFFFFF"/>
                          </a:solidFill>
                          <a:latin typeface="Arial"/>
                          <a:ea typeface="Arial"/>
                          <a:cs typeface="Arial"/>
                        </a:rPr>
                        <a:t>Capability</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4313E"/>
                    </a:solidFill>
                  </a:tcPr>
                </a:tc>
                <a:tc>
                  <a:txBody>
                    <a:bodyPr lIns="152400" tIns="152400" rIns="152400" bIns="152400">
                      <a:noAutofit/>
                    </a:bodyPr>
                    <a:lstStyle/>
                    <a:p>
                      <a:r>
                        <a:rPr sz="1800" b="1">
                          <a:solidFill>
                            <a:srgbClr val="FFFFFF"/>
                          </a:solidFill>
                          <a:latin typeface="Arial"/>
                          <a:ea typeface="Arial"/>
                          <a:cs typeface="Arial"/>
                        </a:rPr>
                        <a:t>E.2 result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4313E"/>
                    </a:solidFill>
                  </a:tcPr>
                </a:tc>
              </a:tr>
              <a:tr h="714375">
                <a:tc>
                  <a:txBody>
                    <a:bodyPr lIns="152400" tIns="152400" rIns="152400" bIns="152400">
                      <a:noAutofit/>
                    </a:bodyPr>
                    <a:lstStyle/>
                    <a:p>
                      <a:r>
                        <a:rPr sz="2025" b="1">
                          <a:solidFill>
                            <a:srgbClr val="14313E"/>
                          </a:solidFill>
                          <a:latin typeface="Arial"/>
                          <a:ea typeface="Arial"/>
                          <a:cs typeface="Arial"/>
                        </a:rPr>
                        <a:t>PROJECT lifecycle</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5F4"/>
                    </a:solidFill>
                  </a:tcPr>
                </a:tc>
                <a:tc>
                  <a:txBody>
                    <a:bodyPr lIns="152400" tIns="152400" rIns="152400" bIns="152400">
                      <a:noAutofit/>
                    </a:bodyPr>
                    <a:lstStyle/>
                    <a:p>
                      <a:r>
                        <a:rPr sz="2025" b="0">
                          <a:solidFill>
                            <a:srgbClr val="14313E"/>
                          </a:solidFill>
                          <a:latin typeface="Arial"/>
                          <a:ea typeface="Arial"/>
                          <a:cs typeface="Arial"/>
                        </a:rPr>
                        <a:t>Capture, stage, package and mapped deployment worked</a:t>
                      </a:r>
                    </a:p>
                  </a:txBody>
                  <a:tcPr marL="91440" marR="91440" marT="45720" marB="45720" anchor="ctr">
                    <a:lnR w="19050">
                      <a:solidFill>
                        <a:srgbClr val="FFFFFF"/>
                      </a:solidFill>
                      <a:prstDash val="solid"/>
                    </a:lnR>
                    <a:lnB w="19050">
                      <a:solidFill>
                        <a:srgbClr val="FFFFFF"/>
                      </a:solidFill>
                      <a:prstDash val="solid"/>
                    </a:lnB>
                    <a:solidFill>
                      <a:srgbClr val="F0F5F4"/>
                    </a:solidFill>
                  </a:tcPr>
                </a:tc>
              </a:tr>
              <a:tr h="714375">
                <a:tc>
                  <a:txBody>
                    <a:bodyPr lIns="152400" tIns="152400" rIns="152400" bIns="152400">
                      <a:noAutofit/>
                    </a:bodyPr>
                    <a:lstStyle/>
                    <a:p>
                      <a:r>
                        <a:rPr sz="2025" b="1">
                          <a:solidFill>
                            <a:srgbClr val="14313E"/>
                          </a:solidFill>
                          <a:latin typeface="Arial"/>
                          <a:ea typeface="Arial"/>
                          <a:cs typeface="Arial"/>
                        </a:rPr>
                        <a:t>Initial delivery</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152400" tIns="152400" rIns="152400" bIns="152400">
                      <a:noAutofit/>
                    </a:bodyPr>
                    <a:lstStyle/>
                    <a:p>
                      <a:r>
                        <a:rPr sz="2025" b="0">
                          <a:solidFill>
                            <a:srgbClr val="14313E"/>
                          </a:solidFill>
                          <a:latin typeface="Arial"/>
                          <a:ea typeface="Arial"/>
                          <a:cs typeface="Arial"/>
                        </a:rPr>
                        <a:t>Integration and UAT used the same initial archive</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714375">
                <a:tc>
                  <a:txBody>
                    <a:bodyPr lIns="152400" tIns="152400" rIns="152400" bIns="152400">
                      <a:noAutofit/>
                    </a:bodyPr>
                    <a:lstStyle/>
                    <a:p>
                      <a:r>
                        <a:rPr sz="2025" b="1">
                          <a:solidFill>
                            <a:srgbClr val="14313E"/>
                          </a:solidFill>
                          <a:latin typeface="Arial"/>
                          <a:ea typeface="Arial"/>
                          <a:cs typeface="Arial"/>
                        </a:rPr>
                        <a:t>Hello 1.0.1 patch</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5F4"/>
                    </a:solidFill>
                  </a:tcPr>
                </a:tc>
                <a:tc>
                  <a:txBody>
                    <a:bodyPr lIns="152400" tIns="152400" rIns="152400" bIns="152400">
                      <a:noAutofit/>
                    </a:bodyPr>
                    <a:lstStyle/>
                    <a:p>
                      <a:r>
                        <a:rPr sz="2025" b="0">
                          <a:solidFill>
                            <a:srgbClr val="14313E"/>
                          </a:solidFill>
                          <a:latin typeface="Arial"/>
                          <a:ea typeface="Arial"/>
                          <a:cs typeface="Arial"/>
                        </a:rPr>
                        <a:t>Fresh installation, populated upgrade and repeat passed</a:t>
                      </a:r>
                    </a:p>
                  </a:txBody>
                  <a:tcPr marL="91440" marR="91440" marT="45720" marB="45720" anchor="ctr">
                    <a:lnR w="19050">
                      <a:solidFill>
                        <a:srgbClr val="FFFFFF"/>
                      </a:solidFill>
                      <a:prstDash val="solid"/>
                    </a:lnR>
                    <a:lnB w="19050">
                      <a:solidFill>
                        <a:srgbClr val="FFFFFF"/>
                      </a:solidFill>
                      <a:prstDash val="solid"/>
                    </a:lnB>
                    <a:solidFill>
                      <a:srgbClr val="F0F5F4"/>
                    </a:solidFill>
                  </a:tcPr>
                </a:tc>
              </a:tr>
              <a:tr h="714375">
                <a:tc>
                  <a:txBody>
                    <a:bodyPr lIns="152400" tIns="152400" rIns="152400" bIns="152400">
                      <a:noAutofit/>
                    </a:bodyPr>
                    <a:lstStyle/>
                    <a:p>
                      <a:r>
                        <a:rPr sz="2025" b="1">
                          <a:solidFill>
                            <a:srgbClr val="14313E"/>
                          </a:solidFill>
                          <a:latin typeface="Arial"/>
                          <a:ea typeface="Arial"/>
                          <a:cs typeface="Arial"/>
                        </a:rPr>
                        <a:t>Runtime access</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152400" tIns="152400" rIns="152400" bIns="152400">
                      <a:noAutofit/>
                    </a:bodyPr>
                    <a:lstStyle/>
                    <a:p>
                      <a:r>
                        <a:rPr sz="2025" b="0">
                          <a:solidFill>
                            <a:srgbClr val="14313E"/>
                          </a:solidFill>
                          <a:latin typeface="Arial"/>
                          <a:ea typeface="Arial"/>
                          <a:cs typeface="Arial"/>
                        </a:rPr>
                        <a:t>Restricted verifier access and native publication worked</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452A984-07AF-49B6-A455-28897436228C}"/>
              </a:ext>
            </a:extLst>
          </p:cNvPr>
          <p:cNvSpPr>
            <a:spLocks xmlns:a="http://schemas.openxmlformats.org/drawingml/2006/main" noGrp="1"/>
          </p:cNvSpPr>
          <p:nvPr/>
        </p:nvSpPr>
        <p:spPr>
          <a:xfrm xmlns:a="http://schemas.openxmlformats.org/drawingml/2006/main">
            <a:off x="609600" y="5467350"/>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26B70"/>
                </a:solidFill>
                <a:latin typeface="Arial"/>
                <a:ea typeface="Arial"/>
                <a:cs typeface="Arial"/>
              </a:defRPr>
            </a:defPPr>
          </a:lstStyle>
          <a:p xmlns:a="http://schemas.openxmlformats.org/drawingml/2006/main">
            <a:pPr>
              <a:defRPr sz="2100" b="1">
                <a:solidFill>
                  <a:srgbClr val="126B70"/>
                </a:solidFill>
                <a:latin typeface="Arial"/>
                <a:ea typeface="Arial"/>
                <a:cs typeface="Arial"/>
              </a:defRPr>
            </a:pPr>
            <a:r>
              <a:rPr sz="2100" b="1">
                <a:solidFill>
                  <a:srgbClr val="126B70"/>
                </a:solidFill>
                <a:latin typeface="Arial"/>
                <a:ea typeface="Arial"/>
                <a:cs typeface="Arial"/>
              </a:rPr>
              <a:t>Reference patch runs: 26 fresh, 4 applied on upgrade, 0 on repeat</a:t>
            </a:r>
          </a:p>
        </p:txBody>
      </p:sp>
      <p:sp>
        <p:nvSpPr>
          <p:cNvPr id="5" name="">
            <a:extLst xmlns:a="http://schemas.openxmlformats.org/drawingml/2006/main">
              <a:ext uri="{FF2B5EF4-FFF2-40B4-BE49-F238E27FC236}">
                <a16:creationId xmlns:a16="http://schemas.microsoft.com/office/drawing/2014/main" id="{DEBA4E83-D9C8-4E07-AEED-92D86C4B93CF}"/>
              </a:ext>
            </a:extLst>
          </p:cNvPr>
          <p:cNvSpPr>
            <a:spLocks xmlns:a="http://schemas.openxmlformats.org/drawingml/2006/main" noGrp="1"/>
          </p:cNvSpPr>
          <p:nvPr/>
        </p:nvSpPr>
        <p:spPr>
          <a:xfrm xmlns:a="http://schemas.openxmlformats.org/drawingml/2006/main">
            <a:off x="609600" y="601980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2636D"/>
                </a:solidFill>
                <a:latin typeface="Arial"/>
                <a:ea typeface="Arial"/>
                <a:cs typeface="Arial"/>
              </a:defRPr>
            </a:defPPr>
          </a:lstStyle>
          <a:p xmlns:a="http://schemas.openxmlformats.org/drawingml/2006/main">
            <a:pPr>
              <a:defRPr sz="1575" b="0">
                <a:solidFill>
                  <a:srgbClr val="52636D"/>
                </a:solidFill>
                <a:latin typeface="Arial"/>
                <a:ea typeface="Arial"/>
                <a:cs typeface="Arial"/>
              </a:defRPr>
            </a:pPr>
            <a:r>
              <a:rPr sz="1575" b="0">
                <a:solidFill>
                  <a:srgbClr val="52636D"/>
                </a:solidFill>
                <a:latin typeface="Arial"/>
                <a:ea typeface="Arial"/>
                <a:cs typeface="Arial"/>
              </a:rPr>
              <a:t>Integration receipts record preparation. The Product Owner reported F, including UAT, completed.</a:t>
            </a:r>
          </a:p>
        </p:txBody>
      </p:sp>
    </p:spTree>
    <p:extLst>
      <p:ext uri="{BB962C8B-B14F-4D97-AF65-F5344CB8AC3E}">
        <p14:creationId xmlns:p14="http://schemas.microsoft.com/office/powerpoint/2010/main" val="19088918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77C943-5AC9-44C2-9DFA-BC633977297F}"/>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313E"/>
                </a:solidFill>
                <a:latin typeface="Arial"/>
                <a:ea typeface="Arial"/>
                <a:cs typeface="Arial"/>
              </a:defRPr>
            </a:defPPr>
          </a:lstStyle>
          <a:p xmlns:a="http://schemas.openxmlformats.org/drawingml/2006/main">
            <a:pPr>
              <a:defRPr sz="3300" b="1">
                <a:solidFill>
                  <a:srgbClr val="14313E"/>
                </a:solidFill>
                <a:latin typeface="Arial"/>
                <a:ea typeface="Arial"/>
                <a:cs typeface="Arial"/>
              </a:defRPr>
            </a:pPr>
            <a:r>
              <a:rPr sz="3300" b="1">
                <a:solidFill>
                  <a:srgbClr val="14313E"/>
                </a:solidFill>
                <a:latin typeface="Arial"/>
                <a:ea typeface="Arial"/>
                <a:cs typeface="Arial"/>
              </a:rPr>
              <a:t>Working Copy integration and the team checkpoint</a:t>
            </a:r>
          </a:p>
        </p:txBody>
      </p:sp>
      <p:sp>
        <p:nvSpPr>
          <p:cNvPr id="2" name="">
            <a:extLst xmlns:a="http://schemas.openxmlformats.org/drawingml/2006/main">
              <a:ext uri="{FF2B5EF4-FFF2-40B4-BE49-F238E27FC236}">
                <a16:creationId xmlns:a16="http://schemas.microsoft.com/office/drawing/2014/main" id="{5D7C2984-66F9-46E2-B801-657AD1740D58}"/>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36D"/>
                </a:solidFill>
                <a:latin typeface="Arial"/>
                <a:ea typeface="Arial"/>
                <a:cs typeface="Arial"/>
              </a:defRPr>
            </a:defPPr>
          </a:lstStyle>
          <a:p xmlns:a="http://schemas.openxmlformats.org/drawingml/2006/main">
            <a:pPr>
              <a:defRPr sz="1200" b="0">
                <a:solidFill>
                  <a:srgbClr val="52636D"/>
                </a:solidFill>
                <a:latin typeface="Arial"/>
                <a:ea typeface="Arial"/>
                <a:cs typeface="Arial"/>
              </a:defRPr>
            </a:pPr>
            <a:r>
              <a:rPr sz="1200" b="0">
                <a:solidFill>
                  <a:srgbClr val="52636D"/>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12B4306B-EA92-434D-A029-F456A49D27FD}"/>
              </a:ext>
            </a:extLst>
          </p:cNvPr>
          <p:cNvPicPr>
            <a:picLocks xmlns:a="http://schemas.openxmlformats.org/drawingml/2006/main" noChangeAspect="1"/>
          </p:cNvPicPr>
          <p:nvPr/>
        </p:nvPicPr>
        <p:blipFill>
          <a:blip xmlns:r="http://schemas.openxmlformats.org/officeDocument/2006/relationships" xmlns:a="http://schemas.openxmlformats.org/drawingml/2006/main" r:embed="R677c49a44d584e8c"/>
          <a:srcRect xmlns:a="http://schemas.openxmlformats.org/drawingml/2006/main" l="2200" t="12000" r="25500" b="45500"/>
          <a:stretch xmlns:a="http://schemas.openxmlformats.org/drawingml/2006/main"/>
        </p:blipFill>
        <p:spPr>
          <a:xfrm xmlns:a="http://schemas.openxmlformats.org/drawingml/2006/main">
            <a:off x="609600" y="1562100"/>
            <a:ext cx="10972800"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3D2312B-C9DC-458C-97F6-A21AD1795B58}"/>
              </a:ext>
            </a:extLst>
          </p:cNvPr>
          <p:cNvSpPr>
            <a:spLocks xmlns:a="http://schemas.openxmlformats.org/drawingml/2006/main" noGrp="1"/>
          </p:cNvSpPr>
          <p:nvPr/>
        </p:nvSpPr>
        <p:spPr>
          <a:xfrm xmlns:a="http://schemas.openxmlformats.org/drawingml/2006/main">
            <a:off x="609600" y="59340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26B70"/>
                </a:solidFill>
                <a:latin typeface="Arial"/>
                <a:ea typeface="Arial"/>
                <a:cs typeface="Arial"/>
              </a:defRPr>
            </a:defPPr>
          </a:lstStyle>
          <a:p xmlns:a="http://schemas.openxmlformats.org/drawingml/2006/main">
            <a:pPr>
              <a:defRPr sz="2100" b="1">
                <a:solidFill>
                  <a:srgbClr val="126B70"/>
                </a:solidFill>
                <a:latin typeface="Arial"/>
                <a:ea typeface="Arial"/>
                <a:cs typeface="Arial"/>
              </a:defRPr>
            </a:pPr>
            <a:r>
              <a:rPr sz="2100" b="1">
                <a:solidFill>
                  <a:srgbClr val="126B70"/>
                </a:solidFill>
                <a:latin typeface="Arial"/>
                <a:ea typeface="Arial"/>
                <a:cs typeface="Arial"/>
              </a:rPr>
              <a:t>Reviewed Main state reaches Git through PROJECT export</a:t>
            </a:r>
          </a:p>
        </p:txBody>
      </p:sp>
      <p:sp>
        <p:nvSpPr>
          <p:cNvPr id="5" name="">
            <a:extLst xmlns:a="http://schemas.openxmlformats.org/drawingml/2006/main">
              <a:ext uri="{FF2B5EF4-FFF2-40B4-BE49-F238E27FC236}">
                <a16:creationId xmlns:a16="http://schemas.microsoft.com/office/drawing/2014/main" id="{1DEDC253-BE0A-4B65-BC1E-0BC3561BFB0A}"/>
              </a:ext>
            </a:extLst>
          </p:cNvPr>
          <p:cNvSpPr>
            <a:spLocks xmlns:a="http://schemas.openxmlformats.org/drawingml/2006/main" noGrp="1"/>
          </p:cNvSpPr>
          <p:nvPr/>
        </p:nvSpPr>
        <p:spPr>
          <a:xfrm xmlns:a="http://schemas.openxmlformats.org/drawingml/2006/main">
            <a:off x="609600" y="63436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2636D"/>
                </a:solidFill>
                <a:latin typeface="Arial"/>
                <a:ea typeface="Arial"/>
                <a:cs typeface="Arial"/>
              </a:defRPr>
            </a:defPPr>
          </a:lstStyle>
          <a:p xmlns:a="http://schemas.openxmlformats.org/drawingml/2006/main">
            <a:pPr>
              <a:defRPr sz="1350" b="0">
                <a:solidFill>
                  <a:srgbClr val="52636D"/>
                </a:solidFill>
                <a:latin typeface="Arial"/>
                <a:ea typeface="Arial"/>
                <a:cs typeface="Arial"/>
              </a:defRPr>
            </a:pPr>
            <a:r>
              <a:rPr sz="1350" b="0">
                <a:solidFill>
                  <a:srgbClr val="52636D"/>
                </a:solidFill>
                <a:latin typeface="Arial"/>
                <a:ea typeface="Arial"/>
                <a:cs typeface="Arial"/>
              </a:rPr>
              <a:t>Retained desktop repeat on the earlier fixture</a:t>
            </a:r>
          </a:p>
        </p:txBody>
      </p:sp>
    </p:spTree>
    <p:extLst>
      <p:ext uri="{BB962C8B-B14F-4D97-AF65-F5344CB8AC3E}">
        <p14:creationId xmlns:p14="http://schemas.microsoft.com/office/powerpoint/2010/main" val="12546229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A189F1-13EE-482C-987D-954933AE935B}"/>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313E"/>
                </a:solidFill>
                <a:latin typeface="Arial"/>
                <a:ea typeface="Arial"/>
                <a:cs typeface="Arial"/>
              </a:defRPr>
            </a:defPPr>
          </a:lstStyle>
          <a:p xmlns:a="http://schemas.openxmlformats.org/drawingml/2006/main">
            <a:pPr>
              <a:defRPr sz="3300" b="1">
                <a:solidFill>
                  <a:srgbClr val="14313E"/>
                </a:solidFill>
                <a:latin typeface="Arial"/>
                <a:ea typeface="Arial"/>
                <a:cs typeface="Arial"/>
              </a:defRPr>
            </a:pPr>
            <a:r>
              <a:rPr sz="3300" b="1">
                <a:solidFill>
                  <a:srgbClr val="14313E"/>
                </a:solidFill>
                <a:latin typeface="Arial"/>
                <a:ea typeface="Arial"/>
                <a:cs typeface="Arial"/>
              </a:rPr>
              <a:t>Native tools replace specific custom responsibilities</a:t>
            </a:r>
          </a:p>
        </p:txBody>
      </p:sp>
      <p:sp>
        <p:nvSpPr>
          <p:cNvPr id="2" name="">
            <a:extLst xmlns:a="http://schemas.openxmlformats.org/drawingml/2006/main">
              <a:ext uri="{FF2B5EF4-FFF2-40B4-BE49-F238E27FC236}">
                <a16:creationId xmlns:a16="http://schemas.microsoft.com/office/drawing/2014/main" id="{5981E147-94A5-430E-A92D-BA0EF04E8CE4}"/>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36D"/>
                </a:solidFill>
                <a:latin typeface="Arial"/>
                <a:ea typeface="Arial"/>
                <a:cs typeface="Arial"/>
              </a:defRPr>
            </a:defPPr>
          </a:lstStyle>
          <a:p xmlns:a="http://schemas.openxmlformats.org/drawingml/2006/main">
            <a:pPr>
              <a:defRPr sz="1200" b="0">
                <a:solidFill>
                  <a:srgbClr val="52636D"/>
                </a:solidFill>
                <a:latin typeface="Arial"/>
                <a:ea typeface="Arial"/>
                <a:cs typeface="Arial"/>
              </a:defRPr>
            </a:pPr>
            <a:r>
              <a:rPr sz="1200" b="0">
                <a:solidFill>
                  <a:srgbClr val="52636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7686A7D-CA95-4A7B-A3BF-1889E3892906}"/>
              </a:ext>
            </a:extLst>
          </p:cNvPr>
          <p:cNvSpPr>
            <a:spLocks xmlns:a="http://schemas.openxmlformats.org/drawingml/2006/main" noGrp="1"/>
          </p:cNvSpPr>
          <p:nvPr/>
        </p:nvSpPr>
        <p:spPr>
          <a:xfrm xmlns:a="http://schemas.openxmlformats.org/drawingml/2006/main">
            <a:off x="609600" y="16668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26B70"/>
                </a:solidFill>
                <a:latin typeface="Arial"/>
                <a:ea typeface="Arial"/>
                <a:cs typeface="Arial"/>
              </a:defRPr>
            </a:defPPr>
          </a:lstStyle>
          <a:p xmlns:a="http://schemas.openxmlformats.org/drawingml/2006/main">
            <a:pPr>
              <a:defRPr sz="2400" b="1">
                <a:solidFill>
                  <a:srgbClr val="126B70"/>
                </a:solidFill>
                <a:latin typeface="Arial"/>
                <a:ea typeface="Arial"/>
                <a:cs typeface="Arial"/>
              </a:defRPr>
            </a:pPr>
            <a:r>
              <a:rPr sz="2400" b="1">
                <a:solidFill>
                  <a:srgbClr val="126B70"/>
                </a:solidFill>
                <a:latin typeface="Arial"/>
                <a:ea typeface="Arial"/>
                <a:cs typeface="Arial"/>
              </a:rPr>
              <a:t>Native capabilities</a:t>
            </a:r>
          </a:p>
        </p:txBody>
      </p:sp>
      <p:sp>
        <p:nvSpPr>
          <p:cNvPr id="4" name="">
            <a:extLst xmlns:a="http://schemas.openxmlformats.org/drawingml/2006/main">
              <a:ext uri="{FF2B5EF4-FFF2-40B4-BE49-F238E27FC236}">
                <a16:creationId xmlns:a16="http://schemas.microsoft.com/office/drawing/2014/main" id="{2447E484-F97E-4204-9B4B-FD40803F9DC2}"/>
              </a:ext>
            </a:extLst>
          </p:cNvPr>
          <p:cNvSpPr>
            <a:spLocks xmlns:a="http://schemas.openxmlformats.org/drawingml/2006/main" noGrp="1"/>
          </p:cNvSpPr>
          <p:nvPr/>
        </p:nvSpPr>
        <p:spPr>
          <a:xfrm xmlns:a="http://schemas.openxmlformats.org/drawingml/2006/main">
            <a:off x="609600" y="2400300"/>
            <a:ext cx="5048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4313E"/>
                </a:solidFill>
                <a:latin typeface="Arial"/>
                <a:ea typeface="Arial"/>
                <a:cs typeface="Arial"/>
              </a:defRPr>
            </a:defPPr>
          </a:lstStyle>
          <a:p xmlns:a="http://schemas.openxmlformats.org/drawingml/2006/main">
            <a:pPr marL="254000" indent="-127000">
              <a:spcAft>
                <a:spcPts val="1800"/>
              </a:spcAft>
              <a:buChar char="•"/>
              <a:defRPr sz="2175" b="0">
                <a:solidFill>
                  <a:srgbClr val="14313E"/>
                </a:solidFill>
                <a:latin typeface="Arial"/>
                <a:ea typeface="Arial"/>
                <a:cs typeface="Arial"/>
              </a:defRPr>
            </a:pPr>
            <a:r>
              <a:t>APEX restricted access and publication</a:t>
            </a:r>
          </a:p>
          <a:p xmlns:a="http://schemas.openxmlformats.org/drawingml/2006/main">
            <a:pPr marL="254000" indent="-127000">
              <a:spcAft>
                <a:spcPts val="1800"/>
              </a:spcAft>
              <a:buChar char="•"/>
              <a:defRPr sz="2175" b="0">
                <a:solidFill>
                  <a:srgbClr val="14313E"/>
                </a:solidFill>
                <a:latin typeface="Arial"/>
                <a:ea typeface="Arial"/>
                <a:cs typeface="Arial"/>
              </a:defRPr>
            </a:pPr>
            <a:r>
              <a:t>PROJECT source, distribution and artifacts</a:t>
            </a:r>
          </a:p>
          <a:p xmlns:a="http://schemas.openxmlformats.org/drawingml/2006/main">
            <a:pPr marL="254000" indent="-127000">
              <a:spcAft>
                <a:spcPts val="1800"/>
              </a:spcAft>
              <a:buChar char="•"/>
              <a:defRPr sz="2175" b="0">
                <a:solidFill>
                  <a:srgbClr val="14313E"/>
                </a:solidFill>
                <a:latin typeface="Arial"/>
                <a:ea typeface="Arial"/>
                <a:cs typeface="Arial"/>
              </a:defRPr>
            </a:pPr>
            <a:r>
              <a:t>Liquibase migration execution history</a:t>
            </a:r>
          </a:p>
        </p:txBody>
      </p:sp>
      <p:sp>
        <p:nvSpPr>
          <p:cNvPr id="5" name="">
            <a:extLst xmlns:a="http://schemas.openxmlformats.org/drawingml/2006/main">
              <a:ext uri="{FF2B5EF4-FFF2-40B4-BE49-F238E27FC236}">
                <a16:creationId xmlns:a16="http://schemas.microsoft.com/office/drawing/2014/main" id="{C08ECE81-A67F-4C67-B55F-2A9F5DCB60CA}"/>
              </a:ext>
            </a:extLst>
          </p:cNvPr>
          <p:cNvSpPr>
            <a:spLocks xmlns:a="http://schemas.openxmlformats.org/drawingml/2006/main" noGrp="1"/>
          </p:cNvSpPr>
          <p:nvPr/>
        </p:nvSpPr>
        <p:spPr>
          <a:xfrm xmlns:a="http://schemas.openxmlformats.org/drawingml/2006/main">
            <a:off x="6477000" y="1666875"/>
            <a:ext cx="504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9E3D2A"/>
                </a:solidFill>
                <a:latin typeface="Arial"/>
                <a:ea typeface="Arial"/>
                <a:cs typeface="Arial"/>
              </a:defRPr>
            </a:defPPr>
          </a:lstStyle>
          <a:p xmlns:a="http://schemas.openxmlformats.org/drawingml/2006/main">
            <a:pPr>
              <a:defRPr sz="2400" b="1">
                <a:solidFill>
                  <a:srgbClr val="9E3D2A"/>
                </a:solidFill>
                <a:latin typeface="Arial"/>
                <a:ea typeface="Arial"/>
                <a:cs typeface="Arial"/>
              </a:defRPr>
            </a:pPr>
            <a:r>
              <a:rPr sz="2400" b="1">
                <a:solidFill>
                  <a:srgbClr val="9E3D2A"/>
                </a:solidFill>
                <a:latin typeface="Arial"/>
                <a:ea typeface="Arial"/>
                <a:cs typeface="Arial"/>
              </a:rPr>
              <a:t>Controls still requiring qualification</a:t>
            </a:r>
          </a:p>
        </p:txBody>
      </p:sp>
      <p:sp>
        <p:nvSpPr>
          <p:cNvPr id="6" name="">
            <a:extLst xmlns:a="http://schemas.openxmlformats.org/drawingml/2006/main">
              <a:ext uri="{FF2B5EF4-FFF2-40B4-BE49-F238E27FC236}">
                <a16:creationId xmlns:a16="http://schemas.microsoft.com/office/drawing/2014/main" id="{A96B810A-E0C1-4A6E-AFD7-4713060F6A39}"/>
              </a:ext>
            </a:extLst>
          </p:cNvPr>
          <p:cNvSpPr>
            <a:spLocks xmlns:a="http://schemas.openxmlformats.org/drawingml/2006/main" noGrp="1"/>
          </p:cNvSpPr>
          <p:nvPr/>
        </p:nvSpPr>
        <p:spPr>
          <a:xfrm xmlns:a="http://schemas.openxmlformats.org/drawingml/2006/main">
            <a:off x="6477000" y="2686050"/>
            <a:ext cx="5048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4313E"/>
                </a:solidFill>
                <a:latin typeface="Arial"/>
                <a:ea typeface="Arial"/>
                <a:cs typeface="Arial"/>
              </a:defRPr>
            </a:defPPr>
          </a:lstStyle>
          <a:p xmlns:a="http://schemas.openxmlformats.org/drawingml/2006/main">
            <a:pPr marL="254000" indent="-127000">
              <a:spcAft>
                <a:spcPts val="1800"/>
              </a:spcAft>
              <a:buChar char="•"/>
              <a:defRPr sz="2175" b="0">
                <a:solidFill>
                  <a:srgbClr val="14313E"/>
                </a:solidFill>
                <a:latin typeface="Arial"/>
                <a:ea typeface="Arial"/>
                <a:cs typeface="Arial"/>
              </a:defRPr>
            </a:pPr>
            <a:r>
              <a:t>Component compatibility and artifact admission</a:t>
            </a:r>
          </a:p>
          <a:p xmlns:a="http://schemas.openxmlformats.org/drawingml/2006/main">
            <a:pPr marL="254000" indent="-127000">
              <a:spcAft>
                <a:spcPts val="1800"/>
              </a:spcAft>
              <a:buChar char="•"/>
              <a:defRPr sz="2175" b="0">
                <a:solidFill>
                  <a:srgbClr val="14313E"/>
                </a:solidFill>
                <a:latin typeface="Arial"/>
                <a:ea typeface="Arial"/>
                <a:cs typeface="Arial"/>
              </a:defRPr>
            </a:pPr>
            <a:r>
              <a:t>Deployment ownership and provenance</a:t>
            </a:r>
          </a:p>
          <a:p xmlns:a="http://schemas.openxmlformats.org/drawingml/2006/main">
            <a:pPr marL="254000" indent="-127000">
              <a:spcAft>
                <a:spcPts val="1800"/>
              </a:spcAft>
              <a:buChar char="•"/>
              <a:defRPr sz="2175" b="0">
                <a:solidFill>
                  <a:srgbClr val="14313E"/>
                </a:solidFill>
                <a:latin typeface="Arial"/>
                <a:ea typeface="Arial"/>
                <a:cs typeface="Arial"/>
              </a:defRPr>
            </a:pPr>
            <a:r>
              <a:t>Live-drift rejection and reviewed recovery</a:t>
            </a:r>
          </a:p>
        </p:txBody>
      </p:sp>
      <p:sp>
        <p:nvSpPr>
          <p:cNvPr id="7" name="">
            <a:extLst xmlns:a="http://schemas.openxmlformats.org/drawingml/2006/main">
              <a:ext uri="{FF2B5EF4-FFF2-40B4-BE49-F238E27FC236}">
                <a16:creationId xmlns:a16="http://schemas.microsoft.com/office/drawing/2014/main" id="{9F564E91-8B6C-4616-8CBC-D659EB2F6039}"/>
              </a:ext>
            </a:extLst>
          </p:cNvPr>
          <p:cNvSpPr>
            <a:spLocks xmlns:a="http://schemas.openxmlformats.org/drawingml/2006/main" noGrp="1"/>
          </p:cNvSpPr>
          <p:nvPr/>
        </p:nvSpPr>
        <p:spPr>
          <a:xfrm xmlns:a="http://schemas.openxmlformats.org/drawingml/2006/main">
            <a:off x="609600" y="59245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2636D"/>
                </a:solidFill>
                <a:latin typeface="Arial"/>
                <a:ea typeface="Arial"/>
                <a:cs typeface="Arial"/>
              </a:defRPr>
            </a:defPPr>
          </a:lstStyle>
          <a:p xmlns:a="http://schemas.openxmlformats.org/drawingml/2006/main">
            <a:pPr>
              <a:defRPr sz="1800" b="0">
                <a:solidFill>
                  <a:srgbClr val="52636D"/>
                </a:solidFill>
                <a:latin typeface="Arial"/>
                <a:ea typeface="Arial"/>
                <a:cs typeface="Arial"/>
              </a:defRPr>
            </a:pPr>
            <a:r>
              <a:rPr sz="1800" b="0">
                <a:solidFill>
                  <a:srgbClr val="52636D"/>
                </a:solidFill>
                <a:latin typeface="Arial"/>
                <a:ea typeface="Arial"/>
                <a:cs typeface="Arial"/>
              </a:rPr>
              <a:t>E1_CTRL covers more than runtime access. Installed component versions are separate.</a:t>
            </a:r>
          </a:p>
        </p:txBody>
      </p:sp>
    </p:spTree>
    <p:extLst>
      <p:ext uri="{BB962C8B-B14F-4D97-AF65-F5344CB8AC3E}">
        <p14:creationId xmlns:p14="http://schemas.microsoft.com/office/powerpoint/2010/main" val="329407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1BB172-7995-4C7C-B7D3-1418AA96A6D2}"/>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313E"/>
                </a:solidFill>
                <a:latin typeface="Arial"/>
                <a:ea typeface="Arial"/>
                <a:cs typeface="Arial"/>
              </a:defRPr>
            </a:defPPr>
          </a:lstStyle>
          <a:p xmlns:a="http://schemas.openxmlformats.org/drawingml/2006/main">
            <a:pPr>
              <a:defRPr sz="3300" b="1">
                <a:solidFill>
                  <a:srgbClr val="14313E"/>
                </a:solidFill>
                <a:latin typeface="Arial"/>
                <a:ea typeface="Arial"/>
                <a:cs typeface="Arial"/>
              </a:defRPr>
            </a:pPr>
            <a:r>
              <a:rPr sz="3300" b="1">
                <a:solidFill>
                  <a:srgbClr val="14313E"/>
                </a:solidFill>
                <a:latin typeface="Arial"/>
                <a:ea typeface="Arial"/>
                <a:cs typeface="Arial"/>
              </a:rPr>
              <a:t>G, H and I: native support gaps</a:t>
            </a:r>
          </a:p>
        </p:txBody>
      </p:sp>
      <p:sp>
        <p:nvSpPr>
          <p:cNvPr id="2" name="">
            <a:extLst xmlns:a="http://schemas.openxmlformats.org/drawingml/2006/main">
              <a:ext uri="{FF2B5EF4-FFF2-40B4-BE49-F238E27FC236}">
                <a16:creationId xmlns:a16="http://schemas.microsoft.com/office/drawing/2014/main" id="{5FC3885C-EE21-4503-8F09-C7AE6845F027}"/>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36D"/>
                </a:solidFill>
                <a:latin typeface="Arial"/>
                <a:ea typeface="Arial"/>
                <a:cs typeface="Arial"/>
              </a:defRPr>
            </a:defPPr>
          </a:lstStyle>
          <a:p xmlns:a="http://schemas.openxmlformats.org/drawingml/2006/main">
            <a:pPr>
              <a:defRPr sz="1200" b="0">
                <a:solidFill>
                  <a:srgbClr val="52636D"/>
                </a:solidFill>
                <a:latin typeface="Arial"/>
                <a:ea typeface="Arial"/>
                <a:cs typeface="Arial"/>
              </a:defRPr>
            </a:pPr>
            <a:r>
              <a:rPr sz="1200" b="0">
                <a:solidFill>
                  <a:srgbClr val="52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3666B6D-1347-4758-9386-5745D367E358}"/>
              </a:ext>
            </a:extLst>
          </p:cNvPr>
          <p:cNvSpPr>
            <a:spLocks xmlns:a="http://schemas.openxmlformats.org/drawingml/2006/main" noGrp="1"/>
          </p:cNvSpPr>
          <p:nvPr/>
        </p:nvSpPr>
        <p:spPr>
          <a:xfrm xmlns:a="http://schemas.openxmlformats.org/drawingml/2006/main">
            <a:off x="609600" y="14097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2636D"/>
                </a:solidFill>
                <a:latin typeface="Arial"/>
                <a:ea typeface="Arial"/>
                <a:cs typeface="Arial"/>
              </a:defRPr>
            </a:defPPr>
          </a:lstStyle>
          <a:p xmlns:a="http://schemas.openxmlformats.org/drawingml/2006/main">
            <a:pPr>
              <a:defRPr sz="1725" b="0">
                <a:solidFill>
                  <a:srgbClr val="52636D"/>
                </a:solidFill>
                <a:latin typeface="Arial"/>
                <a:ea typeface="Arial"/>
                <a:cs typeface="Arial"/>
              </a:defRPr>
            </a:pPr>
            <a:r>
              <a:rPr sz="1725" b="0">
                <a:solidFill>
                  <a:srgbClr val="52636D"/>
                </a:solidFill>
                <a:latin typeface="Arial"/>
                <a:ea typeface="Arial"/>
                <a:cs typeface="Arial"/>
              </a:rPr>
              <a:t>Specified automatic protections in the evaluated APEX / SQLcl PROJECT workflow</a:t>
            </a:r>
          </a:p>
        </p:txBody>
      </p:sp>
      <p:graphicFrame>
        <p:nvGraphicFramePr>
          <p:cNvPr id="4" name="">
            <a:extLst xmlns:a="http://schemas.openxmlformats.org/drawingml/2006/main">
              <a:ext uri="{FF2B5EF4-FFF2-40B4-BE49-F238E27FC236}">
                <a16:creationId xmlns:a16="http://schemas.microsoft.com/office/drawing/2014/main" id="{27383D5F-E19F-472D-8419-DCC9193BD525}"/>
              </a:ext>
            </a:extLst>
          </p:cNvPr>
          <p:cNvGraphicFramePr/>
          <p:nvPr/>
        </p:nvGraphicFramePr>
        <p:xfrm>
          <a:off xmlns:a="http://schemas.openxmlformats.org/drawingml/2006/main" x="609600" y="2076450"/>
          <a:ext xmlns:a="http://schemas.openxmlformats.org/drawingml/2006/main" cx="10972800" cy="3295650"/>
        </p:xfrm>
        <a:graphic xmlns:a="http://schemas.openxmlformats.org/drawingml/2006/main">
          <a:graphicData uri="http://schemas.openxmlformats.org/drawingml/2006/table">
            <a:tbl>
              <a:tblPr firstRow="1" bandRow="0"/>
              <a:tblGrid>
                <a:gridCol w="2266950"/>
                <a:gridCol w="3381375"/>
                <a:gridCol w="5324475"/>
              </a:tblGrid>
              <a:tr h="823913">
                <a:tc>
                  <a:txBody>
                    <a:bodyPr lIns="152400" tIns="152400" rIns="152400" bIns="152400">
                      <a:noAutofit/>
                    </a:bodyPr>
                    <a:lstStyle/>
                    <a:p>
                      <a:r>
                        <a:rPr sz="1800" b="1">
                          <a:solidFill>
                            <a:srgbClr val="FFFFFF"/>
                          </a:solidFill>
                          <a:latin typeface="Arial"/>
                          <a:ea typeface="Arial"/>
                          <a:cs typeface="Arial"/>
                        </a:rPr>
                        <a:t>Scenario</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4313E"/>
                    </a:solidFill>
                  </a:tcPr>
                </a:tc>
                <a:tc>
                  <a:txBody>
                    <a:bodyPr lIns="152400" tIns="152400" rIns="152400" bIns="152400">
                      <a:noAutofit/>
                    </a:bodyPr>
                    <a:lstStyle/>
                    <a:p>
                      <a:r>
                        <a:rPr sz="1800" b="1">
                          <a:solidFill>
                            <a:srgbClr val="FFFFFF"/>
                          </a:solidFill>
                          <a:latin typeface="Arial"/>
                          <a:ea typeface="Arial"/>
                          <a:cs typeface="Arial"/>
                        </a:rPr>
                        <a:t>Native support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4313E"/>
                    </a:solidFill>
                  </a:tcPr>
                </a:tc>
                <a:tc>
                  <a:txBody>
                    <a:bodyPr lIns="152400" tIns="152400" rIns="152400" bIns="152400">
                      <a:noAutofit/>
                    </a:bodyPr>
                    <a:lstStyle/>
                    <a:p>
                      <a:r>
                        <a:rPr sz="1800" b="1">
                          <a:solidFill>
                            <a:srgbClr val="FFFFFF"/>
                          </a:solidFill>
                          <a:latin typeface="Arial"/>
                          <a:ea typeface="Arial"/>
                          <a:cs typeface="Arial"/>
                        </a:rPr>
                        <a:t>Required response</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14313E"/>
                    </a:solidFill>
                  </a:tcPr>
                </a:tc>
              </a:tr>
              <a:tr h="823913">
                <a:tc>
                  <a:txBody>
                    <a:bodyPr lIns="152400" tIns="152400" rIns="152400" bIns="152400">
                      <a:noAutofit/>
                    </a:bodyPr>
                    <a:lstStyle/>
                    <a:p>
                      <a:r>
                        <a:rPr sz="2025" b="1">
                          <a:solidFill>
                            <a:srgbClr val="14313E"/>
                          </a:solidFill>
                          <a:latin typeface="Arial"/>
                          <a:ea typeface="Arial"/>
                          <a:cs typeface="Arial"/>
                        </a:rPr>
                        <a:t>G  Dependencies</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5F4"/>
                    </a:solidFill>
                  </a:tcPr>
                </a:tc>
                <a:tc>
                  <a:txBody>
                    <a:bodyPr lIns="152400" tIns="152400" rIns="152400" bIns="152400">
                      <a:noAutofit/>
                    </a:bodyPr>
                    <a:lstStyle/>
                    <a:p>
                      <a:r>
                        <a:rPr sz="2025" b="0">
                          <a:solidFill>
                            <a:srgbClr val="14313E"/>
                          </a:solidFill>
                          <a:latin typeface="Arial"/>
                          <a:ea typeface="Arial"/>
                          <a:cs typeface="Arial"/>
                        </a:rPr>
                        <a:t>Not supported</a:t>
                      </a:r>
                    </a:p>
                  </a:txBody>
                  <a:tcPr marL="91440" marR="91440" marT="45720" marB="45720" anchor="ctr">
                    <a:lnR w="19050">
                      <a:solidFill>
                        <a:srgbClr val="FFFFFF"/>
                      </a:solidFill>
                      <a:prstDash val="solid"/>
                    </a:lnR>
                    <a:lnB w="19050">
                      <a:solidFill>
                        <a:srgbClr val="FFFFFF"/>
                      </a:solidFill>
                      <a:prstDash val="solid"/>
                    </a:lnB>
                    <a:solidFill>
                      <a:srgbClr val="F0F5F4"/>
                    </a:solidFill>
                  </a:tcPr>
                </a:tc>
                <a:tc>
                  <a:txBody>
                    <a:bodyPr lIns="152400" tIns="152400" rIns="152400" bIns="152400">
                      <a:noAutofit/>
                    </a:bodyPr>
                    <a:lstStyle/>
                    <a:p>
                      <a:r>
                        <a:rPr sz="2025" b="0">
                          <a:solidFill>
                            <a:srgbClr val="14313E"/>
                          </a:solidFill>
                          <a:latin typeface="Arial"/>
                          <a:ea typeface="Arial"/>
                          <a:cs typeface="Arial"/>
                        </a:rPr>
                        <a:t>Explicit component contracts and admission</a:t>
                      </a:r>
                    </a:p>
                  </a:txBody>
                  <a:tcPr marL="91440" marR="91440" marT="45720" marB="45720" anchor="ctr">
                    <a:lnR w="19050">
                      <a:solidFill>
                        <a:srgbClr val="FFFFFF"/>
                      </a:solidFill>
                      <a:prstDash val="solid"/>
                    </a:lnR>
                    <a:lnB w="19050">
                      <a:solidFill>
                        <a:srgbClr val="FFFFFF"/>
                      </a:solidFill>
                      <a:prstDash val="solid"/>
                    </a:lnB>
                    <a:solidFill>
                      <a:srgbClr val="F0F5F4"/>
                    </a:solidFill>
                  </a:tcPr>
                </a:tc>
              </a:tr>
              <a:tr h="823913">
                <a:tc>
                  <a:txBody>
                    <a:bodyPr lIns="152400" tIns="152400" rIns="152400" bIns="152400">
                      <a:noAutofit/>
                    </a:bodyPr>
                    <a:lstStyle/>
                    <a:p>
                      <a:r>
                        <a:rPr sz="2025" b="1">
                          <a:solidFill>
                            <a:srgbClr val="14313E"/>
                          </a:solidFill>
                          <a:latin typeface="Arial"/>
                          <a:ea typeface="Arial"/>
                          <a:cs typeface="Arial"/>
                        </a:rPr>
                        <a:t>H  Live drift</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152400" tIns="152400" rIns="152400" bIns="152400">
                      <a:noAutofit/>
                    </a:bodyPr>
                    <a:lstStyle/>
                    <a:p>
                      <a:r>
                        <a:rPr sz="2025" b="0">
                          <a:solidFill>
                            <a:srgbClr val="14313E"/>
                          </a:solidFill>
                          <a:latin typeface="Arial"/>
                          <a:ea typeface="Arial"/>
                          <a:cs typeface="Arial"/>
                        </a:rPr>
                        <a:t>Not supported in evaluated path</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lIns="152400" tIns="152400" rIns="152400" bIns="152400">
                      <a:noAutofit/>
                    </a:bodyPr>
                    <a:lstStyle/>
                    <a:p>
                      <a:r>
                        <a:rPr sz="2025" b="0">
                          <a:solidFill>
                            <a:srgbClr val="14313E"/>
                          </a:solidFill>
                          <a:latin typeface="Arial"/>
                          <a:ea typeface="Arial"/>
                          <a:cs typeface="Arial"/>
                        </a:rPr>
                        <a:t>Compare target definitions and reject before writes</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823913">
                <a:tc>
                  <a:txBody>
                    <a:bodyPr lIns="152400" tIns="152400" rIns="152400" bIns="152400">
                      <a:noAutofit/>
                    </a:bodyPr>
                    <a:lstStyle/>
                    <a:p>
                      <a:r>
                        <a:rPr sz="2025" b="1">
                          <a:solidFill>
                            <a:srgbClr val="14313E"/>
                          </a:solidFill>
                          <a:latin typeface="Arial"/>
                          <a:ea typeface="Arial"/>
                          <a:cs typeface="Arial"/>
                        </a:rPr>
                        <a:t>I  Automatic repair</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0F5F4"/>
                    </a:solidFill>
                  </a:tcPr>
                </a:tc>
                <a:tc>
                  <a:txBody>
                    <a:bodyPr lIns="152400" tIns="152400" rIns="152400" bIns="152400">
                      <a:noAutofit/>
                    </a:bodyPr>
                    <a:lstStyle/>
                    <a:p>
                      <a:r>
                        <a:rPr sz="2025" b="0">
                          <a:solidFill>
                            <a:srgbClr val="14313E"/>
                          </a:solidFill>
                          <a:latin typeface="Arial"/>
                          <a:ea typeface="Arial"/>
                          <a:cs typeface="Arial"/>
                        </a:rPr>
                        <a:t>Not supported</a:t>
                      </a:r>
                    </a:p>
                  </a:txBody>
                  <a:tcPr marL="91440" marR="91440" marT="45720" marB="45720" anchor="ctr">
                    <a:lnR w="19050">
                      <a:solidFill>
                        <a:srgbClr val="FFFFFF"/>
                      </a:solidFill>
                      <a:prstDash val="solid"/>
                    </a:lnR>
                    <a:lnB w="19050">
                      <a:solidFill>
                        <a:srgbClr val="FFFFFF"/>
                      </a:solidFill>
                      <a:prstDash val="solid"/>
                    </a:lnB>
                    <a:solidFill>
                      <a:srgbClr val="F0F5F4"/>
                    </a:solidFill>
                  </a:tcPr>
                </a:tc>
                <a:tc>
                  <a:txBody>
                    <a:bodyPr lIns="152400" tIns="152400" rIns="152400" bIns="152400">
                      <a:noAutofit/>
                    </a:bodyPr>
                    <a:lstStyle/>
                    <a:p>
                      <a:r>
                        <a:rPr sz="2025" b="0">
                          <a:solidFill>
                            <a:srgbClr val="14313E"/>
                          </a:solidFill>
                          <a:latin typeface="Arial"/>
                          <a:ea typeface="Arial"/>
                          <a:cs typeface="Arial"/>
                        </a:rPr>
                        <a:t>Inspect partial state and design a reviewed repair</a:t>
                      </a:r>
                    </a:p>
                  </a:txBody>
                  <a:tcPr marL="91440" marR="91440" marT="45720" marB="45720" anchor="ctr">
                    <a:lnR w="19050">
                      <a:solidFill>
                        <a:srgbClr val="FFFFFF"/>
                      </a:solidFill>
                      <a:prstDash val="solid"/>
                    </a:lnR>
                    <a:lnB w="19050">
                      <a:solidFill>
                        <a:srgbClr val="FFFFFF"/>
                      </a:solidFill>
                      <a:prstDash val="solid"/>
                    </a:lnB>
                    <a:solidFill>
                      <a:srgbClr val="F0F5F4"/>
                    </a:solidFill>
                  </a:tcPr>
                </a:tc>
              </a:tr>
            </a:tbl>
          </a:graphicData>
        </a:graphic>
      </p:graphicFrame>
      <p:sp>
        <p:nvSpPr>
          <p:cNvPr id="5" name="">
            <a:extLst xmlns:a="http://schemas.openxmlformats.org/drawingml/2006/main">
              <a:ext uri="{FF2B5EF4-FFF2-40B4-BE49-F238E27FC236}">
                <a16:creationId xmlns:a16="http://schemas.microsoft.com/office/drawing/2014/main" id="{D609B289-56D4-4D9D-A671-A4012C382C0A}"/>
              </a:ext>
            </a:extLst>
          </p:cNvPr>
          <p:cNvSpPr>
            <a:spLocks xmlns:a="http://schemas.openxmlformats.org/drawingml/2006/main" noGrp="1"/>
          </p:cNvSpPr>
          <p:nvPr/>
        </p:nvSpPr>
        <p:spPr>
          <a:xfrm xmlns:a="http://schemas.openxmlformats.org/drawingml/2006/main">
            <a:off x="609600" y="5791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9E3D2A"/>
                </a:solidFill>
                <a:latin typeface="Arial"/>
                <a:ea typeface="Arial"/>
                <a:cs typeface="Arial"/>
              </a:defRPr>
            </a:defPPr>
          </a:lstStyle>
          <a:p xmlns:a="http://schemas.openxmlformats.org/drawingml/2006/main">
            <a:pPr>
              <a:defRPr sz="1875" b="1">
                <a:solidFill>
                  <a:srgbClr val="9E3D2A"/>
                </a:solidFill>
                <a:latin typeface="Arial"/>
                <a:ea typeface="Arial"/>
                <a:cs typeface="Arial"/>
              </a:defRPr>
            </a:pPr>
            <a:r>
              <a:rPr sz="1875" b="1">
                <a:solidFill>
                  <a:srgbClr val="9E3D2A"/>
                </a:solidFill>
                <a:latin typeface="Arial"/>
                <a:ea typeface="Arial"/>
                <a:cs typeface="Arial"/>
              </a:rPr>
              <a:t>Reviewed forward repair is supported by SQLcl/Liquibase. E.2 has not exercised it.</a:t>
            </a:r>
          </a:p>
        </p:txBody>
      </p:sp>
    </p:spTree>
    <p:extLst>
      <p:ext uri="{BB962C8B-B14F-4D97-AF65-F5344CB8AC3E}">
        <p14:creationId xmlns:p14="http://schemas.microsoft.com/office/powerpoint/2010/main" val="20816487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D02AC2-BE62-4175-88B3-7354B60DAF26}"/>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313E"/>
                </a:solidFill>
                <a:latin typeface="Arial"/>
                <a:ea typeface="Arial"/>
                <a:cs typeface="Arial"/>
              </a:defRPr>
            </a:defPPr>
          </a:lstStyle>
          <a:p xmlns:a="http://schemas.openxmlformats.org/drawingml/2006/main">
            <a:pPr>
              <a:defRPr sz="3300" b="1">
                <a:solidFill>
                  <a:srgbClr val="14313E"/>
                </a:solidFill>
                <a:latin typeface="Arial"/>
                <a:ea typeface="Arial"/>
                <a:cs typeface="Arial"/>
              </a:defRPr>
            </a:pPr>
            <a:r>
              <a:rPr sz="3300" b="1">
                <a:solidFill>
                  <a:srgbClr val="14313E"/>
                </a:solidFill>
                <a:latin typeface="Arial"/>
                <a:ea typeface="Arial"/>
                <a:cs typeface="Arial"/>
              </a:rPr>
              <a:t>Release qualification remains open</a:t>
            </a:r>
          </a:p>
        </p:txBody>
      </p:sp>
      <p:sp>
        <p:nvSpPr>
          <p:cNvPr id="2" name="">
            <a:extLst xmlns:a="http://schemas.openxmlformats.org/drawingml/2006/main">
              <a:ext uri="{FF2B5EF4-FFF2-40B4-BE49-F238E27FC236}">
                <a16:creationId xmlns:a16="http://schemas.microsoft.com/office/drawing/2014/main" id="{7D02B1D3-4D49-468B-A5CB-9655D773DA0D}"/>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36D"/>
                </a:solidFill>
                <a:latin typeface="Arial"/>
                <a:ea typeface="Arial"/>
                <a:cs typeface="Arial"/>
              </a:defRPr>
            </a:defPPr>
          </a:lstStyle>
          <a:p xmlns:a="http://schemas.openxmlformats.org/drawingml/2006/main">
            <a:pPr>
              <a:defRPr sz="1200" b="0">
                <a:solidFill>
                  <a:srgbClr val="52636D"/>
                </a:solidFill>
                <a:latin typeface="Arial"/>
                <a:ea typeface="Arial"/>
                <a:cs typeface="Arial"/>
              </a:defRPr>
            </a:pPr>
            <a:r>
              <a:rPr sz="1200" b="0">
                <a:solidFill>
                  <a:srgbClr val="52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8C26FCE8-D84B-4F8C-AA25-4D2FBA02505B}"/>
              </a:ext>
            </a:extLst>
          </p:cNvPr>
          <p:cNvSpPr>
            <a:spLocks xmlns:a="http://schemas.openxmlformats.org/drawingml/2006/main" noGrp="1"/>
          </p:cNvSpPr>
          <p:nvPr/>
        </p:nvSpPr>
        <p:spPr>
          <a:xfrm xmlns:a="http://schemas.openxmlformats.org/drawingml/2006/main">
            <a:off x="609600" y="16002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4313E"/>
                </a:solidFill>
                <a:latin typeface="Arial"/>
                <a:ea typeface="Arial"/>
                <a:cs typeface="Arial"/>
              </a:defRPr>
            </a:defPPr>
          </a:lstStyle>
          <a:p xmlns:a="http://schemas.openxmlformats.org/drawingml/2006/main">
            <a:pPr>
              <a:defRPr sz="2400" b="1">
                <a:solidFill>
                  <a:srgbClr val="14313E"/>
                </a:solidFill>
                <a:latin typeface="Arial"/>
                <a:ea typeface="Arial"/>
                <a:cs typeface="Arial"/>
              </a:defRPr>
            </a:pPr>
            <a:r>
              <a:rPr sz="2400" b="1">
                <a:solidFill>
                  <a:srgbClr val="14313E"/>
                </a:solidFill>
                <a:latin typeface="Arial"/>
                <a:ea typeface="Arial"/>
                <a:cs typeface="Arial"/>
              </a:rPr>
              <a:t>Retained F artifacts</a:t>
            </a:r>
          </a:p>
        </p:txBody>
      </p:sp>
      <p:sp>
        <p:nvSpPr>
          <p:cNvPr id="4" name="">
            <a:extLst xmlns:a="http://schemas.openxmlformats.org/drawingml/2006/main">
              <a:ext uri="{FF2B5EF4-FFF2-40B4-BE49-F238E27FC236}">
                <a16:creationId xmlns:a16="http://schemas.microsoft.com/office/drawing/2014/main" id="{FF0A50E8-5D76-4B60-96A5-5ACEAA885358}"/>
              </a:ext>
            </a:extLst>
          </p:cNvPr>
          <p:cNvSpPr>
            <a:spLocks xmlns:a="http://schemas.openxmlformats.org/drawingml/2006/main" noGrp="1"/>
          </p:cNvSpPr>
          <p:nvPr/>
        </p:nvSpPr>
        <p:spPr>
          <a:xfrm xmlns:a="http://schemas.openxmlformats.org/drawingml/2006/main">
            <a:off x="609600" y="23336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9E3D2A"/>
                </a:solidFill>
                <a:latin typeface="Arial"/>
                <a:ea typeface="Arial"/>
                <a:cs typeface="Arial"/>
              </a:defRPr>
            </a:defPPr>
          </a:lstStyle>
          <a:p xmlns:a="http://schemas.openxmlformats.org/drawingml/2006/main">
            <a:pPr>
              <a:defRPr sz="3450" b="1">
                <a:solidFill>
                  <a:srgbClr val="9E3D2A"/>
                </a:solidFill>
                <a:latin typeface="Arial"/>
                <a:ea typeface="Arial"/>
                <a:cs typeface="Arial"/>
              </a:defRPr>
            </a:pPr>
            <a:r>
              <a:rPr sz="3450" b="1">
                <a:solidFill>
                  <a:srgbClr val="9E3D2A"/>
                </a:solidFill>
                <a:latin typeface="Arial"/>
                <a:ea typeface="Arial"/>
                <a:cs typeface="Arial"/>
              </a:rPr>
              <a:t>SQLcl 25.3</a:t>
            </a:r>
          </a:p>
        </p:txBody>
      </p:sp>
      <p:sp>
        <p:nvSpPr>
          <p:cNvPr id="5" name="">
            <a:extLst xmlns:a="http://schemas.openxmlformats.org/drawingml/2006/main">
              <a:ext uri="{FF2B5EF4-FFF2-40B4-BE49-F238E27FC236}">
                <a16:creationId xmlns:a16="http://schemas.microsoft.com/office/drawing/2014/main" id="{CA12368D-A241-4B8B-B7AC-B47332A832C1}"/>
              </a:ext>
            </a:extLst>
          </p:cNvPr>
          <p:cNvSpPr>
            <a:spLocks xmlns:a="http://schemas.openxmlformats.org/drawingml/2006/main" noGrp="1"/>
          </p:cNvSpPr>
          <p:nvPr/>
        </p:nvSpPr>
        <p:spPr>
          <a:xfrm xmlns:a="http://schemas.openxmlformats.org/drawingml/2006/main">
            <a:off x="609600" y="3286125"/>
            <a:ext cx="504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4313E"/>
                </a:solidFill>
                <a:latin typeface="Arial"/>
                <a:ea typeface="Arial"/>
                <a:cs typeface="Arial"/>
              </a:defRPr>
            </a:defPPr>
          </a:lstStyle>
          <a:p xmlns:a="http://schemas.openxmlformats.org/drawingml/2006/main">
            <a:pPr marL="254000" indent="-127000">
              <a:spcAft>
                <a:spcPts val="1800"/>
              </a:spcAft>
              <a:buChar char="•"/>
              <a:defRPr sz="2100" b="0">
                <a:solidFill>
                  <a:srgbClr val="14313E"/>
                </a:solidFill>
                <a:latin typeface="Arial"/>
                <a:ea typeface="Arial"/>
                <a:cs typeface="Arial"/>
              </a:defRPr>
            </a:pPr>
            <a:r>
              <a:t>One native verification error remains</a:t>
            </a:r>
          </a:p>
          <a:p xmlns:a="http://schemas.openxmlformats.org/drawingml/2006/main">
            <a:pPr marL="254000" indent="-127000">
              <a:spcAft>
                <a:spcPts val="1800"/>
              </a:spcAft>
              <a:buChar char="•"/>
              <a:defRPr sz="2100" b="0">
                <a:solidFill>
                  <a:srgbClr val="14313E"/>
                </a:solidFill>
                <a:latin typeface="Arial"/>
                <a:ea typeface="Arial"/>
                <a:cs typeface="Arial"/>
              </a:defRPr>
            </a:pPr>
            <a:r>
              <a:t>Post-stage APEX edits create source/distribution inconsistency</a:t>
            </a:r>
          </a:p>
        </p:txBody>
      </p:sp>
      <p:sp>
        <p:nvSpPr>
          <p:cNvPr id="6" name="">
            <a:extLst xmlns:a="http://schemas.openxmlformats.org/drawingml/2006/main">
              <a:ext uri="{FF2B5EF4-FFF2-40B4-BE49-F238E27FC236}">
                <a16:creationId xmlns:a16="http://schemas.microsoft.com/office/drawing/2014/main" id="{933F6BB8-5E94-4B8D-BFBB-D67A87C56E14}"/>
              </a:ext>
            </a:extLst>
          </p:cNvPr>
          <p:cNvSpPr>
            <a:spLocks xmlns:a="http://schemas.openxmlformats.org/drawingml/2006/main" noGrp="1"/>
          </p:cNvSpPr>
          <p:nvPr/>
        </p:nvSpPr>
        <p:spPr>
          <a:xfrm xmlns:a="http://schemas.openxmlformats.org/drawingml/2006/main">
            <a:off x="6477000" y="16002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4313E"/>
                </a:solidFill>
                <a:latin typeface="Arial"/>
                <a:ea typeface="Arial"/>
                <a:cs typeface="Arial"/>
              </a:defRPr>
            </a:defPPr>
          </a:lstStyle>
          <a:p xmlns:a="http://schemas.openxmlformats.org/drawingml/2006/main">
            <a:pPr>
              <a:defRPr sz="2400" b="1">
                <a:solidFill>
                  <a:srgbClr val="14313E"/>
                </a:solidFill>
                <a:latin typeface="Arial"/>
                <a:ea typeface="Arial"/>
                <a:cs typeface="Arial"/>
              </a:defRPr>
            </a:pPr>
            <a:r>
              <a:rPr sz="2400" b="1">
                <a:solidFill>
                  <a:srgbClr val="14313E"/>
                </a:solidFill>
                <a:latin typeface="Arial"/>
                <a:ea typeface="Arial"/>
                <a:cs typeface="Arial"/>
              </a:rPr>
              <a:t>Separate clean comparison</a:t>
            </a:r>
          </a:p>
        </p:txBody>
      </p:sp>
      <p:sp>
        <p:nvSpPr>
          <p:cNvPr id="7" name="">
            <a:extLst xmlns:a="http://schemas.openxmlformats.org/drawingml/2006/main">
              <a:ext uri="{FF2B5EF4-FFF2-40B4-BE49-F238E27FC236}">
                <a16:creationId xmlns:a16="http://schemas.microsoft.com/office/drawing/2014/main" id="{EC506022-00C4-4526-9236-B11EB5DE58B8}"/>
              </a:ext>
            </a:extLst>
          </p:cNvPr>
          <p:cNvSpPr>
            <a:spLocks xmlns:a="http://schemas.openxmlformats.org/drawingml/2006/main" noGrp="1"/>
          </p:cNvSpPr>
          <p:nvPr/>
        </p:nvSpPr>
        <p:spPr>
          <a:xfrm xmlns:a="http://schemas.openxmlformats.org/drawingml/2006/main">
            <a:off x="6477000" y="23336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126B70"/>
                </a:solidFill>
                <a:latin typeface="Arial"/>
                <a:ea typeface="Arial"/>
                <a:cs typeface="Arial"/>
              </a:defRPr>
            </a:defPPr>
          </a:lstStyle>
          <a:p xmlns:a="http://schemas.openxmlformats.org/drawingml/2006/main">
            <a:pPr>
              <a:defRPr sz="3450" b="1">
                <a:solidFill>
                  <a:srgbClr val="126B70"/>
                </a:solidFill>
                <a:latin typeface="Arial"/>
                <a:ea typeface="Arial"/>
                <a:cs typeface="Arial"/>
              </a:defRPr>
            </a:pPr>
            <a:r>
              <a:rPr sz="3450" b="1">
                <a:solidFill>
                  <a:srgbClr val="126B70"/>
                </a:solidFill>
                <a:latin typeface="Arial"/>
                <a:ea typeface="Arial"/>
                <a:cs typeface="Arial"/>
              </a:rPr>
              <a:t>SQLcl 25.4.1</a:t>
            </a:r>
          </a:p>
        </p:txBody>
      </p:sp>
      <p:sp>
        <p:nvSpPr>
          <p:cNvPr id="8" name="">
            <a:extLst xmlns:a="http://schemas.openxmlformats.org/drawingml/2006/main">
              <a:ext uri="{FF2B5EF4-FFF2-40B4-BE49-F238E27FC236}">
                <a16:creationId xmlns:a16="http://schemas.microsoft.com/office/drawing/2014/main" id="{486122C5-39F7-4915-BC53-378D496E6E0F}"/>
              </a:ext>
            </a:extLst>
          </p:cNvPr>
          <p:cNvSpPr>
            <a:spLocks xmlns:a="http://schemas.openxmlformats.org/drawingml/2006/main" noGrp="1"/>
          </p:cNvSpPr>
          <p:nvPr/>
        </p:nvSpPr>
        <p:spPr>
          <a:xfrm xmlns:a="http://schemas.openxmlformats.org/drawingml/2006/main">
            <a:off x="6477000" y="3286125"/>
            <a:ext cx="5048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4313E"/>
                </a:solidFill>
                <a:latin typeface="Arial"/>
                <a:ea typeface="Arial"/>
                <a:cs typeface="Arial"/>
              </a:defRPr>
            </a:defPPr>
          </a:lstStyle>
          <a:p xmlns:a="http://schemas.openxmlformats.org/drawingml/2006/main">
            <a:pPr marL="254000" indent="-127000">
              <a:spcAft>
                <a:spcPts val="1800"/>
              </a:spcAft>
              <a:buChar char="•"/>
              <a:defRPr sz="2100" b="0">
                <a:solidFill>
                  <a:srgbClr val="14313E"/>
                </a:solidFill>
                <a:latin typeface="Arial"/>
                <a:ea typeface="Arial"/>
                <a:cs typeface="Arial"/>
              </a:defRPr>
            </a:pPr>
            <a:r>
              <a:t>Verification passed on consistent source</a:t>
            </a:r>
          </a:p>
          <a:p xmlns:a="http://schemas.openxmlformats.org/drawingml/2006/main">
            <a:pPr marL="254000" indent="-127000">
              <a:spcAft>
                <a:spcPts val="1800"/>
              </a:spcAft>
              <a:buChar char="•"/>
              <a:defRPr sz="2100" b="0">
                <a:solidFill>
                  <a:srgbClr val="14313E"/>
                </a:solidFill>
                <a:latin typeface="Arial"/>
                <a:ea typeface="Arial"/>
                <a:cs typeface="Arial"/>
              </a:defRPr>
            </a:pPr>
            <a:r>
              <a:t>Does not recertify retained F artifacts</a:t>
            </a:r>
          </a:p>
        </p:txBody>
      </p:sp>
      <p:sp>
        <p:nvSpPr>
          <p:cNvPr id="9" name="">
            <a:extLst xmlns:a="http://schemas.openxmlformats.org/drawingml/2006/main">
              <a:ext uri="{FF2B5EF4-FFF2-40B4-BE49-F238E27FC236}">
                <a16:creationId xmlns:a16="http://schemas.microsoft.com/office/drawing/2014/main" id="{05995995-E078-46F3-8CFE-02EDD0646627}"/>
              </a:ext>
            </a:extLst>
          </p:cNvPr>
          <p:cNvSpPr>
            <a:spLocks xmlns:a="http://schemas.openxmlformats.org/drawingml/2006/main" noGrp="1"/>
          </p:cNvSpPr>
          <p:nvPr/>
        </p:nvSpPr>
        <p:spPr>
          <a:xfrm xmlns:a="http://schemas.openxmlformats.org/drawingml/2006/main">
            <a:off x="609600" y="58578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14313E"/>
                </a:solidFill>
                <a:latin typeface="Arial"/>
                <a:ea typeface="Arial"/>
                <a:cs typeface="Arial"/>
              </a:defRPr>
            </a:defPPr>
          </a:lstStyle>
          <a:p xmlns:a="http://schemas.openxmlformats.org/drawingml/2006/main">
            <a:pPr>
              <a:defRPr sz="1950" b="1">
                <a:solidFill>
                  <a:srgbClr val="14313E"/>
                </a:solidFill>
                <a:latin typeface="Arial"/>
                <a:ea typeface="Arial"/>
                <a:cs typeface="Arial"/>
              </a:defRPr>
            </a:pPr>
            <a:r>
              <a:rPr sz="1950" b="1">
                <a:solidFill>
                  <a:srgbClr val="14313E"/>
                </a:solidFill>
                <a:latin typeface="Arial"/>
                <a:ea typeface="Arial"/>
                <a:cs typeface="Arial"/>
              </a:rPr>
              <a:t>Next: pin the client, qualify a consistent release and verify mapped identity preservation.</a:t>
            </a:r>
          </a:p>
        </p:txBody>
      </p:sp>
    </p:spTree>
    <p:extLst>
      <p:ext uri="{BB962C8B-B14F-4D97-AF65-F5344CB8AC3E}">
        <p14:creationId xmlns:p14="http://schemas.microsoft.com/office/powerpoint/2010/main" val="18423818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20E0DF4-0396-4F4F-B7FF-2B8DEE914D5A}"/>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313E"/>
                </a:solidFill>
                <a:latin typeface="Arial"/>
                <a:ea typeface="Arial"/>
                <a:cs typeface="Arial"/>
              </a:defRPr>
            </a:defPPr>
          </a:lstStyle>
          <a:p xmlns:a="http://schemas.openxmlformats.org/drawingml/2006/main">
            <a:pPr>
              <a:defRPr sz="3300" b="1">
                <a:solidFill>
                  <a:srgbClr val="14313E"/>
                </a:solidFill>
                <a:latin typeface="Arial"/>
                <a:ea typeface="Arial"/>
                <a:cs typeface="Arial"/>
              </a:defRPr>
            </a:pPr>
            <a:r>
              <a:rPr sz="3300" b="1">
                <a:solidFill>
                  <a:srgbClr val="14313E"/>
                </a:solidFill>
                <a:latin typeface="Arial"/>
                <a:ea typeface="Arial"/>
                <a:cs typeface="Arial"/>
              </a:rPr>
              <a:t>Follow-up order in the existing backlog</a:t>
            </a:r>
          </a:p>
        </p:txBody>
      </p:sp>
      <p:sp>
        <p:nvSpPr>
          <p:cNvPr id="2" name="">
            <a:extLst xmlns:a="http://schemas.openxmlformats.org/drawingml/2006/main">
              <a:ext uri="{FF2B5EF4-FFF2-40B4-BE49-F238E27FC236}">
                <a16:creationId xmlns:a16="http://schemas.microsoft.com/office/drawing/2014/main" id="{6BDEC261-DF15-48B8-BC4D-AF5A622AF743}"/>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36D"/>
                </a:solidFill>
                <a:latin typeface="Arial"/>
                <a:ea typeface="Arial"/>
                <a:cs typeface="Arial"/>
              </a:defRPr>
            </a:defPPr>
          </a:lstStyle>
          <a:p xmlns:a="http://schemas.openxmlformats.org/drawingml/2006/main">
            <a:pPr>
              <a:defRPr sz="1200" b="0">
                <a:solidFill>
                  <a:srgbClr val="52636D"/>
                </a:solidFill>
                <a:latin typeface="Arial"/>
                <a:ea typeface="Arial"/>
                <a:cs typeface="Arial"/>
              </a:defRPr>
            </a:pPr>
            <a:r>
              <a:rPr sz="1200" b="0">
                <a:solidFill>
                  <a:srgbClr val="52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5817CB24-9A87-45CD-9DA8-D9994AEE96A7}"/>
              </a:ext>
            </a:extLst>
          </p:cNvPr>
          <p:cNvSpPr>
            <a:spLocks xmlns:a="http://schemas.openxmlformats.org/drawingml/2006/main" noGrp="1"/>
          </p:cNvSpPr>
          <p:nvPr/>
        </p:nvSpPr>
        <p:spPr>
          <a:xfrm xmlns:a="http://schemas.openxmlformats.org/drawingml/2006/main">
            <a:off x="609600" y="15811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4313E"/>
                </a:solidFill>
                <a:latin typeface="Arial"/>
                <a:ea typeface="Arial"/>
                <a:cs typeface="Arial"/>
              </a:defRPr>
            </a:defPPr>
          </a:lstStyle>
          <a:p xmlns:a="http://schemas.openxmlformats.org/drawingml/2006/main">
            <a:pPr>
              <a:defRPr sz="2175" b="1">
                <a:solidFill>
                  <a:srgbClr val="14313E"/>
                </a:solidFill>
                <a:latin typeface="Arial"/>
                <a:ea typeface="Arial"/>
                <a:cs typeface="Arial"/>
              </a:defRPr>
            </a:pPr>
            <a:r>
              <a:rPr sz="2175" b="1">
                <a:solidFill>
                  <a:srgbClr val="14313E"/>
                </a:solidFill>
                <a:latin typeface="Arial"/>
                <a:ea typeface="Arial"/>
                <a:cs typeface="Arial"/>
              </a:rPr>
              <a:t>1. Toolchain and release identity</a:t>
            </a:r>
          </a:p>
        </p:txBody>
      </p:sp>
      <p:sp>
        <p:nvSpPr>
          <p:cNvPr id="4" name="">
            <a:extLst xmlns:a="http://schemas.openxmlformats.org/drawingml/2006/main">
              <a:ext uri="{FF2B5EF4-FFF2-40B4-BE49-F238E27FC236}">
                <a16:creationId xmlns:a16="http://schemas.microsoft.com/office/drawing/2014/main" id="{63CDD149-15FB-4877-BE15-5BD85D4F3CD2}"/>
              </a:ext>
            </a:extLst>
          </p:cNvPr>
          <p:cNvSpPr>
            <a:spLocks xmlns:a="http://schemas.openxmlformats.org/drawingml/2006/main" noGrp="1"/>
          </p:cNvSpPr>
          <p:nvPr/>
        </p:nvSpPr>
        <p:spPr>
          <a:xfrm xmlns:a="http://schemas.openxmlformats.org/drawingml/2006/main">
            <a:off x="904875" y="2000250"/>
            <a:ext cx="7477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2636D"/>
                </a:solidFill>
                <a:latin typeface="Arial"/>
                <a:ea typeface="Arial"/>
                <a:cs typeface="Arial"/>
              </a:defRPr>
            </a:defPPr>
          </a:lstStyle>
          <a:p xmlns:a="http://schemas.openxmlformats.org/drawingml/2006/main">
            <a:pPr>
              <a:defRPr sz="1800" b="0">
                <a:solidFill>
                  <a:srgbClr val="52636D"/>
                </a:solidFill>
                <a:latin typeface="Arial"/>
                <a:ea typeface="Arial"/>
                <a:cs typeface="Arial"/>
              </a:defRPr>
            </a:pPr>
            <a:r>
              <a:rPr sz="1800" b="0">
                <a:solidFill>
                  <a:srgbClr val="52636D"/>
                </a:solidFill>
                <a:latin typeface="Arial"/>
                <a:ea typeface="Arial"/>
                <a:cs typeface="Arial"/>
              </a:rPr>
              <a:t>Pinned client, consistent source/distribution and target mappings</a:t>
            </a:r>
          </a:p>
        </p:txBody>
      </p:sp>
      <p:sp>
        <p:nvSpPr>
          <p:cNvPr id="5" name="">
            <a:extLst xmlns:a="http://schemas.openxmlformats.org/drawingml/2006/main">
              <a:ext uri="{FF2B5EF4-FFF2-40B4-BE49-F238E27FC236}">
                <a16:creationId xmlns:a16="http://schemas.microsoft.com/office/drawing/2014/main" id="{8A1273CD-0A1A-42FE-9411-8C6AF7988522}"/>
              </a:ext>
            </a:extLst>
          </p:cNvPr>
          <p:cNvSpPr>
            <a:spLocks xmlns:a="http://schemas.openxmlformats.org/drawingml/2006/main" noGrp="1"/>
          </p:cNvSpPr>
          <p:nvPr/>
        </p:nvSpPr>
        <p:spPr>
          <a:xfrm xmlns:a="http://schemas.openxmlformats.org/drawingml/2006/main">
            <a:off x="8763000" y="20002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126B70"/>
                </a:solidFill>
                <a:latin typeface="Arial"/>
                <a:ea typeface="Arial"/>
                <a:cs typeface="Arial"/>
              </a:defRPr>
            </a:defPPr>
          </a:lstStyle>
          <a:p xmlns:a="http://schemas.openxmlformats.org/drawingml/2006/main">
            <a:pPr>
              <a:defRPr sz="1500" b="0">
                <a:solidFill>
                  <a:srgbClr val="126B70"/>
                </a:solidFill>
                <a:latin typeface="Arial"/>
                <a:ea typeface="Arial"/>
                <a:cs typeface="Arial"/>
              </a:defRPr>
            </a:pPr>
            <a:r>
              <a:rPr sz="1500" b="0">
                <a:solidFill>
                  <a:srgbClr val="126B70"/>
                </a:solidFill>
                <a:latin typeface="Arial"/>
                <a:ea typeface="Arial"/>
                <a:cs typeface="Arial"/>
              </a:rPr>
              <a:t>PBI-028/029/037/038</a:t>
            </a:r>
          </a:p>
        </p:txBody>
      </p:sp>
      <p:sp>
        <p:nvSpPr>
          <p:cNvPr id="6" name="">
            <a:extLst xmlns:a="http://schemas.openxmlformats.org/drawingml/2006/main">
              <a:ext uri="{FF2B5EF4-FFF2-40B4-BE49-F238E27FC236}">
                <a16:creationId xmlns:a16="http://schemas.microsoft.com/office/drawing/2014/main" id="{F4257505-BEEF-44DF-905D-02C996060B1D}"/>
              </a:ext>
            </a:extLst>
          </p:cNvPr>
          <p:cNvSpPr>
            <a:spLocks xmlns:a="http://schemas.openxmlformats.org/drawingml/2006/main" noGrp="1"/>
          </p:cNvSpPr>
          <p:nvPr/>
        </p:nvSpPr>
        <p:spPr>
          <a:xfrm xmlns:a="http://schemas.openxmlformats.org/drawingml/2006/main">
            <a:off x="609600" y="25908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4313E"/>
                </a:solidFill>
                <a:latin typeface="Arial"/>
                <a:ea typeface="Arial"/>
                <a:cs typeface="Arial"/>
              </a:defRPr>
            </a:defPPr>
          </a:lstStyle>
          <a:p xmlns:a="http://schemas.openxmlformats.org/drawingml/2006/main">
            <a:pPr>
              <a:defRPr sz="2175" b="1">
                <a:solidFill>
                  <a:srgbClr val="14313E"/>
                </a:solidFill>
                <a:latin typeface="Arial"/>
                <a:ea typeface="Arial"/>
                <a:cs typeface="Arial"/>
              </a:defRPr>
            </a:pPr>
            <a:r>
              <a:rPr sz="2175" b="1">
                <a:solidFill>
                  <a:srgbClr val="14313E"/>
                </a:solidFill>
                <a:latin typeface="Arial"/>
                <a:ea typeface="Arial"/>
                <a:cs typeface="Arial"/>
              </a:rPr>
              <a:t>2. Collaboration and component contracts</a:t>
            </a:r>
          </a:p>
        </p:txBody>
      </p:sp>
      <p:sp>
        <p:nvSpPr>
          <p:cNvPr id="7" name="">
            <a:extLst xmlns:a="http://schemas.openxmlformats.org/drawingml/2006/main">
              <a:ext uri="{FF2B5EF4-FFF2-40B4-BE49-F238E27FC236}">
                <a16:creationId xmlns:a16="http://schemas.microsoft.com/office/drawing/2014/main" id="{5D0ED6D4-64A3-4ED4-AD9B-FAD49C227BE2}"/>
              </a:ext>
            </a:extLst>
          </p:cNvPr>
          <p:cNvSpPr>
            <a:spLocks xmlns:a="http://schemas.openxmlformats.org/drawingml/2006/main" noGrp="1"/>
          </p:cNvSpPr>
          <p:nvPr/>
        </p:nvSpPr>
        <p:spPr>
          <a:xfrm xmlns:a="http://schemas.openxmlformats.org/drawingml/2006/main">
            <a:off x="904875" y="3009900"/>
            <a:ext cx="7477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2636D"/>
                </a:solidFill>
                <a:latin typeface="Arial"/>
                <a:ea typeface="Arial"/>
                <a:cs typeface="Arial"/>
              </a:defRPr>
            </a:defPPr>
          </a:lstStyle>
          <a:p xmlns:a="http://schemas.openxmlformats.org/drawingml/2006/main">
            <a:pPr>
              <a:defRPr sz="1800" b="0">
                <a:solidFill>
                  <a:srgbClr val="52636D"/>
                </a:solidFill>
                <a:latin typeface="Arial"/>
                <a:ea typeface="Arial"/>
                <a:cs typeface="Arial"/>
              </a:defRPr>
            </a:pPr>
            <a:r>
              <a:rPr sz="1800" b="0">
                <a:solidFill>
                  <a:srgbClr val="52636D"/>
                </a:solidFill>
                <a:latin typeface="Arial"/>
                <a:ea typeface="Arial"/>
                <a:cs typeface="Arial"/>
              </a:rPr>
              <a:t>Working Copy checkpoints, one migration owner and SemVer rules</a:t>
            </a:r>
          </a:p>
        </p:txBody>
      </p:sp>
      <p:sp>
        <p:nvSpPr>
          <p:cNvPr id="8" name="">
            <a:extLst xmlns:a="http://schemas.openxmlformats.org/drawingml/2006/main">
              <a:ext uri="{FF2B5EF4-FFF2-40B4-BE49-F238E27FC236}">
                <a16:creationId xmlns:a16="http://schemas.microsoft.com/office/drawing/2014/main" id="{62A09609-667C-498C-89DF-3069BECA5158}"/>
              </a:ext>
            </a:extLst>
          </p:cNvPr>
          <p:cNvSpPr>
            <a:spLocks xmlns:a="http://schemas.openxmlformats.org/drawingml/2006/main" noGrp="1"/>
          </p:cNvSpPr>
          <p:nvPr/>
        </p:nvSpPr>
        <p:spPr>
          <a:xfrm xmlns:a="http://schemas.openxmlformats.org/drawingml/2006/main">
            <a:off x="8763000" y="30099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126B70"/>
                </a:solidFill>
                <a:latin typeface="Arial"/>
                <a:ea typeface="Arial"/>
                <a:cs typeface="Arial"/>
              </a:defRPr>
            </a:defPPr>
          </a:lstStyle>
          <a:p xmlns:a="http://schemas.openxmlformats.org/drawingml/2006/main">
            <a:pPr>
              <a:defRPr sz="1500" b="0">
                <a:solidFill>
                  <a:srgbClr val="126B70"/>
                </a:solidFill>
                <a:latin typeface="Arial"/>
                <a:ea typeface="Arial"/>
                <a:cs typeface="Arial"/>
              </a:defRPr>
            </a:pPr>
            <a:r>
              <a:rPr sz="1500" b="0">
                <a:solidFill>
                  <a:srgbClr val="126B70"/>
                </a:solidFill>
                <a:latin typeface="Arial"/>
                <a:ea typeface="Arial"/>
                <a:cs typeface="Arial"/>
              </a:rPr>
              <a:t>PBI-020/039/042/052</a:t>
            </a:r>
          </a:p>
        </p:txBody>
      </p:sp>
      <p:sp>
        <p:nvSpPr>
          <p:cNvPr id="9" name="">
            <a:extLst xmlns:a="http://schemas.openxmlformats.org/drawingml/2006/main">
              <a:ext uri="{FF2B5EF4-FFF2-40B4-BE49-F238E27FC236}">
                <a16:creationId xmlns:a16="http://schemas.microsoft.com/office/drawing/2014/main" id="{B7D3D2AC-D528-4E45-8D06-FCD32E3496CA}"/>
              </a:ext>
            </a:extLst>
          </p:cNvPr>
          <p:cNvSpPr>
            <a:spLocks xmlns:a="http://schemas.openxmlformats.org/drawingml/2006/main" noGrp="1"/>
          </p:cNvSpPr>
          <p:nvPr/>
        </p:nvSpPr>
        <p:spPr>
          <a:xfrm xmlns:a="http://schemas.openxmlformats.org/drawingml/2006/main">
            <a:off x="609600" y="3600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4313E"/>
                </a:solidFill>
                <a:latin typeface="Arial"/>
                <a:ea typeface="Arial"/>
                <a:cs typeface="Arial"/>
              </a:defRPr>
            </a:defPPr>
          </a:lstStyle>
          <a:p xmlns:a="http://schemas.openxmlformats.org/drawingml/2006/main">
            <a:pPr>
              <a:defRPr sz="2175" b="1">
                <a:solidFill>
                  <a:srgbClr val="14313E"/>
                </a:solidFill>
                <a:latin typeface="Arial"/>
                <a:ea typeface="Arial"/>
                <a:cs typeface="Arial"/>
              </a:defRPr>
            </a:pPr>
            <a:r>
              <a:rPr sz="2175" b="1">
                <a:solidFill>
                  <a:srgbClr val="14313E"/>
                </a:solidFill>
                <a:latin typeface="Arial"/>
                <a:ea typeface="Arial"/>
                <a:cs typeface="Arial"/>
              </a:rPr>
              <a:t>3. Delivery protections and reviewed repair</a:t>
            </a:r>
          </a:p>
        </p:txBody>
      </p:sp>
      <p:sp>
        <p:nvSpPr>
          <p:cNvPr id="10" name="">
            <a:extLst xmlns:a="http://schemas.openxmlformats.org/drawingml/2006/main">
              <a:ext uri="{FF2B5EF4-FFF2-40B4-BE49-F238E27FC236}">
                <a16:creationId xmlns:a16="http://schemas.microsoft.com/office/drawing/2014/main" id="{114594CC-074F-484B-8C28-A2644F8339D0}"/>
              </a:ext>
            </a:extLst>
          </p:cNvPr>
          <p:cNvSpPr>
            <a:spLocks xmlns:a="http://schemas.openxmlformats.org/drawingml/2006/main" noGrp="1"/>
          </p:cNvSpPr>
          <p:nvPr/>
        </p:nvSpPr>
        <p:spPr>
          <a:xfrm xmlns:a="http://schemas.openxmlformats.org/drawingml/2006/main">
            <a:off x="904875" y="4019550"/>
            <a:ext cx="7477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2636D"/>
                </a:solidFill>
                <a:latin typeface="Arial"/>
                <a:ea typeface="Arial"/>
                <a:cs typeface="Arial"/>
              </a:defRPr>
            </a:defPPr>
          </a:lstStyle>
          <a:p xmlns:a="http://schemas.openxmlformats.org/drawingml/2006/main">
            <a:pPr>
              <a:defRPr sz="1800" b="0">
                <a:solidFill>
                  <a:srgbClr val="52636D"/>
                </a:solidFill>
                <a:latin typeface="Arial"/>
                <a:ea typeface="Arial"/>
                <a:cs typeface="Arial"/>
              </a:defRPr>
            </a:pPr>
            <a:r>
              <a:rPr sz="1800" b="0">
                <a:solidFill>
                  <a:srgbClr val="52636D"/>
                </a:solidFill>
                <a:latin typeface="Arial"/>
                <a:ea typeface="Arial"/>
                <a:cs typeface="Arial"/>
              </a:rPr>
              <a:t>Compatibility, drift rejection, ownership fencing and partial-state repair</a:t>
            </a:r>
          </a:p>
        </p:txBody>
      </p:sp>
      <p:sp>
        <p:nvSpPr>
          <p:cNvPr id="11" name="">
            <a:extLst xmlns:a="http://schemas.openxmlformats.org/drawingml/2006/main">
              <a:ext uri="{FF2B5EF4-FFF2-40B4-BE49-F238E27FC236}">
                <a16:creationId xmlns:a16="http://schemas.microsoft.com/office/drawing/2014/main" id="{95FBDCA4-6C38-4370-B58B-9A009C876109}"/>
              </a:ext>
            </a:extLst>
          </p:cNvPr>
          <p:cNvSpPr>
            <a:spLocks xmlns:a="http://schemas.openxmlformats.org/drawingml/2006/main" noGrp="1"/>
          </p:cNvSpPr>
          <p:nvPr/>
        </p:nvSpPr>
        <p:spPr>
          <a:xfrm xmlns:a="http://schemas.openxmlformats.org/drawingml/2006/main">
            <a:off x="8763000" y="401955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126B70"/>
                </a:solidFill>
                <a:latin typeface="Arial"/>
                <a:ea typeface="Arial"/>
                <a:cs typeface="Arial"/>
              </a:defRPr>
            </a:defPPr>
          </a:lstStyle>
          <a:p xmlns:a="http://schemas.openxmlformats.org/drawingml/2006/main">
            <a:pPr>
              <a:defRPr sz="1500" b="0">
                <a:solidFill>
                  <a:srgbClr val="126B70"/>
                </a:solidFill>
                <a:latin typeface="Arial"/>
                <a:ea typeface="Arial"/>
                <a:cs typeface="Arial"/>
              </a:defRPr>
            </a:pPr>
            <a:r>
              <a:rPr sz="1500" b="0">
                <a:solidFill>
                  <a:srgbClr val="126B70"/>
                </a:solidFill>
                <a:latin typeface="Arial"/>
                <a:ea typeface="Arial"/>
                <a:cs typeface="Arial"/>
              </a:rPr>
              <a:t>PBI-021/022/023/024/045</a:t>
            </a:r>
          </a:p>
        </p:txBody>
      </p:sp>
      <p:sp>
        <p:nvSpPr>
          <p:cNvPr id="12" name="">
            <a:extLst xmlns:a="http://schemas.openxmlformats.org/drawingml/2006/main">
              <a:ext uri="{FF2B5EF4-FFF2-40B4-BE49-F238E27FC236}">
                <a16:creationId xmlns:a16="http://schemas.microsoft.com/office/drawing/2014/main" id="{B3D0F8CC-8CDD-4A51-A5CC-815170FB61F7}"/>
              </a:ext>
            </a:extLst>
          </p:cNvPr>
          <p:cNvSpPr>
            <a:spLocks xmlns:a="http://schemas.openxmlformats.org/drawingml/2006/main" noGrp="1"/>
          </p:cNvSpPr>
          <p:nvPr/>
        </p:nvSpPr>
        <p:spPr>
          <a:xfrm xmlns:a="http://schemas.openxmlformats.org/drawingml/2006/main">
            <a:off x="609600" y="46101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4313E"/>
                </a:solidFill>
                <a:latin typeface="Arial"/>
                <a:ea typeface="Arial"/>
                <a:cs typeface="Arial"/>
              </a:defRPr>
            </a:defPPr>
          </a:lstStyle>
          <a:p xmlns:a="http://schemas.openxmlformats.org/drawingml/2006/main">
            <a:pPr>
              <a:defRPr sz="2175" b="1">
                <a:solidFill>
                  <a:srgbClr val="14313E"/>
                </a:solidFill>
                <a:latin typeface="Arial"/>
                <a:ea typeface="Arial"/>
                <a:cs typeface="Arial"/>
              </a:defRPr>
            </a:pPr>
            <a:r>
              <a:rPr sz="2175" b="1">
                <a:solidFill>
                  <a:srgbClr val="14313E"/>
                </a:solidFill>
                <a:latin typeface="Arial"/>
                <a:ea typeface="Arial"/>
                <a:cs typeface="Arial"/>
              </a:rPr>
              <a:t>4. Quality checks and pipeline operation</a:t>
            </a:r>
          </a:p>
        </p:txBody>
      </p:sp>
      <p:sp>
        <p:nvSpPr>
          <p:cNvPr id="13" name="">
            <a:extLst xmlns:a="http://schemas.openxmlformats.org/drawingml/2006/main">
              <a:ext uri="{FF2B5EF4-FFF2-40B4-BE49-F238E27FC236}">
                <a16:creationId xmlns:a16="http://schemas.microsoft.com/office/drawing/2014/main" id="{2F06FB90-D8FA-4323-887B-FD71E4BCC39F}"/>
              </a:ext>
            </a:extLst>
          </p:cNvPr>
          <p:cNvSpPr>
            <a:spLocks xmlns:a="http://schemas.openxmlformats.org/drawingml/2006/main" noGrp="1"/>
          </p:cNvSpPr>
          <p:nvPr/>
        </p:nvSpPr>
        <p:spPr>
          <a:xfrm xmlns:a="http://schemas.openxmlformats.org/drawingml/2006/main">
            <a:off x="904875" y="5029200"/>
            <a:ext cx="7477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2636D"/>
                </a:solidFill>
                <a:latin typeface="Arial"/>
                <a:ea typeface="Arial"/>
                <a:cs typeface="Arial"/>
              </a:defRPr>
            </a:defPPr>
          </a:lstStyle>
          <a:p xmlns:a="http://schemas.openxmlformats.org/drawingml/2006/main">
            <a:pPr>
              <a:defRPr sz="1800" b="0">
                <a:solidFill>
                  <a:srgbClr val="52636D"/>
                </a:solidFill>
                <a:latin typeface="Arial"/>
                <a:ea typeface="Arial"/>
                <a:cs typeface="Arial"/>
              </a:defRPr>
            </a:pPr>
            <a:r>
              <a:rPr sz="1800" b="0">
                <a:solidFill>
                  <a:srgbClr val="52636D"/>
                </a:solidFill>
                <a:latin typeface="Arial"/>
                <a:ea typeface="Arial"/>
                <a:cs typeface="Arial"/>
              </a:rPr>
              <a:t>utPLSQL, audits and browser checks against the same candidate</a:t>
            </a:r>
          </a:p>
        </p:txBody>
      </p:sp>
      <p:sp>
        <p:nvSpPr>
          <p:cNvPr id="14" name="">
            <a:extLst xmlns:a="http://schemas.openxmlformats.org/drawingml/2006/main">
              <a:ext uri="{FF2B5EF4-FFF2-40B4-BE49-F238E27FC236}">
                <a16:creationId xmlns:a16="http://schemas.microsoft.com/office/drawing/2014/main" id="{E1EF3047-E8E7-4278-966B-500596752AD5}"/>
              </a:ext>
            </a:extLst>
          </p:cNvPr>
          <p:cNvSpPr>
            <a:spLocks xmlns:a="http://schemas.openxmlformats.org/drawingml/2006/main" noGrp="1"/>
          </p:cNvSpPr>
          <p:nvPr/>
        </p:nvSpPr>
        <p:spPr>
          <a:xfrm xmlns:a="http://schemas.openxmlformats.org/drawingml/2006/main">
            <a:off x="8763000" y="5029200"/>
            <a:ext cx="281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126B70"/>
                </a:solidFill>
                <a:latin typeface="Arial"/>
                <a:ea typeface="Arial"/>
                <a:cs typeface="Arial"/>
              </a:defRPr>
            </a:defPPr>
          </a:lstStyle>
          <a:p xmlns:a="http://schemas.openxmlformats.org/drawingml/2006/main">
            <a:pPr>
              <a:defRPr sz="1500" b="0">
                <a:solidFill>
                  <a:srgbClr val="126B70"/>
                </a:solidFill>
                <a:latin typeface="Arial"/>
                <a:ea typeface="Arial"/>
                <a:cs typeface="Arial"/>
              </a:defRPr>
            </a:pPr>
            <a:r>
              <a:rPr sz="1500" b="0">
                <a:solidFill>
                  <a:srgbClr val="126B70"/>
                </a:solidFill>
                <a:latin typeface="Arial"/>
                <a:ea typeface="Arial"/>
                <a:cs typeface="Arial"/>
              </a:rPr>
              <a:t>PBI-040/041/043/046</a:t>
            </a:r>
          </a:p>
        </p:txBody>
      </p:sp>
      <p:sp>
        <p:nvSpPr>
          <p:cNvPr id="15" name="">
            <a:extLst xmlns:a="http://schemas.openxmlformats.org/drawingml/2006/main">
              <a:ext uri="{FF2B5EF4-FFF2-40B4-BE49-F238E27FC236}">
                <a16:creationId xmlns:a16="http://schemas.microsoft.com/office/drawing/2014/main" id="{68C84478-83CB-466E-95E6-7713CB7EE114}"/>
              </a:ext>
            </a:extLst>
          </p:cNvPr>
          <p:cNvSpPr>
            <a:spLocks xmlns:a="http://schemas.openxmlformats.org/drawingml/2006/main" noGrp="1"/>
          </p:cNvSpPr>
          <p:nvPr/>
        </p:nvSpPr>
        <p:spPr>
          <a:xfrm xmlns:a="http://schemas.openxmlformats.org/drawingml/2006/main">
            <a:off x="609600" y="5962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9E3D2A"/>
                </a:solidFill>
                <a:latin typeface="Arial"/>
                <a:ea typeface="Arial"/>
                <a:cs typeface="Arial"/>
              </a:defRPr>
            </a:defPPr>
          </a:lstStyle>
          <a:p xmlns:a="http://schemas.openxmlformats.org/drawingml/2006/main">
            <a:pPr>
              <a:defRPr sz="1875" b="1">
                <a:solidFill>
                  <a:srgbClr val="9E3D2A"/>
                </a:solidFill>
                <a:latin typeface="Arial"/>
                <a:ea typeface="Arial"/>
                <a:cs typeface="Arial"/>
              </a:defRPr>
            </a:pPr>
            <a:r>
              <a:rPr sz="1875" b="1">
                <a:solidFill>
                  <a:srgbClr val="9E3D2A"/>
                </a:solidFill>
                <a:latin typeface="Arial"/>
                <a:ea typeface="Arial"/>
                <a:cs typeface="Arial"/>
              </a:rPr>
              <a:t>Complex Foundation upgrades stay in E.5 after stabilization (PBI-048/049/050).</a:t>
            </a:r>
          </a:p>
        </p:txBody>
      </p:sp>
    </p:spTree>
    <p:extLst>
      <p:ext uri="{BB962C8B-B14F-4D97-AF65-F5344CB8AC3E}">
        <p14:creationId xmlns:p14="http://schemas.microsoft.com/office/powerpoint/2010/main" val="610318698"/>
      </p:ext>
    </p:extLst>
  </p:cSld>
</p:sld>
</file>

<file path=ppt/slides/slide8.xml><?xml version="1.0" encoding="utf-8"?>
<p:sld xmlns:p="http://schemas.openxmlformats.org/presentationml/2006/main">
  <p:cSld>
    <p:bg>
      <p:bgPr>
        <a:solidFill xmlns:a="http://schemas.openxmlformats.org/drawingml/2006/main">
          <a:srgbClr val="14313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9DC3041-02E3-40DD-8221-8FB2FC7E97DC}"/>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Product Owner decisions</a:t>
            </a:r>
          </a:p>
        </p:txBody>
      </p:sp>
      <p:sp>
        <p:nvSpPr>
          <p:cNvPr id="2" name="">
            <a:extLst xmlns:a="http://schemas.openxmlformats.org/drawingml/2006/main">
              <a:ext uri="{FF2B5EF4-FFF2-40B4-BE49-F238E27FC236}">
                <a16:creationId xmlns:a16="http://schemas.microsoft.com/office/drawing/2014/main" id="{55D7060D-E39E-48D9-916F-C4C43B3B0368}"/>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5E4E6"/>
                </a:solidFill>
                <a:latin typeface="Arial"/>
                <a:ea typeface="Arial"/>
                <a:cs typeface="Arial"/>
              </a:defRPr>
            </a:defPPr>
          </a:lstStyle>
          <a:p xmlns:a="http://schemas.openxmlformats.org/drawingml/2006/main">
            <a:pPr>
              <a:defRPr sz="1200" b="0">
                <a:solidFill>
                  <a:srgbClr val="D5E4E6"/>
                </a:solidFill>
                <a:latin typeface="Arial"/>
                <a:ea typeface="Arial"/>
                <a:cs typeface="Arial"/>
              </a:defRPr>
            </a:pPr>
            <a:r>
              <a:rPr sz="1200" b="0">
                <a:solidFill>
                  <a:srgbClr val="D5E4E6"/>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B8C30AD0-B624-45A7-AC7E-D46F4A4390A1}"/>
              </a:ext>
            </a:extLst>
          </p:cNvPr>
          <p:cNvSpPr>
            <a:spLocks xmlns:a="http://schemas.openxmlformats.org/drawingml/2006/main" noGrp="1"/>
          </p:cNvSpPr>
          <p:nvPr/>
        </p:nvSpPr>
        <p:spPr>
          <a:xfrm xmlns:a="http://schemas.openxmlformats.org/drawingml/2006/main">
            <a:off x="609600" y="1485900"/>
            <a:ext cx="10906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1. Accept the assessment with its limits</a:t>
            </a:r>
          </a:p>
        </p:txBody>
      </p:sp>
      <p:sp>
        <p:nvSpPr>
          <p:cNvPr id="4" name="">
            <a:extLst xmlns:a="http://schemas.openxmlformats.org/drawingml/2006/main">
              <a:ext uri="{FF2B5EF4-FFF2-40B4-BE49-F238E27FC236}">
                <a16:creationId xmlns:a16="http://schemas.microsoft.com/office/drawing/2014/main" id="{0D699706-66FB-400E-B6BD-88C6ED877B9F}"/>
              </a:ext>
            </a:extLst>
          </p:cNvPr>
          <p:cNvSpPr>
            <a:spLocks xmlns:a="http://schemas.openxmlformats.org/drawingml/2006/main" noGrp="1"/>
          </p:cNvSpPr>
          <p:nvPr/>
        </p:nvSpPr>
        <p:spPr>
          <a:xfrm xmlns:a="http://schemas.openxmlformats.org/drawingml/2006/main">
            <a:off x="914400" y="18669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D5E4E6"/>
                </a:solidFill>
                <a:latin typeface="Arial"/>
                <a:ea typeface="Arial"/>
                <a:cs typeface="Arial"/>
              </a:defRPr>
            </a:defPPr>
          </a:lstStyle>
          <a:p xmlns:a="http://schemas.openxmlformats.org/drawingml/2006/main">
            <a:pPr>
              <a:defRPr sz="1725" b="0">
                <a:solidFill>
                  <a:srgbClr val="D5E4E6"/>
                </a:solidFill>
                <a:latin typeface="Arial"/>
                <a:ea typeface="Arial"/>
                <a:cs typeface="Arial"/>
              </a:defRPr>
            </a:pPr>
            <a:r>
              <a:rPr sz="1725" b="0">
                <a:solidFill>
                  <a:srgbClr val="D5E4E6"/>
                </a:solidFill>
                <a:latin typeface="Arial"/>
                <a:ea typeface="Arial"/>
                <a:cs typeface="Arial"/>
              </a:rPr>
              <a:t>Recommended: accept findings, retain protection gaps and missing repair validation</a:t>
            </a:r>
          </a:p>
        </p:txBody>
      </p:sp>
      <p:sp>
        <p:nvSpPr>
          <p:cNvPr id="5" name="">
            <a:extLst xmlns:a="http://schemas.openxmlformats.org/drawingml/2006/main">
              <a:ext uri="{FF2B5EF4-FFF2-40B4-BE49-F238E27FC236}">
                <a16:creationId xmlns:a16="http://schemas.microsoft.com/office/drawing/2014/main" id="{2F50FD8E-7A61-446B-AA33-C30AE9A23B2E}"/>
              </a:ext>
            </a:extLst>
          </p:cNvPr>
          <p:cNvSpPr>
            <a:spLocks xmlns:a="http://schemas.openxmlformats.org/drawingml/2006/main" noGrp="1"/>
          </p:cNvSpPr>
          <p:nvPr/>
        </p:nvSpPr>
        <p:spPr>
          <a:xfrm xmlns:a="http://schemas.openxmlformats.org/drawingml/2006/main">
            <a:off x="609600" y="2362200"/>
            <a:ext cx="10906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2. Keep PROJECT and Working Copies as options</a:t>
            </a:r>
          </a:p>
        </p:txBody>
      </p:sp>
      <p:sp>
        <p:nvSpPr>
          <p:cNvPr id="6" name="">
            <a:extLst xmlns:a="http://schemas.openxmlformats.org/drawingml/2006/main">
              <a:ext uri="{FF2B5EF4-FFF2-40B4-BE49-F238E27FC236}">
                <a16:creationId xmlns:a16="http://schemas.microsoft.com/office/drawing/2014/main" id="{BAFD11DA-A869-491E-A54F-1E834E4A9B8A}"/>
              </a:ext>
            </a:extLst>
          </p:cNvPr>
          <p:cNvSpPr>
            <a:spLocks xmlns:a="http://schemas.openxmlformats.org/drawingml/2006/main" noGrp="1"/>
          </p:cNvSpPr>
          <p:nvPr/>
        </p:nvSpPr>
        <p:spPr>
          <a:xfrm xmlns:a="http://schemas.openxmlformats.org/drawingml/2006/main">
            <a:off x="914400" y="27432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D5E4E6"/>
                </a:solidFill>
                <a:latin typeface="Arial"/>
                <a:ea typeface="Arial"/>
                <a:cs typeface="Arial"/>
              </a:defRPr>
            </a:defPPr>
          </a:lstStyle>
          <a:p xmlns:a="http://schemas.openxmlformats.org/drawingml/2006/main">
            <a:pPr>
              <a:defRPr sz="1725" b="0">
                <a:solidFill>
                  <a:srgbClr val="D5E4E6"/>
                </a:solidFill>
                <a:latin typeface="Arial"/>
                <a:ea typeface="Arial"/>
                <a:cs typeface="Arial"/>
              </a:defRPr>
            </a:pPr>
            <a:r>
              <a:rPr sz="1725" b="0">
                <a:solidFill>
                  <a:srgbClr val="D5E4E6"/>
                </a:solidFill>
                <a:latin typeface="Arial"/>
                <a:ea typeface="Arial"/>
                <a:cs typeface="Arial"/>
              </a:rPr>
              <a:t>Recommended: compatible repository conventions and one migration authority</a:t>
            </a:r>
          </a:p>
        </p:txBody>
      </p:sp>
      <p:sp>
        <p:nvSpPr>
          <p:cNvPr id="7" name="">
            <a:extLst xmlns:a="http://schemas.openxmlformats.org/drawingml/2006/main">
              <a:ext uri="{FF2B5EF4-FFF2-40B4-BE49-F238E27FC236}">
                <a16:creationId xmlns:a16="http://schemas.microsoft.com/office/drawing/2014/main" id="{8983615C-FF0C-44B9-8D08-BE814233C865}"/>
              </a:ext>
            </a:extLst>
          </p:cNvPr>
          <p:cNvSpPr>
            <a:spLocks xmlns:a="http://schemas.openxmlformats.org/drawingml/2006/main" noGrp="1"/>
          </p:cNvSpPr>
          <p:nvPr/>
        </p:nvSpPr>
        <p:spPr>
          <a:xfrm xmlns:a="http://schemas.openxmlformats.org/drawingml/2006/main">
            <a:off x="609600" y="3238500"/>
            <a:ext cx="10906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3. Prioritize stabilization and protection</a:t>
            </a:r>
          </a:p>
        </p:txBody>
      </p:sp>
      <p:sp>
        <p:nvSpPr>
          <p:cNvPr id="8" name="">
            <a:extLst xmlns:a="http://schemas.openxmlformats.org/drawingml/2006/main">
              <a:ext uri="{FF2B5EF4-FFF2-40B4-BE49-F238E27FC236}">
                <a16:creationId xmlns:a16="http://schemas.microsoft.com/office/drawing/2014/main" id="{2FB9B5CE-37E2-499D-A904-1A0ACD6E95F8}"/>
              </a:ext>
            </a:extLst>
          </p:cNvPr>
          <p:cNvSpPr>
            <a:spLocks xmlns:a="http://schemas.openxmlformats.org/drawingml/2006/main" noGrp="1"/>
          </p:cNvSpPr>
          <p:nvPr/>
        </p:nvSpPr>
        <p:spPr>
          <a:xfrm xmlns:a="http://schemas.openxmlformats.org/drawingml/2006/main">
            <a:off x="914400" y="36195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D5E4E6"/>
                </a:solidFill>
                <a:latin typeface="Arial"/>
                <a:ea typeface="Arial"/>
                <a:cs typeface="Arial"/>
              </a:defRPr>
            </a:defPPr>
          </a:lstStyle>
          <a:p xmlns:a="http://schemas.openxmlformats.org/drawingml/2006/main">
            <a:pPr>
              <a:defRPr sz="1725" b="0">
                <a:solidFill>
                  <a:srgbClr val="D5E4E6"/>
                </a:solidFill>
                <a:latin typeface="Arial"/>
                <a:ea typeface="Arial"/>
                <a:cs typeface="Arial"/>
              </a:defRPr>
            </a:pPr>
            <a:r>
              <a:rPr sz="1725" b="0">
                <a:solidFill>
                  <a:srgbClr val="D5E4E6"/>
                </a:solidFill>
                <a:latin typeface="Arial"/>
                <a:ea typeface="Arial"/>
                <a:cs typeface="Arial"/>
              </a:rPr>
              <a:t>Recommended: qualify those outcomes before pipeline adoption</a:t>
            </a:r>
          </a:p>
        </p:txBody>
      </p:sp>
      <p:sp>
        <p:nvSpPr>
          <p:cNvPr id="9" name="">
            <a:extLst xmlns:a="http://schemas.openxmlformats.org/drawingml/2006/main">
              <a:ext uri="{FF2B5EF4-FFF2-40B4-BE49-F238E27FC236}">
                <a16:creationId xmlns:a16="http://schemas.microsoft.com/office/drawing/2014/main" id="{2A82DA92-0E68-4EAC-83ED-4AA4D1FC962A}"/>
              </a:ext>
            </a:extLst>
          </p:cNvPr>
          <p:cNvSpPr>
            <a:spLocks xmlns:a="http://schemas.openxmlformats.org/drawingml/2006/main" noGrp="1"/>
          </p:cNvSpPr>
          <p:nvPr/>
        </p:nvSpPr>
        <p:spPr>
          <a:xfrm xmlns:a="http://schemas.openxmlformats.org/drawingml/2006/main">
            <a:off x="609600" y="4114800"/>
            <a:ext cx="10906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4. Reevaluate E.1 authoring restrictions</a:t>
            </a:r>
          </a:p>
        </p:txBody>
      </p:sp>
      <p:sp>
        <p:nvSpPr>
          <p:cNvPr id="10" name="">
            <a:extLst xmlns:a="http://schemas.openxmlformats.org/drawingml/2006/main">
              <a:ext uri="{FF2B5EF4-FFF2-40B4-BE49-F238E27FC236}">
                <a16:creationId xmlns:a16="http://schemas.microsoft.com/office/drawing/2014/main" id="{9A7E7994-56C9-4571-977C-BCA006EBDA77}"/>
              </a:ext>
            </a:extLst>
          </p:cNvPr>
          <p:cNvSpPr>
            <a:spLocks xmlns:a="http://schemas.openxmlformats.org/drawingml/2006/main" noGrp="1"/>
          </p:cNvSpPr>
          <p:nvPr/>
        </p:nvSpPr>
        <p:spPr>
          <a:xfrm xmlns:a="http://schemas.openxmlformats.org/drawingml/2006/main">
            <a:off x="914400" y="44958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D5E4E6"/>
                </a:solidFill>
                <a:latin typeface="Arial"/>
                <a:ea typeface="Arial"/>
                <a:cs typeface="Arial"/>
              </a:defRPr>
            </a:defPPr>
          </a:lstStyle>
          <a:p xmlns:a="http://schemas.openxmlformats.org/drawingml/2006/main">
            <a:pPr>
              <a:defRPr sz="1725" b="0">
                <a:solidFill>
                  <a:srgbClr val="D5E4E6"/>
                </a:solidFill>
                <a:latin typeface="Arial"/>
                <a:ea typeface="Arial"/>
                <a:cs typeface="Arial"/>
              </a:defRPr>
            </a:pPr>
            <a:r>
              <a:rPr sz="1725" b="0">
                <a:solidFill>
                  <a:srgbClr val="D5E4E6"/>
                </a:solidFill>
                <a:latin typeface="Arial"/>
                <a:ea typeface="Arial"/>
                <a:cs typeface="Arial"/>
              </a:rPr>
              <a:t>Recommended: allow native collaboration where required controls remain satisfied</a:t>
            </a:r>
          </a:p>
        </p:txBody>
      </p:sp>
      <p:sp>
        <p:nvSpPr>
          <p:cNvPr id="11" name="">
            <a:extLst xmlns:a="http://schemas.openxmlformats.org/drawingml/2006/main">
              <a:ext uri="{FF2B5EF4-FFF2-40B4-BE49-F238E27FC236}">
                <a16:creationId xmlns:a16="http://schemas.microsoft.com/office/drawing/2014/main" id="{E23C7E60-8CDF-4B3E-867D-83E166D8A0B3}"/>
              </a:ext>
            </a:extLst>
          </p:cNvPr>
          <p:cNvSpPr>
            <a:spLocks xmlns:a="http://schemas.openxmlformats.org/drawingml/2006/main" noGrp="1"/>
          </p:cNvSpPr>
          <p:nvPr/>
        </p:nvSpPr>
        <p:spPr>
          <a:xfrm xmlns:a="http://schemas.openxmlformats.org/drawingml/2006/main">
            <a:off x="609600" y="4991100"/>
            <a:ext cx="10906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5. Retain the E.5 boundary</a:t>
            </a:r>
          </a:p>
        </p:txBody>
      </p:sp>
      <p:sp>
        <p:nvSpPr>
          <p:cNvPr id="12" name="">
            <a:extLst xmlns:a="http://schemas.openxmlformats.org/drawingml/2006/main">
              <a:ext uri="{FF2B5EF4-FFF2-40B4-BE49-F238E27FC236}">
                <a16:creationId xmlns:a16="http://schemas.microsoft.com/office/drawing/2014/main" id="{8270121F-5E41-464E-9FD8-A9927B34D2C2}"/>
              </a:ext>
            </a:extLst>
          </p:cNvPr>
          <p:cNvSpPr>
            <a:spLocks xmlns:a="http://schemas.openxmlformats.org/drawingml/2006/main" noGrp="1"/>
          </p:cNvSpPr>
          <p:nvPr/>
        </p:nvSpPr>
        <p:spPr>
          <a:xfrm xmlns:a="http://schemas.openxmlformats.org/drawingml/2006/main">
            <a:off x="914400" y="53721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D5E4E6"/>
                </a:solidFill>
                <a:latin typeface="Arial"/>
                <a:ea typeface="Arial"/>
                <a:cs typeface="Arial"/>
              </a:defRPr>
            </a:defPPr>
          </a:lstStyle>
          <a:p xmlns:a="http://schemas.openxmlformats.org/drawingml/2006/main">
            <a:pPr>
              <a:defRPr sz="1725" b="0">
                <a:solidFill>
                  <a:srgbClr val="D5E4E6"/>
                </a:solidFill>
                <a:latin typeface="Arial"/>
                <a:ea typeface="Arial"/>
                <a:cs typeface="Arial"/>
              </a:defRPr>
            </a:pPr>
            <a:r>
              <a:rPr sz="1725" b="0">
                <a:solidFill>
                  <a:srgbClr val="D5E4E6"/>
                </a:solidFill>
                <a:latin typeface="Arial"/>
                <a:ea typeface="Arial"/>
                <a:cs typeface="Arial"/>
              </a:rPr>
              <a:t>Recommended: complex Foundation upgrades follow toolchain stabilization</a:t>
            </a:r>
          </a:p>
        </p:txBody>
      </p:sp>
      <p:sp>
        <p:nvSpPr>
          <p:cNvPr id="13" name="">
            <a:extLst xmlns:a="http://schemas.openxmlformats.org/drawingml/2006/main">
              <a:ext uri="{FF2B5EF4-FFF2-40B4-BE49-F238E27FC236}">
                <a16:creationId xmlns:a16="http://schemas.microsoft.com/office/drawing/2014/main" id="{D607A0CA-7D47-438D-AC4F-9FADA6FD1A3D}"/>
              </a:ext>
            </a:extLst>
          </p:cNvPr>
          <p:cNvSpPr>
            <a:spLocks xmlns:a="http://schemas.openxmlformats.org/drawingml/2006/main" noGrp="1"/>
          </p:cNvSpPr>
          <p:nvPr/>
        </p:nvSpPr>
        <p:spPr>
          <a:xfrm xmlns:a="http://schemas.openxmlformats.org/drawingml/2006/main">
            <a:off x="609600" y="61912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D5E4E6"/>
                </a:solidFill>
                <a:latin typeface="Arial"/>
                <a:ea typeface="Arial"/>
                <a:cs typeface="Arial"/>
              </a:defRPr>
            </a:defPPr>
          </a:lstStyle>
          <a:p xmlns:a="http://schemas.openxmlformats.org/drawingml/2006/main">
            <a:pPr>
              <a:defRPr sz="1575" b="0">
                <a:solidFill>
                  <a:srgbClr val="D5E4E6"/>
                </a:solidFill>
                <a:latin typeface="Arial"/>
                <a:ea typeface="Arial"/>
                <a:cs typeface="Arial"/>
              </a:defRPr>
            </a:pPr>
            <a:r>
              <a:rPr sz="1575" b="0">
                <a:solidFill>
                  <a:srgbClr val="D5E4E6"/>
                </a:solidFill>
                <a:latin typeface="Arial"/>
                <a:ea typeface="Arial"/>
                <a:cs typeface="Arial"/>
              </a:rPr>
              <a:t>All decisions pending. Acceptance does not certify production readiness.</a:t>
            </a:r>
          </a:p>
        </p:txBody>
      </p:sp>
    </p:spTree>
    <p:extLst>
      <p:ext uri="{BB962C8B-B14F-4D97-AF65-F5344CB8AC3E}">
        <p14:creationId xmlns:p14="http://schemas.microsoft.com/office/powerpoint/2010/main" val="13744036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EE4978-F066-4C64-925E-06231DC931A7}"/>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313E"/>
                </a:solidFill>
                <a:latin typeface="Arial"/>
                <a:ea typeface="Arial"/>
                <a:cs typeface="Arial"/>
              </a:defRPr>
            </a:defPPr>
          </a:lstStyle>
          <a:p xmlns:a="http://schemas.openxmlformats.org/drawingml/2006/main">
            <a:pPr>
              <a:defRPr sz="3300" b="1">
                <a:solidFill>
                  <a:srgbClr val="14313E"/>
                </a:solidFill>
                <a:latin typeface="Arial"/>
                <a:ea typeface="Arial"/>
                <a:cs typeface="Arial"/>
              </a:defRPr>
            </a:pPr>
            <a:r>
              <a:rPr sz="3300" b="1">
                <a:solidFill>
                  <a:srgbClr val="14313E"/>
                </a:solidFill>
                <a:latin typeface="Arial"/>
                <a:ea typeface="Arial"/>
                <a:cs typeface="Arial"/>
              </a:rPr>
              <a:t>PROJECT repository: retained application source</a:t>
            </a:r>
          </a:p>
        </p:txBody>
      </p:sp>
      <p:sp>
        <p:nvSpPr>
          <p:cNvPr id="2" name="">
            <a:extLst xmlns:a="http://schemas.openxmlformats.org/drawingml/2006/main">
              <a:ext uri="{FF2B5EF4-FFF2-40B4-BE49-F238E27FC236}">
                <a16:creationId xmlns:a16="http://schemas.microsoft.com/office/drawing/2014/main" id="{29B34DFA-D9AC-4580-804C-EF0740A1E712}"/>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36D"/>
                </a:solidFill>
                <a:latin typeface="Arial"/>
                <a:ea typeface="Arial"/>
                <a:cs typeface="Arial"/>
              </a:defRPr>
            </a:defPPr>
          </a:lstStyle>
          <a:p xmlns:a="http://schemas.openxmlformats.org/drawingml/2006/main">
            <a:pPr>
              <a:defRPr sz="1200" b="0">
                <a:solidFill>
                  <a:srgbClr val="52636D"/>
                </a:solidFill>
                <a:latin typeface="Arial"/>
                <a:ea typeface="Arial"/>
                <a:cs typeface="Arial"/>
              </a:defRPr>
            </a:pPr>
            <a:r>
              <a:rPr sz="1200" b="0">
                <a:solidFill>
                  <a:srgbClr val="52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75C5F21-4557-4422-8AE5-A241F73D019C}"/>
              </a:ext>
            </a:extLst>
          </p:cNvPr>
          <p:cNvSpPr>
            <a:spLocks xmlns:a="http://schemas.openxmlformats.org/drawingml/2006/main" noGrp="1"/>
          </p:cNvSpPr>
          <p:nvPr/>
        </p:nvSpPr>
        <p:spPr>
          <a:xfrm xmlns:a="http://schemas.openxmlformats.org/drawingml/2006/main">
            <a:off x="609600" y="1381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2636D"/>
                </a:solidFill>
                <a:latin typeface="Arial"/>
                <a:ea typeface="Arial"/>
                <a:cs typeface="Arial"/>
              </a:defRPr>
            </a:defPPr>
          </a:lstStyle>
          <a:p xmlns:a="http://schemas.openxmlformats.org/drawingml/2006/main">
            <a:pPr>
              <a:defRPr sz="1725" b="0">
                <a:solidFill>
                  <a:srgbClr val="52636D"/>
                </a:solidFill>
                <a:latin typeface="Arial"/>
                <a:ea typeface="Arial"/>
                <a:cs typeface="Arial"/>
              </a:defRPr>
            </a:pPr>
            <a:r>
              <a:rPr sz="1725" b="0">
                <a:solidFill>
                  <a:srgbClr val="52636D"/>
                </a:solidFill>
                <a:latin typeface="Arial"/>
                <a:ea typeface="Arial"/>
                <a:cs typeface="Arial"/>
              </a:rPr>
              <a:t>Abbreviated from component-repo-f2; omitted descendants are not shown</a:t>
            </a:r>
          </a:p>
        </p:txBody>
      </p:sp>
      <p:sp>
        <p:nvSpPr>
          <p:cNvPr id="4" name="">
            <a:extLst xmlns:a="http://schemas.openxmlformats.org/drawingml/2006/main">
              <a:ext uri="{FF2B5EF4-FFF2-40B4-BE49-F238E27FC236}">
                <a16:creationId xmlns:a16="http://schemas.microsoft.com/office/drawing/2014/main" id="{28DC2E08-C649-4CDC-AC0D-926EF65AE677}"/>
              </a:ext>
            </a:extLst>
          </p:cNvPr>
          <p:cNvSpPr>
            <a:spLocks xmlns:a="http://schemas.openxmlformats.org/drawingml/2006/main" noGrp="1"/>
          </p:cNvSpPr>
          <p:nvPr/>
        </p:nvSpPr>
        <p:spPr>
          <a:xfrm xmlns:a="http://schemas.openxmlformats.org/drawingml/2006/main">
            <a:off x="609600" y="2057400"/>
            <a:ext cx="55054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313E"/>
                </a:solidFill>
                <a:latin typeface="Courier"/>
                <a:ea typeface="Courier"/>
                <a:cs typeface="Courier"/>
              </a:defRPr>
            </a:defPPr>
          </a:lstStyle>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repo/</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.dbtools/</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project.config.json</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filters/project.filters</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src/database/e1_dev_c/</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apex_apps/f810003/</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 f810003.sql</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 readable/application/</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tables/</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package_bodies/</a:t>
            </a:r>
          </a:p>
        </p:txBody>
      </p:sp>
      <p:sp>
        <p:nvSpPr>
          <p:cNvPr id="5" name="">
            <a:extLst xmlns:a="http://schemas.openxmlformats.org/drawingml/2006/main">
              <a:ext uri="{FF2B5EF4-FFF2-40B4-BE49-F238E27FC236}">
                <a16:creationId xmlns:a16="http://schemas.microsoft.com/office/drawing/2014/main" id="{55E6077F-2A55-45B4-8F2B-EDF2E963ABA7}"/>
              </a:ext>
            </a:extLst>
          </p:cNvPr>
          <p:cNvSpPr>
            <a:spLocks xmlns:a="http://schemas.openxmlformats.org/drawingml/2006/main" noGrp="1"/>
          </p:cNvSpPr>
          <p:nvPr/>
        </p:nvSpPr>
        <p:spPr>
          <a:xfrm xmlns:a="http://schemas.openxmlformats.org/drawingml/2006/main">
            <a:off x="6477000" y="2057400"/>
            <a:ext cx="5105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313E"/>
                </a:solidFill>
                <a:latin typeface="Courier"/>
                <a:ea typeface="Courier"/>
                <a:cs typeface="Courier"/>
              </a:defRPr>
            </a:defPPr>
          </a:lstStyle>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repo/</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dist/</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install.sql</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component-contract.json</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releases/</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|-- 1.0.0/</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 next/</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 apex/</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 utils/properties/</a:t>
            </a:r>
          </a:p>
          <a:p xmlns:a="http://schemas.openxmlformats.org/drawingml/2006/main">
            <a:pPr>
              <a:defRPr sz="1875" b="0">
                <a:solidFill>
                  <a:srgbClr val="14313E"/>
                </a:solidFill>
                <a:latin typeface="Courier"/>
                <a:ea typeface="Courier"/>
                <a:cs typeface="Courier"/>
              </a:defRPr>
            </a:pPr>
            <a:r>
              <a:rPr sz="1875" b="0">
                <a:solidFill>
                  <a:srgbClr val="14313E"/>
                </a:solidFill>
                <a:latin typeface="Courier"/>
                <a:ea typeface="Courier"/>
                <a:cs typeface="Courier"/>
              </a:rPr>
              <a:t>`-- artifact/</a:t>
            </a:r>
          </a:p>
        </p:txBody>
      </p:sp>
      <p:sp>
        <p:nvSpPr>
          <p:cNvPr id="6" name="">
            <a:extLst xmlns:a="http://schemas.openxmlformats.org/drawingml/2006/main">
              <a:ext uri="{FF2B5EF4-FFF2-40B4-BE49-F238E27FC236}">
                <a16:creationId xmlns:a16="http://schemas.microsoft.com/office/drawing/2014/main" id="{AA253542-103B-46E5-9FB2-65482C107B9D}"/>
              </a:ext>
            </a:extLst>
          </p:cNvPr>
          <p:cNvSpPr>
            <a:spLocks xmlns:a="http://schemas.openxmlformats.org/drawingml/2006/main" noGrp="1"/>
          </p:cNvSpPr>
          <p:nvPr/>
        </p:nvSpPr>
        <p:spPr>
          <a:xfrm xmlns:a="http://schemas.openxmlformats.org/drawingml/2006/main">
            <a:off x="609600" y="61055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36D"/>
                </a:solidFill>
                <a:latin typeface="Arial"/>
                <a:ea typeface="Arial"/>
                <a:cs typeface="Arial"/>
              </a:defRPr>
            </a:defPPr>
          </a:lstStyle>
          <a:p xmlns:a="http://schemas.openxmlformats.org/drawingml/2006/main">
            <a:pPr>
              <a:defRPr sz="1650" b="0">
                <a:solidFill>
                  <a:srgbClr val="52636D"/>
                </a:solidFill>
                <a:latin typeface="Arial"/>
                <a:ea typeface="Arial"/>
                <a:cs typeface="Arial"/>
              </a:defRPr>
            </a:pPr>
            <a:r>
              <a:rPr sz="1650" b="0">
                <a:solidFill>
                  <a:srgbClr val="52636D"/>
                </a:solidFill>
                <a:latin typeface="Arial"/>
                <a:ea typeface="Arial"/>
                <a:cs typeface="Arial"/>
              </a:rPr>
              <a:t>The application Git repository is retained evidence. Only laboratory runtime resources are disposable.</a:t>
            </a:r>
          </a:p>
        </p:txBody>
      </p:sp>
    </p:spTree>
    <p:extLst>
      <p:ext uri="{BB962C8B-B14F-4D97-AF65-F5344CB8AC3E}">
        <p14:creationId xmlns:p14="http://schemas.microsoft.com/office/powerpoint/2010/main" val="4358499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6F9AA2-3A55-4340-A57B-3DBF60CC55FE}"/>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313E"/>
                </a:solidFill>
                <a:latin typeface="Arial"/>
                <a:ea typeface="Arial"/>
                <a:cs typeface="Arial"/>
              </a:defRPr>
            </a:defPPr>
          </a:lstStyle>
          <a:p xmlns:a="http://schemas.openxmlformats.org/drawingml/2006/main">
            <a:pPr>
              <a:defRPr sz="3300" b="1">
                <a:solidFill>
                  <a:srgbClr val="14313E"/>
                </a:solidFill>
                <a:latin typeface="Arial"/>
                <a:ea typeface="Arial"/>
                <a:cs typeface="Arial"/>
              </a:defRPr>
            </a:pPr>
            <a:r>
              <a:rPr sz="3300" b="1">
                <a:solidFill>
                  <a:srgbClr val="14313E"/>
                </a:solidFill>
                <a:latin typeface="Arial"/>
                <a:ea typeface="Arial"/>
                <a:cs typeface="Arial"/>
              </a:rPr>
              <a:t>Native commands and evidence boundaries</a:t>
            </a:r>
          </a:p>
        </p:txBody>
      </p:sp>
      <p:sp>
        <p:nvSpPr>
          <p:cNvPr id="2" name="">
            <a:extLst xmlns:a="http://schemas.openxmlformats.org/drawingml/2006/main">
              <a:ext uri="{FF2B5EF4-FFF2-40B4-BE49-F238E27FC236}">
                <a16:creationId xmlns:a16="http://schemas.microsoft.com/office/drawing/2014/main" id="{ACCE8C6F-7E8D-42E1-9517-D5AE42EE0083}"/>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36D"/>
                </a:solidFill>
                <a:latin typeface="Arial"/>
                <a:ea typeface="Arial"/>
                <a:cs typeface="Arial"/>
              </a:defRPr>
            </a:defPPr>
          </a:lstStyle>
          <a:p xmlns:a="http://schemas.openxmlformats.org/drawingml/2006/main">
            <a:pPr>
              <a:defRPr sz="1200" b="0">
                <a:solidFill>
                  <a:srgbClr val="52636D"/>
                </a:solidFill>
                <a:latin typeface="Arial"/>
                <a:ea typeface="Arial"/>
                <a:cs typeface="Arial"/>
              </a:defRPr>
            </a:pPr>
            <a:r>
              <a:rPr sz="1200" b="0">
                <a:solidFill>
                  <a:srgbClr val="52636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B6798DA-6C3D-458C-B2D6-B30F51DC6D94}"/>
              </a:ext>
            </a:extLst>
          </p:cNvPr>
          <p:cNvSpPr>
            <a:spLocks xmlns:a="http://schemas.openxmlformats.org/drawingml/2006/main" noGrp="1"/>
          </p:cNvSpPr>
          <p:nvPr/>
        </p:nvSpPr>
        <p:spPr>
          <a:xfrm xmlns:a="http://schemas.openxmlformats.org/drawingml/2006/main">
            <a:off x="609600" y="1543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26B70"/>
                </a:solidFill>
                <a:latin typeface="Arial"/>
                <a:ea typeface="Arial"/>
                <a:cs typeface="Arial"/>
              </a:defRPr>
            </a:defPPr>
          </a:lstStyle>
          <a:p xmlns:a="http://schemas.openxmlformats.org/drawingml/2006/main">
            <a:pPr>
              <a:defRPr sz="2250" b="1">
                <a:solidFill>
                  <a:srgbClr val="126B70"/>
                </a:solidFill>
                <a:latin typeface="Arial"/>
                <a:ea typeface="Arial"/>
                <a:cs typeface="Arial"/>
              </a:defRPr>
            </a:pPr>
            <a:r>
              <a:rPr sz="2250" b="1">
                <a:solidFill>
                  <a:srgbClr val="126B70"/>
                </a:solidFill>
                <a:latin typeface="Arial"/>
                <a:ea typeface="Arial"/>
                <a:cs typeface="Arial"/>
              </a:rPr>
              <a:t>SQLcl PROJECT performs capture, staging and artifact deployment</a:t>
            </a:r>
          </a:p>
        </p:txBody>
      </p:sp>
      <p:sp>
        <p:nvSpPr>
          <p:cNvPr id="4" name="">
            <a:extLst xmlns:a="http://schemas.openxmlformats.org/drawingml/2006/main">
              <a:ext uri="{FF2B5EF4-FFF2-40B4-BE49-F238E27FC236}">
                <a16:creationId xmlns:a16="http://schemas.microsoft.com/office/drawing/2014/main" id="{AB7B6076-B403-45CB-A670-894CC0C0A60E}"/>
              </a:ext>
            </a:extLst>
          </p:cNvPr>
          <p:cNvSpPr>
            <a:spLocks xmlns:a="http://schemas.openxmlformats.org/drawingml/2006/main" noGrp="1"/>
          </p:cNvSpPr>
          <p:nvPr/>
        </p:nvSpPr>
        <p:spPr>
          <a:xfrm xmlns:a="http://schemas.openxmlformats.org/drawingml/2006/main">
            <a:off x="609600" y="2619375"/>
            <a:ext cx="109728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313E"/>
                </a:solidFill>
                <a:latin typeface="Courier"/>
                <a:ea typeface="Courier"/>
                <a:cs typeface="Courier"/>
              </a:defRPr>
            </a:defPPr>
          </a:lstStyle>
          <a:p xmlns:a="http://schemas.openxmlformats.org/drawingml/2006/main">
            <a:pPr>
              <a:defRPr sz="2025" b="0">
                <a:solidFill>
                  <a:srgbClr val="14313E"/>
                </a:solidFill>
                <a:latin typeface="Courier"/>
                <a:ea typeface="Courier"/>
                <a:cs typeface="Courier"/>
              </a:defRPr>
            </a:pPr>
            <a:r>
              <a:rPr sz="2025" b="0">
                <a:solidFill>
                  <a:srgbClr val="14313E"/>
                </a:solidFill>
                <a:latin typeface="Courier"/>
                <a:ea typeface="Courier"/>
                <a:cs typeface="Courier"/>
              </a:rPr>
              <a:t>project export -list</a:t>
            </a:r>
          </a:p>
          <a:p xmlns:a="http://schemas.openxmlformats.org/drawingml/2006/main">
            <a:pPr>
              <a:defRPr sz="2025" b="0">
                <a:solidFill>
                  <a:srgbClr val="14313E"/>
                </a:solidFill>
                <a:latin typeface="Courier"/>
                <a:ea typeface="Courier"/>
                <a:cs typeface="Courier"/>
              </a:defRPr>
            </a:pPr>
            <a:r>
              <a:rPr sz="2025" b="0">
                <a:solidFill>
                  <a:srgbClr val="14313E"/>
                </a:solidFill>
                <a:latin typeface="Courier"/>
                <a:ea typeface="Courier"/>
                <a:cs typeface="Courier"/>
              </a:rPr>
              <a:t>project export</a:t>
            </a:r>
          </a:p>
          <a:p xmlns:a="http://schemas.openxmlformats.org/drawingml/2006/main">
            <a:pPr>
              <a:defRPr sz="2025" b="0">
                <a:solidFill>
                  <a:srgbClr val="14313E"/>
                </a:solidFill>
                <a:latin typeface="Courier"/>
                <a:ea typeface="Courier"/>
                <a:cs typeface="Courier"/>
              </a:defRPr>
            </a:pPr>
            <a:r>
              <a:rPr sz="2025" b="0">
                <a:solidFill>
                  <a:srgbClr val="14313E"/>
                </a:solidFill>
                <a:latin typeface="Courier"/>
                <a:ea typeface="Courier"/>
                <a:cs typeface="Courier"/>
              </a:rPr>
              <a:t>project stage -branch-name e2-world -verbose</a:t>
            </a:r>
          </a:p>
          <a:p xmlns:a="http://schemas.openxmlformats.org/drawingml/2006/main">
            <a:pPr>
              <a:defRPr sz="2025" b="0">
                <a:solidFill>
                  <a:srgbClr val="14313E"/>
                </a:solidFill>
                <a:latin typeface="Courier"/>
                <a:ea typeface="Courier"/>
                <a:cs typeface="Courier"/>
              </a:defRPr>
            </a:pPr>
            <a:r>
              <a:rPr sz="2025" b="0">
                <a:solidFill>
                  <a:srgbClr val="14313E"/>
                </a:solidFill>
                <a:latin typeface="Courier"/>
                <a:ea typeface="Courier"/>
                <a:cs typeface="Courier"/>
              </a:rPr>
              <a:t>project gen-artifact -name e2 -version 1.0.1 -format zip</a:t>
            </a:r>
          </a:p>
          <a:p xmlns:a="http://schemas.openxmlformats.org/drawingml/2006/main">
            <a:pPr>
              <a:defRPr sz="2025" b="0">
                <a:solidFill>
                  <a:srgbClr val="14313E"/>
                </a:solidFill>
                <a:latin typeface="Courier"/>
                <a:ea typeface="Courier"/>
                <a:cs typeface="Courier"/>
              </a:defRPr>
            </a:pPr>
            <a:r>
              <a:rPr sz="2025" b="0">
                <a:solidFill>
                  <a:srgbClr val="14313E"/>
                </a:solidFill>
                <a:latin typeface="Courier"/>
                <a:ea typeface="Courier"/>
                <a:cs typeface="Courier"/>
              </a:rPr>
              <a:t>project deploy -file artifact/e2-1.0.1.zip</a:t>
            </a:r>
          </a:p>
        </p:txBody>
      </p:sp>
      <p:sp>
        <p:nvSpPr>
          <p:cNvPr id="5" name="">
            <a:extLst xmlns:a="http://schemas.openxmlformats.org/drawingml/2006/main">
              <a:ext uri="{FF2B5EF4-FFF2-40B4-BE49-F238E27FC236}">
                <a16:creationId xmlns:a16="http://schemas.microsoft.com/office/drawing/2014/main" id="{B0DA7AC2-55DA-40CF-8A87-6FFD0AB8D75E}"/>
              </a:ext>
            </a:extLst>
          </p:cNvPr>
          <p:cNvSpPr>
            <a:spLocks xmlns:a="http://schemas.openxmlformats.org/drawingml/2006/main" noGrp="1"/>
          </p:cNvSpPr>
          <p:nvPr/>
        </p:nvSpPr>
        <p:spPr>
          <a:xfrm xmlns:a="http://schemas.openxmlformats.org/drawingml/2006/main">
            <a:off x="609600" y="54197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36D"/>
                </a:solidFill>
                <a:latin typeface="Arial"/>
                <a:ea typeface="Arial"/>
                <a:cs typeface="Arial"/>
              </a:defRPr>
            </a:defPPr>
          </a:lstStyle>
          <a:p xmlns:a="http://schemas.openxmlformats.org/drawingml/2006/main">
            <a:pPr>
              <a:defRPr sz="1875" b="0">
                <a:solidFill>
                  <a:srgbClr val="52636D"/>
                </a:solidFill>
                <a:latin typeface="Arial"/>
                <a:ea typeface="Arial"/>
                <a:cs typeface="Arial"/>
              </a:defRPr>
            </a:pPr>
            <a:r>
              <a:rPr sz="1875" b="0">
                <a:solidFill>
                  <a:srgbClr val="52636D"/>
                </a:solidFill>
                <a:latin typeface="Arial"/>
                <a:ea typeface="Arial"/>
                <a:cs typeface="Arial"/>
              </a:rPr>
              <a:t>Illustrative command sequence. Prepared mappings, baseline branches and release inputs are required.</a:t>
            </a:r>
          </a:p>
        </p:txBody>
      </p:sp>
    </p:spTree>
    <p:extLst>
      <p:ext uri="{BB962C8B-B14F-4D97-AF65-F5344CB8AC3E}">
        <p14:creationId xmlns:p14="http://schemas.microsoft.com/office/powerpoint/2010/main" val="7523560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61B7BA-52EC-447F-9025-C732B78BA804}"/>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313E"/>
                </a:solidFill>
                <a:latin typeface="Arial"/>
                <a:ea typeface="Arial"/>
                <a:cs typeface="Arial"/>
              </a:defRPr>
            </a:defPPr>
          </a:lstStyle>
          <a:p xmlns:a="http://schemas.openxmlformats.org/drawingml/2006/main">
            <a:pPr>
              <a:defRPr sz="3300" b="1">
                <a:solidFill>
                  <a:srgbClr val="14313E"/>
                </a:solidFill>
                <a:latin typeface="Arial"/>
                <a:ea typeface="Arial"/>
                <a:cs typeface="Arial"/>
              </a:defRPr>
            </a:pPr>
            <a:r>
              <a:rPr sz="3300" b="1">
                <a:solidFill>
                  <a:srgbClr val="14313E"/>
                </a:solidFill>
                <a:latin typeface="Arial"/>
                <a:ea typeface="Arial"/>
                <a:cs typeface="Arial"/>
              </a:rPr>
              <a:t>Evidence and next review</a:t>
            </a:r>
          </a:p>
        </p:txBody>
      </p:sp>
      <p:sp>
        <p:nvSpPr>
          <p:cNvPr id="2" name="">
            <a:extLst xmlns:a="http://schemas.openxmlformats.org/drawingml/2006/main">
              <a:ext uri="{FF2B5EF4-FFF2-40B4-BE49-F238E27FC236}">
                <a16:creationId xmlns:a16="http://schemas.microsoft.com/office/drawing/2014/main" id="{393B5738-F92B-4ADE-B502-856990314C5D}"/>
              </a:ext>
            </a:extLst>
          </p:cNvPr>
          <p:cNvSpPr>
            <a:spLocks xmlns:a="http://schemas.openxmlformats.org/drawingml/2006/main" noGrp="1"/>
          </p:cNvSpPr>
          <p:nvPr/>
        </p:nvSpPr>
        <p:spPr>
          <a:xfrm xmlns:a="http://schemas.openxmlformats.org/drawingml/2006/main">
            <a:off x="11144250" y="64389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36D"/>
                </a:solidFill>
                <a:latin typeface="Arial"/>
                <a:ea typeface="Arial"/>
                <a:cs typeface="Arial"/>
              </a:defRPr>
            </a:defPPr>
          </a:lstStyle>
          <a:p xmlns:a="http://schemas.openxmlformats.org/drawingml/2006/main">
            <a:pPr>
              <a:defRPr sz="1200" b="0">
                <a:solidFill>
                  <a:srgbClr val="52636D"/>
                </a:solidFill>
                <a:latin typeface="Arial"/>
                <a:ea typeface="Arial"/>
                <a:cs typeface="Arial"/>
              </a:defRPr>
            </a:pPr>
            <a:r>
              <a:rPr sz="1200" b="0">
                <a:solidFill>
                  <a:srgbClr val="52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9F30819-D62F-4B68-87A8-096E0E3B2765}"/>
              </a:ext>
            </a:extLst>
          </p:cNvPr>
          <p:cNvSpPr>
            <a:spLocks xmlns:a="http://schemas.openxmlformats.org/drawingml/2006/main" noGrp="1"/>
          </p:cNvSpPr>
          <p:nvPr/>
        </p:nvSpPr>
        <p:spPr>
          <a:xfrm xmlns:a="http://schemas.openxmlformats.org/drawingml/2006/main">
            <a:off x="609600" y="161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26B70"/>
                </a:solidFill>
                <a:latin typeface="Arial"/>
                <a:ea typeface="Arial"/>
                <a:cs typeface="Arial"/>
              </a:defRPr>
            </a:defPPr>
          </a:lstStyle>
          <a:p xmlns:a="http://schemas.openxmlformats.org/drawingml/2006/main">
            <a:pPr>
              <a:defRPr sz="2400" b="1">
                <a:solidFill>
                  <a:srgbClr val="126B70"/>
                </a:solidFill>
                <a:latin typeface="Arial"/>
                <a:ea typeface="Arial"/>
                <a:cs typeface="Arial"/>
              </a:defRPr>
            </a:pPr>
            <a:r>
              <a:rPr sz="2400" b="1">
                <a:solidFill>
                  <a:srgbClr val="126B70"/>
                </a:solidFill>
                <a:latin typeface="Arial"/>
                <a:ea typeface="Arial"/>
                <a:cs typeface="Arial"/>
              </a:rPr>
              <a:t>Decision brief and gap analysis</a:t>
            </a:r>
          </a:p>
        </p:txBody>
      </p:sp>
      <p:sp>
        <p:nvSpPr>
          <p:cNvPr id="4" name="">
            <a:extLst xmlns:a="http://schemas.openxmlformats.org/drawingml/2006/main">
              <a:ext uri="{FF2B5EF4-FFF2-40B4-BE49-F238E27FC236}">
                <a16:creationId xmlns:a16="http://schemas.microsoft.com/office/drawing/2014/main" id="{0C5F38BA-41B6-4676-AF32-49A62E508A96}"/>
              </a:ext>
            </a:extLst>
          </p:cNvPr>
          <p:cNvSpPr>
            <a:spLocks xmlns:a="http://schemas.openxmlformats.org/drawingml/2006/main" noGrp="1"/>
          </p:cNvSpPr>
          <p:nvPr/>
        </p:nvSpPr>
        <p:spPr>
          <a:xfrm xmlns:a="http://schemas.openxmlformats.org/drawingml/2006/main">
            <a:off x="609600" y="2257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4313E"/>
                </a:solidFill>
                <a:latin typeface="Courier"/>
                <a:ea typeface="Courier"/>
                <a:cs typeface="Courier"/>
              </a:defRPr>
            </a:defPPr>
          </a:lstStyle>
          <a:p xmlns:a="http://schemas.openxmlformats.org/drawingml/2006/main">
            <a:pPr>
              <a:defRPr sz="2175" b="0">
                <a:solidFill>
                  <a:srgbClr val="14313E"/>
                </a:solidFill>
                <a:latin typeface="Courier"/>
                <a:ea typeface="Courier"/>
                <a:cs typeface="Courier"/>
              </a:defRPr>
            </a:pPr>
            <a:r>
              <a:rPr sz="2175" b="0">
                <a:solidFill>
                  <a:srgbClr val="14313E"/>
                </a:solidFill>
                <a:latin typeface="Courier"/>
                <a:ea typeface="Courier"/>
                <a:cs typeface="Courier"/>
              </a:rPr>
              <a:t>sprint_E.2_handover.md</a:t>
            </a:r>
          </a:p>
          <a:p xmlns:a="http://schemas.openxmlformats.org/drawingml/2006/main">
            <a:pPr>
              <a:defRPr sz="2175" b="0">
                <a:solidFill>
                  <a:srgbClr val="14313E"/>
                </a:solidFill>
                <a:latin typeface="Courier"/>
                <a:ea typeface="Courier"/>
                <a:cs typeface="Courier"/>
              </a:defRPr>
            </a:pPr>
            <a:r>
              <a:rPr sz="2175" b="0">
                <a:solidFill>
                  <a:srgbClr val="14313E"/>
                </a:solidFill>
                <a:latin typeface="Courier"/>
                <a:ea typeface="Courier"/>
                <a:cs typeface="Courier"/>
              </a:rPr>
              <a:t>oracle-gap-analysis.md</a:t>
            </a:r>
          </a:p>
        </p:txBody>
      </p:sp>
      <p:sp>
        <p:nvSpPr>
          <p:cNvPr id="5" name="">
            <a:extLst xmlns:a="http://schemas.openxmlformats.org/drawingml/2006/main">
              <a:ext uri="{FF2B5EF4-FFF2-40B4-BE49-F238E27FC236}">
                <a16:creationId xmlns:a16="http://schemas.microsoft.com/office/drawing/2014/main" id="{C8ADA9FD-A038-4C3B-B3EF-17818E57A9F8}"/>
              </a:ext>
            </a:extLst>
          </p:cNvPr>
          <p:cNvSpPr>
            <a:spLocks xmlns:a="http://schemas.openxmlformats.org/drawingml/2006/main" noGrp="1"/>
          </p:cNvSpPr>
          <p:nvPr/>
        </p:nvSpPr>
        <p:spPr>
          <a:xfrm xmlns:a="http://schemas.openxmlformats.org/drawingml/2006/main">
            <a:off x="609600" y="3581400"/>
            <a:ext cx="107632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4313E"/>
                </a:solidFill>
                <a:latin typeface="Arial"/>
                <a:ea typeface="Arial"/>
                <a:cs typeface="Arial"/>
              </a:defRPr>
            </a:defPPr>
          </a:lstStyle>
          <a:p xmlns:a="http://schemas.openxmlformats.org/drawingml/2006/main">
            <a:pPr marL="254000" indent="-127000">
              <a:spcAft>
                <a:spcPts val="1800"/>
              </a:spcAft>
              <a:buChar char="•"/>
              <a:defRPr sz="2100" b="0">
                <a:solidFill>
                  <a:srgbClr val="14313E"/>
                </a:solidFill>
                <a:latin typeface="Arial"/>
                <a:ea typeface="Arial"/>
                <a:cs typeface="Arial"/>
              </a:defRPr>
            </a:pPr>
            <a:r>
              <a:t>Receipts identify actual clients, targets and reference runs</a:t>
            </a:r>
          </a:p>
          <a:p xmlns:a="http://schemas.openxmlformats.org/drawingml/2006/main">
            <a:pPr marL="254000" indent="-127000">
              <a:spcAft>
                <a:spcPts val="1800"/>
              </a:spcAft>
              <a:buChar char="•"/>
              <a:defRPr sz="2100" b="0">
                <a:solidFill>
                  <a:srgbClr val="14313E"/>
                </a:solidFill>
                <a:latin typeface="Arial"/>
                <a:ea typeface="Arial"/>
                <a:cs typeface="Arial"/>
              </a:defRPr>
            </a:pPr>
            <a:r>
              <a:t>The Product Owner reported F completed on 20 October</a:t>
            </a:r>
          </a:p>
          <a:p xmlns:a="http://schemas.openxmlformats.org/drawingml/2006/main">
            <a:pPr marL="254000" indent="-127000">
              <a:spcAft>
                <a:spcPts val="1800"/>
              </a:spcAft>
              <a:buChar char="•"/>
              <a:defRPr sz="2100" b="0">
                <a:solidFill>
                  <a:srgbClr val="14313E"/>
                </a:solidFill>
                <a:latin typeface="Arial"/>
                <a:ea typeface="Arial"/>
                <a:cs typeface="Arial"/>
              </a:defRPr>
            </a:pPr>
            <a:r>
              <a:t>G/H/I retain the stated native limits and unfinished validation</a:t>
            </a:r>
          </a:p>
        </p:txBody>
      </p:sp>
      <p:sp>
        <p:nvSpPr>
          <p:cNvPr id="6" name="">
            <a:extLst xmlns:a="http://schemas.openxmlformats.org/drawingml/2006/main">
              <a:ext uri="{FF2B5EF4-FFF2-40B4-BE49-F238E27FC236}">
                <a16:creationId xmlns:a16="http://schemas.microsoft.com/office/drawing/2014/main" id="{D1F5FAA6-7131-4578-B8DA-E79766579C79}"/>
              </a:ext>
            </a:extLst>
          </p:cNvPr>
          <p:cNvSpPr>
            <a:spLocks xmlns:a="http://schemas.openxmlformats.org/drawingml/2006/main" noGrp="1"/>
          </p:cNvSpPr>
          <p:nvPr/>
        </p:nvSpPr>
        <p:spPr>
          <a:xfrm xmlns:a="http://schemas.openxmlformats.org/drawingml/2006/main">
            <a:off x="609600" y="59055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26B70"/>
                </a:solidFill>
                <a:latin typeface="Arial"/>
                <a:ea typeface="Arial"/>
                <a:cs typeface="Arial"/>
              </a:defRPr>
            </a:defPPr>
          </a:lstStyle>
          <a:p xmlns:a="http://schemas.openxmlformats.org/drawingml/2006/main">
            <a:pPr>
              <a:defRPr sz="2025" b="1">
                <a:solidFill>
                  <a:srgbClr val="126B70"/>
                </a:solidFill>
                <a:latin typeface="Arial"/>
                <a:ea typeface="Arial"/>
                <a:cs typeface="Arial"/>
              </a:defRPr>
            </a:pPr>
            <a:r>
              <a:rPr sz="2025" b="1">
                <a:solidFill>
                  <a:srgbClr val="126B70"/>
                </a:solidFill>
                <a:latin typeface="Arial"/>
                <a:ea typeface="Arial"/>
                <a:cs typeface="Arial"/>
              </a:rPr>
              <a:t>Next review: decide the direction and follow-up priority. E.1 evidence remains intact.</a:t>
            </a:r>
          </a:p>
        </p:txBody>
      </p:sp>
    </p:spTree>
    <p:extLst>
      <p:ext uri="{BB962C8B-B14F-4D97-AF65-F5344CB8AC3E}">
        <p14:creationId xmlns:p14="http://schemas.microsoft.com/office/powerpoint/2010/main" val="606997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2026-10-22T08:20:15.9480000Z</dcterms:created>
  <dcterms:modified xsi:type="dcterms:W3CDTF">2026-10-22T08:20:15.9480000Z</dcterms:modified>
</coreProperties>
</file>
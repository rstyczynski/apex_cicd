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4c8942f734545" /><Relationship Type="http://schemas.openxmlformats.org/officeDocument/2006/relationships/extended-properties" Target="/docProps/app.xml" Id="R0a38e10c725b437b" /><Relationship Type="http://schemas.openxmlformats.org/officeDocument/2006/relationships/officeDocument" Target="/ppt/presentation.xml" Id="Rbc0379bb19dc47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014fa4b6a4145"/>
  </p:sldMasterIdLst>
  <p:notesMasterIdLst>
    <p:notesMasterId xmlns:r="http://schemas.openxmlformats.org/officeDocument/2006/relationships" r:id="R1ececc2f2d514f4c"/>
  </p:notesMasterIdLst>
  <p:sldIdLst>
    <p:sldId xmlns:r="http://schemas.openxmlformats.org/officeDocument/2006/relationships" id="256" r:id="R288bc8429de541b8"/>
    <p:sldId xmlns:r="http://schemas.openxmlformats.org/officeDocument/2006/relationships" id="257" r:id="R6f0d2973942a422f"/>
    <p:sldId xmlns:r="http://schemas.openxmlformats.org/officeDocument/2006/relationships" id="258" r:id="Rceccc940f5ca4cc6"/>
    <p:sldId xmlns:r="http://schemas.openxmlformats.org/officeDocument/2006/relationships" id="259" r:id="R9cc789642fc146f6"/>
    <p:sldId xmlns:r="http://schemas.openxmlformats.org/officeDocument/2006/relationships" id="260" r:id="R9dd28a6f30904aad"/>
    <p:sldId xmlns:r="http://schemas.openxmlformats.org/officeDocument/2006/relationships" id="261" r:id="Redd3fae934e14030"/>
    <p:sldId xmlns:r="http://schemas.openxmlformats.org/officeDocument/2006/relationships" id="262" r:id="Rab831685fd664190"/>
    <p:sldId xmlns:r="http://schemas.openxmlformats.org/officeDocument/2006/relationships" id="263" r:id="R5d31c22998b44ca7"/>
    <p:sldId xmlns:r="http://schemas.openxmlformats.org/officeDocument/2006/relationships" id="264" r:id="R5208185545df45f2"/>
    <p:sldId xmlns:r="http://schemas.openxmlformats.org/officeDocument/2006/relationships" id="265" r:id="R08c341baa9d7451c"/>
    <p:sldId xmlns:r="http://schemas.openxmlformats.org/officeDocument/2006/relationships" id="266" r:id="Rd54a4995ac994414"/>
    <p:sldId xmlns:r="http://schemas.openxmlformats.org/officeDocument/2006/relationships" id="267" r:id="Rb8e5c78a7ef84156"/>
    <p:sldId xmlns:r="http://schemas.openxmlformats.org/officeDocument/2006/relationships" id="268" r:id="R729cb8f1a7d24a71"/>
    <p:sldId xmlns:r="http://schemas.openxmlformats.org/officeDocument/2006/relationships" id="269" r:id="R0de9940d80e8418b"/>
    <p:sldId xmlns:r="http://schemas.openxmlformats.org/officeDocument/2006/relationships" id="270" r:id="Rf7d238a38edb4f15"/>
    <p:sldId xmlns:r="http://schemas.openxmlformats.org/officeDocument/2006/relationships" id="271" r:id="Re4826cf577b34f28"/>
    <p:sldId xmlns:r="http://schemas.openxmlformats.org/officeDocument/2006/relationships" id="272" r:id="Rc74b462198794037"/>
    <p:sldId xmlns:r="http://schemas.openxmlformats.org/officeDocument/2006/relationships" id="273" r:id="R94a0f555b04f45b6"/>
    <p:sldId xmlns:r="http://schemas.openxmlformats.org/officeDocument/2006/relationships" id="274" r:id="R15df6fe994f74797"/>
    <p:sldId xmlns:r="http://schemas.openxmlformats.org/officeDocument/2006/relationships" id="275" r:id="Ra313fd0712d74024"/>
    <p:sldId xmlns:r="http://schemas.openxmlformats.org/officeDocument/2006/relationships" id="276" r:id="R33865f49f0564040"/>
    <p:sldId xmlns:r="http://schemas.openxmlformats.org/officeDocument/2006/relationships" id="277" r:id="R02d03ece45694c3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a8ee9fe8ac4101" /><Relationship Type="http://schemas.openxmlformats.org/officeDocument/2006/relationships/slideMaster" Target="/ppt/slideMasters/slideMaster1.xml" Id="Rd6c014fa4b6a4145" /><Relationship Type="http://schemas.openxmlformats.org/officeDocument/2006/relationships/notesMaster" Target="/ppt/notesMasters/notesMaster1.xml" Id="R1ececc2f2d514f4c" /><Relationship Type="http://schemas.openxmlformats.org/officeDocument/2006/relationships/presProps" Target="/ppt/presProps.xml" Id="Rb6a85a61cd984918" /><Relationship Type="http://schemas.openxmlformats.org/officeDocument/2006/relationships/viewProps" Target="/ppt/viewProps.xml" Id="Rb38a64b1806449f7" /><Relationship Type="http://schemas.openxmlformats.org/officeDocument/2006/relationships/tableStyles" Target="/ppt/tableStyles.xml" Id="R3968041306cd4eb9" /><Relationship Type="http://schemas.openxmlformats.org/officeDocument/2006/relationships/slide" Target="/ppt/slides/slide1.xml" Id="R288bc8429de541b8" /><Relationship Type="http://schemas.openxmlformats.org/officeDocument/2006/relationships/slide" Target="/ppt/slides/slide2.xml" Id="R6f0d2973942a422f" /><Relationship Type="http://schemas.openxmlformats.org/officeDocument/2006/relationships/slide" Target="/ppt/slides/slide3.xml" Id="Rceccc940f5ca4cc6" /><Relationship Type="http://schemas.openxmlformats.org/officeDocument/2006/relationships/slide" Target="/ppt/slides/slide4.xml" Id="R9cc789642fc146f6" /><Relationship Type="http://schemas.openxmlformats.org/officeDocument/2006/relationships/slide" Target="/ppt/slides/slide5.xml" Id="R9dd28a6f30904aad" /><Relationship Type="http://schemas.openxmlformats.org/officeDocument/2006/relationships/slide" Target="/ppt/slides/slide6.xml" Id="Redd3fae934e14030" /><Relationship Type="http://schemas.openxmlformats.org/officeDocument/2006/relationships/slide" Target="/ppt/slides/slide7.xml" Id="Rab831685fd664190" /><Relationship Type="http://schemas.openxmlformats.org/officeDocument/2006/relationships/slide" Target="/ppt/slides/slide8.xml" Id="R5d31c22998b44ca7" /><Relationship Type="http://schemas.openxmlformats.org/officeDocument/2006/relationships/slide" Target="/ppt/slides/slide9.xml" Id="R5208185545df45f2" /><Relationship Type="http://schemas.openxmlformats.org/officeDocument/2006/relationships/slide" Target="/ppt/slides/slide10.xml" Id="R08c341baa9d7451c" /><Relationship Type="http://schemas.openxmlformats.org/officeDocument/2006/relationships/slide" Target="/ppt/slides/slide11.xml" Id="Rd54a4995ac994414" /><Relationship Type="http://schemas.openxmlformats.org/officeDocument/2006/relationships/slide" Target="/ppt/slides/slide12.xml" Id="Rb8e5c78a7ef84156" /><Relationship Type="http://schemas.openxmlformats.org/officeDocument/2006/relationships/slide" Target="/ppt/slides/slide13.xml" Id="R729cb8f1a7d24a71" /><Relationship Type="http://schemas.openxmlformats.org/officeDocument/2006/relationships/slide" Target="/ppt/slides/slide14.xml" Id="R0de9940d80e8418b" /><Relationship Type="http://schemas.openxmlformats.org/officeDocument/2006/relationships/slide" Target="/ppt/slides/slide15.xml" Id="Rf7d238a38edb4f15" /><Relationship Type="http://schemas.openxmlformats.org/officeDocument/2006/relationships/slide" Target="/ppt/slides/slide16.xml" Id="Re4826cf577b34f28" /><Relationship Type="http://schemas.openxmlformats.org/officeDocument/2006/relationships/slide" Target="/ppt/slides/slide17.xml" Id="Rc74b462198794037" /><Relationship Type="http://schemas.openxmlformats.org/officeDocument/2006/relationships/slide" Target="/ppt/slides/slide18.xml" Id="R94a0f555b04f45b6" /><Relationship Type="http://schemas.openxmlformats.org/officeDocument/2006/relationships/slide" Target="/ppt/slides/slide19.xml" Id="R15df6fe994f74797" /><Relationship Type="http://schemas.openxmlformats.org/officeDocument/2006/relationships/slide" Target="/ppt/slides/slide20.xml" Id="Ra313fd0712d74024" /><Relationship Type="http://schemas.openxmlformats.org/officeDocument/2006/relationships/slide" Target="/ppt/slides/slide21.xml" Id="R33865f49f0564040" /><Relationship Type="http://schemas.openxmlformats.org/officeDocument/2006/relationships/slide" Target="/ppt/slides/slide22.xml" Id="R02d03ece45694c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e4906ce19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928c3d91c4e51" /><Relationship Type="http://schemas.openxmlformats.org/officeDocument/2006/relationships/notesMaster" Target="/ppt/notesMasters/notesMaster1.xml" Id="R6acf6731ee994f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bcdc45d4ef4b32" /><Relationship Type="http://schemas.openxmlformats.org/officeDocument/2006/relationships/notesMaster" Target="/ppt/notesMasters/notesMaster1.xml" Id="Ra68f7fd75b374a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92752e71f4657" /><Relationship Type="http://schemas.openxmlformats.org/officeDocument/2006/relationships/notesMaster" Target="/ppt/notesMasters/notesMaster1.xml" Id="Rc91a61f23829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8ca09cb94423b" /><Relationship Type="http://schemas.openxmlformats.org/officeDocument/2006/relationships/notesMaster" Target="/ppt/notesMasters/notesMaster1.xml" Id="R04569adbfd6447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5ca3a44cd4841" /><Relationship Type="http://schemas.openxmlformats.org/officeDocument/2006/relationships/notesMaster" Target="/ppt/notesMasters/notesMaster1.xml" Id="R06512858fdb84c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c6cdfa8974d73" /><Relationship Type="http://schemas.openxmlformats.org/officeDocument/2006/relationships/notesMaster" Target="/ppt/notesMasters/notesMaster1.xml" Id="R44d828b5796e4b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c0ba884024517" /><Relationship Type="http://schemas.openxmlformats.org/officeDocument/2006/relationships/notesMaster" Target="/ppt/notesMasters/notesMaster1.xml" Id="R5e96b8f49d9243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e88c06ac6b4927" /><Relationship Type="http://schemas.openxmlformats.org/officeDocument/2006/relationships/notesMaster" Target="/ppt/notesMasters/notesMaster1.xml" Id="Rd4711a4784114f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da5fea888e4bb7" /><Relationship Type="http://schemas.openxmlformats.org/officeDocument/2006/relationships/notesMaster" Target="/ppt/notesMasters/notesMaster1.xml" Id="R3468f1a408a041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95108ebafe4a0b" /><Relationship Type="http://schemas.openxmlformats.org/officeDocument/2006/relationships/notesMaster" Target="/ppt/notesMasters/notesMaster1.xml" Id="Ra6b9287f592d4a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d2ef99dfa64063" /><Relationship Type="http://schemas.openxmlformats.org/officeDocument/2006/relationships/notesMaster" Target="/ppt/notesMasters/notesMaster1.xml" Id="Rd1839cc7a66a48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671102925d424a" /><Relationship Type="http://schemas.openxmlformats.org/officeDocument/2006/relationships/notesMaster" Target="/ppt/notesMasters/notesMaster1.xml" Id="R08d2d110d1ef46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11768920bf4341" /><Relationship Type="http://schemas.openxmlformats.org/officeDocument/2006/relationships/notesMaster" Target="/ppt/notesMasters/notesMaster1.xml" Id="R5eea0ef1579247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27a01b65364202" /><Relationship Type="http://schemas.openxmlformats.org/officeDocument/2006/relationships/notesMaster" Target="/ppt/notesMasters/notesMaster1.xml" Id="Rad1cc22feee047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e14408afcf47e7" /><Relationship Type="http://schemas.openxmlformats.org/officeDocument/2006/relationships/notesMaster" Target="/ppt/notesMasters/notesMaster1.xml" Id="Rc761decf04014c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c5db5dfc084aca" /><Relationship Type="http://schemas.openxmlformats.org/officeDocument/2006/relationships/notesMaster" Target="/ppt/notesMasters/notesMaster1.xml" Id="R7607760c014548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d39c0a2b9e4172" /><Relationship Type="http://schemas.openxmlformats.org/officeDocument/2006/relationships/notesMaster" Target="/ppt/notesMasters/notesMaster1.xml" Id="Rf19a54c08c5e41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225ad3153e4770" /><Relationship Type="http://schemas.openxmlformats.org/officeDocument/2006/relationships/notesMaster" Target="/ppt/notesMasters/notesMaster1.xml" Id="R68180977985f4f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b4bee8b02d4586" /><Relationship Type="http://schemas.openxmlformats.org/officeDocument/2006/relationships/notesMaster" Target="/ppt/notesMasters/notesMaster1.xml" Id="R872d36f9ff8148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16b3410d3940b2" /><Relationship Type="http://schemas.openxmlformats.org/officeDocument/2006/relationships/notesMaster" Target="/ppt/notesMasters/notesMaster1.xml" Id="Rc65f046f9b174f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c53190e0c24a4e" /><Relationship Type="http://schemas.openxmlformats.org/officeDocument/2006/relationships/notesMaster" Target="/ppt/notesMasters/notesMaster1.xml" Id="R9565b18d345b41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3235d8c0c24153" /><Relationship Type="http://schemas.openxmlformats.org/officeDocument/2006/relationships/notesMaster" Target="/ppt/notesMasters/notesMaster1.xml" Id="R91744918810e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progress/E.2/repository-layout.md; actual git ls-files at d5c3334486cac6300a0939a4d84bfcfe70627df9 in .local-apex/e2/e2-20261019-01/repo. Abbreviated actual paths. artifact/ exists locally and is Git-ignored. Dist contains exercise additions/adaptations including component-contract.json and separate APEX changelog, not solely untouched PROJECT output. Live: open the repo and inspect .dbtools, src, dist, artifact. Explain source versus migrations and custom 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progress/E.2/repository-layout.md and sprint_E.2_increment_demo.md section 4. Source checkpoint d49bc94; distribution checkpoint d5c3334. Execute these read-only Git commands with git -C .local-apex/e2/e2-20261019-01/repo from the delivery root, or cd into that repo. Inspect both page document-title diffs, generated distribution and exact declaration. E.1 scripts remain in delivery repo. Does not resolve the recorded native verification blocker or establish arbitrary Working Copy strategy compatibility.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  <a:p xmlns:a="http://schemas.openxmlformats.org/drawingml/2006/main">
            <a:r>
              <a:t>Desktop repeat screenshot: progress/E.2/tests/e2_desktop_repeat_merge_full.jpg; captured after the original exercise in a separate disposable Working Copy. The repeat did not apply the merge. Earlier results remain in original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  <a:p xmlns:a="http://schemas.openxmlformats.org/drawingml/2006/main">
            <a:r>
              <a:t>Desktop repeat screenshot: progress/E.2/tests/e2_desktop_repeat_diff.jpg; captured after the original exercise in a separate disposable Working Copy. The repeat did not apply the merge. Earlier results remain in original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  <a:p xmlns:a="http://schemas.openxmlformats.org/drawingml/2006/main">
            <a:r>
              <a:t>Desktop repeat screenshot: progress/E.2/tests/e2_desktop_repeat_missing_full.jpg; captured after the original exercise in a separate disposable Working Copy. The repeat did not apply the merge. Earlier results remain in original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https://docs.oracle.com/en/database/oracle/apex/24.2/htmdb/about-working-copies.html</a:t>
            </a:r>
          </a:p>
          <a:p xmlns:a="http://schemas.openxmlformats.org/drawingml/2006/main">
            <a:r>
              <a:t>Repository source: refs/apex-lifecycle-management-v3.pdf (pages 12–14, 32)</a:t>
            </a:r>
          </a:p>
          <a:p xmlns:a="http://schemas.openxmlformats.org/drawingml/2006/main">
            <a:r>
              <a:t>https://docs.oracle.com/en/error-help/db/ora-08177/</a:t>
            </a:r>
          </a:p>
          <a:p xmlns:a="http://schemas.openxmlformats.org/drawingml/2006/main">
            <a:r>
              <a:t>https://docs.oracle.com/en/database/oracle/oracle-database/26/admin/oracle-scheduler-concepts.html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before/after: identities-upgrade-before.json and identities-upgrade-after.json in the retained run/evidence bundle. E.1 fixed-offset evidence belongs to its own importer.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https://docs.oracle.com/en/database/oracle/apex/24.2/aeapi/SET_OFFSET-Procedure.html</a:t>
            </a:r>
          </a:p>
          <a:p xmlns:a="http://schemas.openxmlformats.org/drawingml/2006/main">
            <a:r>
              <a:t>Local actual evidence: identities-upgrade-before.json / identities-upgrade-after.json; no private-report-loss claim.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https://docs.oracle.com/en/database/oracle/sql-developer-command-line/25.3/sqcug/project-command.html</a:t>
            </a:r>
          </a:p>
          <a:p xmlns:a="http://schemas.openxmlformats.org/drawingml/2006/main">
            <a:r>
              <a:t>Repository source: refs/apex-lifecycle-management-v3.pdf (pages 18–30)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https://docs.oracle.com/en/database/oracle/apex/24.2/htmdb/using-shared-component-subscriptions.html</a:t>
            </a:r>
          </a:p>
          <a:p xmlns:a="http://schemas.openxmlformats.org/drawingml/2006/main">
            <a:r>
              <a:t>https://semver.org/spec/v2.0.0.html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and reproduction: progress/E.2/sprint_E.2_increment_demo.md. Primary Oracle sources and evidence limits: progress/E.2/oracle-gap-analysis.md.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Project requirements/design and actual exercise ledger linked in the walkthrough.</a:t>
            </a:r>
          </a:p>
          <a:p xmlns:a="http://schemas.openxmlformats.org/drawingml/2006/main">
            <a:r>
              <a:t>Walkthrough: progress/E.2/sprint_E.2_increment_demo.md; actual outcomes: progress/E.2/sprint_E.2_tests.md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7aae449f441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8f1984c0d43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bc464e51a44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960923c3d47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79002717e49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bef4a42354d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B0988-F00F-4E6C-895F-95A2E9538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66BD89-6903-43F1-A11A-3023AB5EFA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C7A1A7-EE02-4923-9854-4F75D9A21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70D3BC-CF19-4857-A026-A89DAD3BF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91B559-5C68-4875-BBCA-F1D1EAC6C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7D87F8-C114-4E8F-9A20-CB36F33102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3FEC9A-B547-4061-ABBE-7C9EC98A7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15BDBF-662C-4E8D-AC83-A164A4C81F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572E38-51E4-4499-A9B0-D0DAC7763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708EB0-777F-4B3D-B476-DA1E3915F0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48260d72964bc7" /><Relationship Type="http://schemas.openxmlformats.org/officeDocument/2006/relationships/slideLayout" Target="/ppt/slideLayouts/slideLayout1.xml" Id="Rf130099964314ddb" /><Relationship Type="http://schemas.openxmlformats.org/officeDocument/2006/relationships/slideLayout" Target="/ppt/slideLayouts/slideLayout2.xml" Id="R61a23e4124b14d3f" /><Relationship Type="http://schemas.openxmlformats.org/officeDocument/2006/relationships/slideLayout" Target="/ppt/slideLayouts/slideLayout3.xml" Id="Rabe3e2758dfb40b2" /><Relationship Type="http://schemas.openxmlformats.org/officeDocument/2006/relationships/slideLayout" Target="/ppt/slideLayouts/slideLayout4.xml" Id="R048ec22fba454b35" /><Relationship Type="http://schemas.openxmlformats.org/officeDocument/2006/relationships/slideLayout" Target="/ppt/slideLayouts/slideLayout5.xml" Id="R57320981a1a64a22" /><Relationship Type="http://schemas.openxmlformats.org/officeDocument/2006/relationships/slideLayout" Target="/ppt/slideLayouts/slideLayout6.xml" Id="R61cfeb0cfcfd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30099964314ddb"/>
    <p:sldLayoutId xmlns:r="http://schemas.openxmlformats.org/officeDocument/2006/relationships" id="2147483650" r:id="R61a23e4124b14d3f"/>
    <p:sldLayoutId xmlns:r="http://schemas.openxmlformats.org/officeDocument/2006/relationships" id="2147483651" r:id="Rabe3e2758dfb40b2"/>
    <p:sldLayoutId xmlns:r="http://schemas.openxmlformats.org/officeDocument/2006/relationships" id="2147483652" r:id="R048ec22fba454b35"/>
    <p:sldLayoutId xmlns:r="http://schemas.openxmlformats.org/officeDocument/2006/relationships" id="2147483653" r:id="R57320981a1a64a22"/>
    <p:sldLayoutId xmlns:r="http://schemas.openxmlformats.org/officeDocument/2006/relationships" id="2147483654" r:id="R61cfeb0cfcfd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639034dfa4c85" /><Relationship Type="http://schemas.openxmlformats.org/officeDocument/2006/relationships/notesSlide" Target="/ppt/notesSlides/notesSlide1.xml" Id="R8cbeac68b9434d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dd2fcc5264215" /><Relationship Type="http://schemas.openxmlformats.org/officeDocument/2006/relationships/notesSlide" Target="/ppt/notesSlides/notesSlide2.xml" Id="R7fc9ff6dac39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5afb06c514e8b" /><Relationship Type="http://schemas.openxmlformats.org/officeDocument/2006/relationships/notesSlide" Target="/ppt/notesSlides/notesSlide3.xml" Id="R7c83d78f6f62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9c6e070194f7d" /><Relationship Type="http://schemas.openxmlformats.org/officeDocument/2006/relationships/notesSlide" Target="/ppt/notesSlides/notesSlide4.xml" Id="Rfcc048f0ad0c40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583d7049542d9" /><Relationship Type="http://schemas.openxmlformats.org/officeDocument/2006/relationships/notesSlide" Target="/ppt/notesSlides/notesSlide5.xml" Id="Rcaf0d37acaa64c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54f1906de4894" /><Relationship Type="http://schemas.openxmlformats.org/officeDocument/2006/relationships/notesSlide" Target="/ppt/notesSlides/notesSlide6.xml" Id="R59ee857223d5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177016d574229" /><Relationship Type="http://schemas.openxmlformats.org/officeDocument/2006/relationships/notesSlide" Target="/ppt/notesSlides/notesSlide7.xml" Id="Ra09a1a419854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8fdd231e64a44" /><Relationship Type="http://schemas.openxmlformats.org/officeDocument/2006/relationships/notesSlide" Target="/ppt/notesSlides/notesSlide8.xml" Id="R4b1a76a6cc8940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fe8dc88c24941" /><Relationship Type="http://schemas.openxmlformats.org/officeDocument/2006/relationships/notesSlide" Target="/ppt/notesSlides/notesSlide9.xml" Id="Rc1354e6b842d4a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bc3c4e84c4d61" /><Relationship Type="http://schemas.openxmlformats.org/officeDocument/2006/relationships/notesSlide" Target="/ppt/notesSlides/notesSlide10.xml" Id="R2a77b54f297f44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9cd7e111044c8" /><Relationship Type="http://schemas.openxmlformats.org/officeDocument/2006/relationships/notesSlide" Target="/ppt/notesSlides/notesSlide11.xml" Id="Rc842a4eac0d142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f088fe0904c18" /><Relationship Type="http://schemas.openxmlformats.org/officeDocument/2006/relationships/notesSlide" Target="/ppt/notesSlides/notesSlide12.xml" Id="Ra5d0bcc2708942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7554c0a064bcc" /><Relationship Type="http://schemas.openxmlformats.org/officeDocument/2006/relationships/image" Target="/ppt/media/image.jpeg" Id="Rb5847eb37366463a" /><Relationship Type="http://schemas.openxmlformats.org/officeDocument/2006/relationships/notesSlide" Target="/ppt/notesSlides/notesSlide13.xml" Id="Rbb0d900714994a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760e39b364901" /><Relationship Type="http://schemas.openxmlformats.org/officeDocument/2006/relationships/image" Target="/ppt/media/image2.jpeg" Id="R1149d97ffdfb44db" /><Relationship Type="http://schemas.openxmlformats.org/officeDocument/2006/relationships/notesSlide" Target="/ppt/notesSlides/notesSlide14.xml" Id="R62d829c79b1845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917e5b47643b1" /><Relationship Type="http://schemas.openxmlformats.org/officeDocument/2006/relationships/image" Target="/ppt/media/image3.jpeg" Id="Rcc139be719134936" /><Relationship Type="http://schemas.openxmlformats.org/officeDocument/2006/relationships/notesSlide" Target="/ppt/notesSlides/notesSlide15.xml" Id="Rc8fd86e028be49b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b1a9996374ae9" /><Relationship Type="http://schemas.openxmlformats.org/officeDocument/2006/relationships/notesSlide" Target="/ppt/notesSlides/notesSlide16.xml" Id="R9aff0b7d363f45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c2c5687d94a7c" /><Relationship Type="http://schemas.openxmlformats.org/officeDocument/2006/relationships/notesSlide" Target="/ppt/notesSlides/notesSlide17.xml" Id="Rdfce2daebe924d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72efb60db4b92" /><Relationship Type="http://schemas.openxmlformats.org/officeDocument/2006/relationships/notesSlide" Target="/ppt/notesSlides/notesSlide18.xml" Id="R6e662ec8d0214b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b4ec79d64424a" /><Relationship Type="http://schemas.openxmlformats.org/officeDocument/2006/relationships/notesSlide" Target="/ppt/notesSlides/notesSlide19.xml" Id="R747eaf6b01c547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364916cdc40e8" /><Relationship Type="http://schemas.openxmlformats.org/officeDocument/2006/relationships/notesSlide" Target="/ppt/notesSlides/notesSlide20.xml" Id="R7344741849084d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3eceb29ba44cf" /><Relationship Type="http://schemas.openxmlformats.org/officeDocument/2006/relationships/notesSlide" Target="/ppt/notesSlides/notesSlide21.xml" Id="Ra415190ecff44f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6f58a800d4b9c" /><Relationship Type="http://schemas.openxmlformats.org/officeDocument/2006/relationships/notesSlide" Target="/ppt/notesSlides/notesSlide22.xml" Id="Rf68b863b8e34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75B44A-E33C-4426-B0E7-6898333A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E.2 · Oracle lifecycle assessment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B7C3A3-7F55-4536-9652-00019EA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00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5E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285E6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5E69"/>
                </a:solidFill>
                <a:latin typeface="Arial"/>
                <a:ea typeface="Arial"/>
                <a:cs typeface="Arial"/>
              </a:rPr>
              <a:t>Give developers flexibility through stable,</a:t>
            </a:r>
          </a:p>
          <a:p xmlns:a="http://schemas.openxmlformats.org/drawingml/2006/main">
            <a:pPr>
              <a:buNone/>
              <a:defRPr sz="2550" b="0">
                <a:solidFill>
                  <a:srgbClr val="285E6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5E69"/>
                </a:solidFill>
                <a:latin typeface="Arial"/>
                <a:ea typeface="Arial"/>
                <a:cs typeface="Arial"/>
              </a:rPr>
              <a:t>industry-standard tools and techniques.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8BC3754-E309-475B-B194-7199E5AB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1538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C80787-802A-4ECF-A71E-87A002B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What we will inspect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5F6BC9-3073-4726-886E-57C7D6F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1. Scope and owned laboratory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2. SQLcl PROJECT capture and delivery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3. Working Copies and team checkpoints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4. Contract admission and failure evidence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5. Recommendations, dependencies and decisions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61A31D9-15D2-4187-B5AB-00360B3A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660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DF5E61-AD31-42F0-BA83-5545A75F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One checkpoint, complementary capabilities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D47AD5B-9534-4C37-9D66-3687D22C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990076B-CBB4-4BFC-940A-F1419EF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APEX Main owns the agreed authoring state.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Working Copies support selected metadata changes.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SQLcl PROJECT captures Main and stages native migrations.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Git retains reviewed source and distribution.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E.1 controls remain where requirements need them.</a:t>
            </a:r>
          </a:p>
        </p:txBody>
      </p:sp>
    </p:spTree>
    <p:extLst>
      <p:ext uri="{BB962C8B-B14F-4D97-AF65-F5344CB8AC3E}">
        <p14:creationId xmlns:p14="http://schemas.microsoft.com/office/powerpoint/2010/main" val="1929330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1E68FE-FAB1-4B01-88EC-E651F63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Scope and evidence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6EF6DF8-4092-421C-B81F-F7348BB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B77E810-48A8-4A12-95AE-AADFBEC7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Disposable Elaboration fixture; preserved E.1 history.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APEX 24.2.0 · SQLcl 25.3.0.274.1210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Oracle AI Database 26ai Free, 23.26.3.0.0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Owned authoring, fresh and populated targets.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No production adoption or complex Foundation upgrade.</a:t>
            </a:r>
          </a:p>
        </p:txBody>
      </p:sp>
    </p:spTree>
    <p:extLst>
      <p:ext uri="{BB962C8B-B14F-4D97-AF65-F5344CB8AC3E}">
        <p14:creationId xmlns:p14="http://schemas.microsoft.com/office/powerpoint/2010/main" val="1744923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06A84E0-C421-4F5A-8A30-494559D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A · Inspect before mutation</a:t>
            </a:r>
          </a:p>
        </p:txBody>
      </p:sp>
      <p:sp>
        <p:nvSpPr>
          <p:cNvPr id="3" name="commands">
            <a:extLst xmlns:a="http://schemas.openxmlformats.org/drawingml/2006/main">
              <a:ext uri="{FF2B5EF4-FFF2-40B4-BE49-F238E27FC236}">
                <a16:creationId xmlns:a16="http://schemas.microsoft.com/office/drawing/2014/main" id="{0727E16A-24E7-4256-96D8-731A7B93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5D69"/>
                </a:solidFill>
                <a:latin typeface="Courier"/>
                <a:ea typeface="Courier"/>
                <a:cs typeface="Courier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205D69"/>
                </a:solidFill>
                <a:latin typeface="Courier"/>
                <a:ea typeface="Courier"/>
                <a:cs typeface="Courier"/>
              </a:defRPr>
            </a:pPr>
            <a:r>
              <a:rPr sz="1950" b="0">
                <a:solidFill>
                  <a:srgbClr val="205D69"/>
                </a:solidFill>
                <a:latin typeface="Courier"/>
                <a:ea typeface="Courier"/>
                <a:cs typeface="Courier"/>
              </a:rPr>
              <a:t>E2_RUN=e2-20261019-01</a:t>
            </a:r>
          </a:p>
          <a:p xmlns:a="http://schemas.openxmlformats.org/drawingml/2006/main">
            <a:pPr>
              <a:buNone/>
              <a:defRPr sz="1950" b="0">
                <a:solidFill>
                  <a:srgbClr val="205D69"/>
                </a:solidFill>
                <a:latin typeface="Courier"/>
                <a:ea typeface="Courier"/>
                <a:cs typeface="Courier"/>
              </a:defRPr>
            </a:pPr>
            <a:r>
              <a:rPr sz="1950" b="0">
                <a:solidFill>
                  <a:srgbClr val="205D69"/>
                </a:solidFill>
                <a:latin typeface="Courier"/>
                <a:ea typeface="Courier"/>
                <a:cs typeface="Courier"/>
              </a:rPr>
              <a:t>bash scripts/cicd-oracle-lifecycle-A_prepare.sh \</a:t>
            </a:r>
          </a:p>
          <a:p xmlns:a="http://schemas.openxmlformats.org/drawingml/2006/main">
            <a:pPr>
              <a:buNone/>
              <a:defRPr sz="1950" b="0">
                <a:solidFill>
                  <a:srgbClr val="205D69"/>
                </a:solidFill>
                <a:latin typeface="Courier"/>
                <a:ea typeface="Courier"/>
                <a:cs typeface="Courier"/>
              </a:defRPr>
            </a:pPr>
            <a:r>
              <a:rPr sz="1950" b="0">
                <a:solidFill>
                  <a:srgbClr val="205D69"/>
                </a:solidFill>
                <a:latin typeface="Courier"/>
                <a:ea typeface="Courier"/>
                <a:cs typeface="Courier"/>
              </a:rPr>
              <a:t>  --preflight --run "$E2_RUN"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29B3F0A-2082-4730-AFB2-C278E9D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AFD38E0-A261-4ACA-B79A-825042CC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Identify the retained run, exact versions and owned resources.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Missing infrastructure requires an explicit lab decision.</a:t>
            </a:r>
          </a:p>
        </p:txBody>
      </p:sp>
    </p:spTree>
    <p:extLst>
      <p:ext uri="{BB962C8B-B14F-4D97-AF65-F5344CB8AC3E}">
        <p14:creationId xmlns:p14="http://schemas.microsoft.com/office/powerpoint/2010/main" val="1479162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5BD21D-728E-4420-B4CC-ECDCFF33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B · Native SQLcl PROJECT journey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6152E33-5C55-4A3D-9578-9571329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C37A645-BA6B-4E3D-8284-A687A04A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Initialize one Git repository. Capture Main plus schema.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Review native staging and intentional seed/patch SQL.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Generate a prerelease candidate; bind exact bytes.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Qualify fresh install before populated-target upgrade.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Inspect repeat behavior and retained user data.</a:t>
            </a:r>
          </a:p>
        </p:txBody>
      </p:sp>
    </p:spTree>
    <p:extLst>
      <p:ext uri="{BB962C8B-B14F-4D97-AF65-F5344CB8AC3E}">
        <p14:creationId xmlns:p14="http://schemas.microsoft.com/office/powerpoint/2010/main" val="1239236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47DE0A-8357-4C82-BFC2-0E56F2C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SQLcl PROJECT repository layout</a:t>
            </a:r>
          </a:p>
        </p:txBody>
      </p:sp>
      <p:sp>
        <p:nvSpPr>
          <p:cNvPr id="2" name="tree">
            <a:extLst xmlns:a="http://schemas.openxmlformats.org/drawingml/2006/main">
              <a:ext uri="{FF2B5EF4-FFF2-40B4-BE49-F238E27FC236}">
                <a16:creationId xmlns:a16="http://schemas.microsoft.com/office/drawing/2014/main" id="{EE969EF4-6E6A-4C42-9495-C2F25997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9531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repo/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|-- .dbtools/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|-- src/database/e2_0254c95f_a/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apex_apps/f821788/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   |-- f821788.sql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   `-- readable/application/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package_specs/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package_bodies/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`-- tables/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|-- dist/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install.sql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component-contract.json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|-- releases/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|   `-- utils/</a:t>
            </a:r>
          </a:p>
          <a:p xmlns:a="http://schemas.openxmlformats.org/drawingml/2006/main">
            <a:pPr>
              <a:defRPr sz="1650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650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`-- artifact/  [Git-ignored]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3C55900-CBF2-4D5D-8A09-9F5E11F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4667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1600"/>
              </a:spcAft>
              <a:buChar char="•"/>
              <a:defRPr sz="20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.dbtools: native project settings and filters.</a:t>
            </a:r>
          </a:p>
          <a:p xmlns:a="http://schemas.openxmlformats.org/drawingml/2006/main">
            <a:pPr marL="228600" indent="-152400">
              <a:spcAft>
                <a:spcPts val="1600"/>
              </a:spcAft>
              <a:buChar char="•"/>
              <a:defRPr sz="20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src: Main APEX SQL, readable YAML and schema definitions.</a:t>
            </a:r>
          </a:p>
          <a:p xmlns:a="http://schemas.openxmlformats.org/drawingml/2006/main">
            <a:pPr marL="228600" indent="-152400">
              <a:spcAft>
                <a:spcPts val="1600"/>
              </a:spcAft>
              <a:buChar char="•"/>
              <a:defRPr sz="20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dist: staged migrations, custom SQL and the added contract.</a:t>
            </a:r>
          </a:p>
          <a:p xmlns:a="http://schemas.openxmlformats.org/drawingml/2006/main">
            <a:pPr marL="228600" indent="-152400">
              <a:spcAft>
                <a:spcPts val="1600"/>
              </a:spcAft>
              <a:buChar char="•"/>
              <a:defRPr sz="20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artifact: generated candidate ZIPs, outside tracked source.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8DDA109A-F252-4299-9CD2-1377790C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Application source and Git history retained; laboratory resources are disposable.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1CA461F-5E88-4DD7-B7C5-B032BAB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187508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B22EE1-60B4-4C4E-AAFF-6C1B0923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Supported mapping, deliberate data changes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CD5A5B4-59F5-460B-B873-72FD6A5B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4B51612-ECD1-43C4-BE72-82AE9D85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Oracle defaults-file hook maps workspace, schema and app ID.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Initial native install: 7 changesets. Patch fresh: 9.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Populated patch: 3 run / 6 previous; repeat: 0 run.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Retained user setting and exact history fields survived.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Candidate success does not authorize formal release.</a:t>
            </a:r>
          </a:p>
        </p:txBody>
      </p:sp>
    </p:spTree>
    <p:extLst>
      <p:ext uri="{BB962C8B-B14F-4D97-AF65-F5344CB8AC3E}">
        <p14:creationId xmlns:p14="http://schemas.microsoft.com/office/powerpoint/2010/main" val="809993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A0F30A-8B0F-4BA3-8C94-575478F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Observed blocker · full native verification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3E9BE36-A363-46F5-BA28-64A867D1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8281463-B245-4CCC-9BE8-D13F68F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Slash-containing stage branches expose a path mismatch.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Slashless branches remove that error; full verify still fails.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Initial: APEX SQL missing. Combined comparison: all six SQL files.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Other checks report matching source/distribution changes.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No formal release; inspect the retained Errors summary.</a:t>
            </a:r>
          </a:p>
        </p:txBody>
      </p:sp>
    </p:spTree>
    <p:extLst>
      <p:ext uri="{BB962C8B-B14F-4D97-AF65-F5344CB8AC3E}">
        <p14:creationId xmlns:p14="http://schemas.microsoft.com/office/powerpoint/2010/main" val="1114912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7200AF-2C9F-4FDC-A840-9E7859F9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Existing repository · bounded coexistence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1E591AA-E4C8-4E5B-A91E-F1218A5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538C0BB-A20E-4FE3-873E-8642418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SQLcl PROJECT init preserved 117 of 118 frozen input files.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It overwrote README.md; Git restored the original bytes.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Generated README was retained separately.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Physical coexistence needs a reviewed adoption procedure.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Existing E.1 migration history is not adopted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516976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799EB8-F45A-4502-B512-7FFDA1B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C · Working Copies feed the same repository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600CE13-504B-4D90-AD0B-AF73BD2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D7D85DE-F79E-412B-829A-B0C5CD0F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Copy page 1 and Main page 2 changed independently.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Selective Refresh then Merge retained both agreed edits.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Main and copy used the same parsing schema.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 team checkpoint is exported from agreed Main.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Two no-edit SQLcl PROJECT captures produced zero source differences.</a:t>
            </a:r>
          </a:p>
        </p:txBody>
      </p:sp>
    </p:spTree>
    <p:extLst>
      <p:ext uri="{BB962C8B-B14F-4D97-AF65-F5344CB8AC3E}">
        <p14:creationId xmlns:p14="http://schemas.microsoft.com/office/powerpoint/2010/main" val="203836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3F5646-66CC-4705-8491-5F091C7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Working Copy checkpoint in Git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135887-0BC0-4A1A-AC7A-59FF6B62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1000"/>
              </a:spcAft>
              <a:buChar char="•"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Integrate selected Working Copy changes into agreed Main.</a:t>
            </a:r>
          </a:p>
          <a:p xmlns:a="http://schemas.openxmlformats.org/drawingml/2006/main">
            <a:pPr marL="228600" indent="-152400">
              <a:spcAft>
                <a:spcPts val="1000"/>
              </a:spcAft>
              <a:buChar char="•"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Capture Main into the same src/database/ application path.</a:t>
            </a:r>
          </a:p>
          <a:p xmlns:a="http://schemas.openxmlformats.org/drawingml/2006/main">
            <a:pPr marL="228600" indent="-152400">
              <a:spcAft>
                <a:spcPts val="1000"/>
              </a:spcAft>
              <a:buChar char="•"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Review page YAML and SQL; stage the native distribution.</a:t>
            </a:r>
          </a:p>
          <a:p xmlns:a="http://schemas.openxmlformats.org/drawingml/2006/main">
            <a:pPr marL="228600" indent="-152400">
              <a:spcAft>
                <a:spcPts val="1000"/>
              </a:spcAft>
              <a:buChar char="•"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Retain the E.1 admission validator and added contract binding.</a:t>
            </a:r>
          </a:p>
          <a:p xmlns:a="http://schemas.openxmlformats.org/drawingml/2006/main">
            <a:pPr marL="228600" indent="-152400">
              <a:spcAft>
                <a:spcPts val="1000"/>
              </a:spcAft>
              <a:buChar char="•"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t>The demonstrated path needs no separate Working Copy source tree.</a:t>
            </a:r>
          </a:p>
        </p:txBody>
      </p:sp>
      <p:sp>
        <p:nvSpPr>
          <p:cNvPr id="3" name="commands">
            <a:extLst xmlns:a="http://schemas.openxmlformats.org/drawingml/2006/main">
              <a:ext uri="{FF2B5EF4-FFF2-40B4-BE49-F238E27FC236}">
                <a16:creationId xmlns:a16="http://schemas.microsoft.com/office/drawing/2014/main" id="{3F06818C-E49B-4F8C-A986-00D1771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875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git diff --stat e2-before-working-copy d5c3334</a:t>
            </a:r>
          </a:p>
          <a:p xmlns:a="http://schemas.openxmlformats.org/drawingml/2006/main">
            <a:pPr>
              <a:defRPr sz="1875" b="0">
                <a:solidFill>
                  <a:srgbClr val="18334A"/>
                </a:solidFill>
                <a:latin typeface="Courier"/>
                <a:ea typeface="Courier"/>
                <a:cs typeface="Courier"/>
              </a:defRPr>
            </a:pPr>
            <a:r>
              <a:rPr sz="1875" b="0">
                <a:solidFill>
                  <a:srgbClr val="18334A"/>
                </a:solidFill>
                <a:latin typeface="Courier"/>
                <a:ea typeface="Courier"/>
                <a:cs typeface="Courier"/>
              </a:rPr>
              <a:t>git show d5c3334:dist/component-contract.json</a:t>
            </a:r>
          </a:p>
        </p:txBody>
      </p:sp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3C2B8EFB-2BF5-441D-AED7-81FA48A0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Live inspection: run inside the retained application repository.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A1F1500-1793-4104-B9C7-9BFC4B7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0013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098B416-7326-4904-B8BE-2583E7B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Selected changes · inspect before confirming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D2BBFC3-DDC6-4B82-84EF-7DDFAA4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400532AF-E743-41DE-8793-B2F9EA0E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Only Home / PAGE:1 is selected; target backup is checked.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Desktop walkthrough repeat — confirmation captured, merge not applied.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E39727F-7327-4348-90A5-C27124863B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47eb37366463a"/>
          <a:srcRect xmlns:a="http://schemas.openxmlformats.org/drawingml/2006/main" l="0" t="-591" r="23000" b="4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5603" y="2181532"/>
            <a:ext cx="8480794" cy="42478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45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A2EDAA5-80ED-482F-AEA4-1D199BAD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Failure · stale page replacement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2F1AB2D-2D04-4145-9A9A-7FD291E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941A57D3-EA43-4F6C-8D3F-6A56887A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Main and Working Copy titles are readable side by side.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Desktop view repeat; the earlier overwrite/recovery remains in the evidence ledger.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7B8343EE-8AFE-45AF-957D-C0B7E0744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9d97ffdfb44db"/>
          <a:stretch xmlns:a="http://schemas.openxmlformats.org/drawingml/2006/main"/>
        </p:blipFill>
        <p:spPr>
          <a:xfrm xmlns:a="http://schemas.openxmlformats.org/drawingml/2006/main">
            <a:off x="2062716" y="2677837"/>
            <a:ext cx="7707679" cy="33904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21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E72B96-042E-4D8E-9AE5-781044A7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Deletion · explicit Main decision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CD7CAFE-1782-4572-9181-59CC148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FBEE45F2-B9E0-4FBD-89F8-A493E05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Missing includes the deleted page and related shared components.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1875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8334A"/>
                </a:solidFill>
                <a:latin typeface="Arial"/>
                <a:ea typeface="Arial"/>
                <a:cs typeface="Arial"/>
              </a:rPr>
              <a:t>Desktop walkthrough repeat in a disposable copy; Main is retained.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FCE315D-66B8-4E21-BE58-985428251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139be719134936"/>
          <a:srcRect xmlns:a="http://schemas.openxmlformats.org/drawingml/2006/main" l="-364" t="33" r="22814" b="29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43469" y="2341600"/>
            <a:ext cx="6707301" cy="422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78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01DBF9-A26B-4CF3-832B-A9F9433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Usability · asynchronous comparison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BD0D349-C599-408A-8CAD-AB9B18CF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22B9BBC-8F95-49AD-90B2-AA36030C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Wait for comparison completion; initial zero counts were transient.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One comparison failed ORA-08177; read-only retry succeeded.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Scheduler limits were raised from 1 to 10 with approval.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Earlier completion preceded the change: no speedup claim.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No multi-user page-lock contention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881472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936FCD-DA35-4C25-BF69-4829EEAC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Reconstruct the combined checkpoint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17DAF96-9C66-4900-8856-2569AB7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7C31803-BCB5-4B89-8729-9AC9CBE1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Both page titles survived native fresh/populated delivery.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The same Main state also reconstructed by split export/import.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Actual LOV values and Hello World passed database checks.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Browser inspection showed the retained populated history row.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The paths retain distinct migration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8778783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3F14DF-4679-4C82-851B-D855A08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Identity gap · changed mapped import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AAC463E-5733-4306-B692-1C752E5C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BD384D4-F0D9-49D1-87CD-2FAE44A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All observed region IDs changed on populated replacement.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Data, LOV values, greeting and document titles survived.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Stable runtime component identity remains unqualified.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No private saved-report loss was measured.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Qualify a supported fixed-offset/native configuration path next.</a:t>
            </a:r>
          </a:p>
        </p:txBody>
      </p:sp>
    </p:spTree>
    <p:extLst>
      <p:ext uri="{BB962C8B-B14F-4D97-AF65-F5344CB8AC3E}">
        <p14:creationId xmlns:p14="http://schemas.microsoft.com/office/powerpoint/2010/main" val="13941229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397A6B-DF5F-405C-9A9A-2BDB1E7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D · Retain requirement-specific admission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310B5B8-81F7-4764-A62B-FE72DD3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88B5322-3183-4F4F-BA05-BF69DA3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Reuse the E.1 validator; native ZIP carries the declaration.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Bind source, declaration, exact bytes and observed target state.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Reject incompatible/missing/unknown declarations, altered bytes and missing receipts before invoking native deployment.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The bridge does not establish full drift/failure fencing.</a:t>
            </a:r>
          </a:p>
        </p:txBody>
      </p:sp>
    </p:spTree>
    <p:extLst>
      <p:ext uri="{BB962C8B-B14F-4D97-AF65-F5344CB8AC3E}">
        <p14:creationId xmlns:p14="http://schemas.microsoft.com/office/powerpoint/2010/main" val="10507591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B2D2C6-5DB8-44B9-93A9-DD9A2F06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Component contracts and validation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9A89135-0CB7-4A14-BBEE-112DF2EF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259CBC2-3915-46D3-87BC-D18A2EB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 subscription is one APEX dependency mechanism.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LOV return codes and behavior belong to the component contract.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Version labels do not infer compatibility. PBI-052 owns the mapping.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Compose utPLSQL, coverage, audits, browser checks and admission around the same candidate identity; each addresses different risks.</a:t>
            </a:r>
          </a:p>
        </p:txBody>
      </p:sp>
    </p:spTree>
    <p:extLst>
      <p:ext uri="{BB962C8B-B14F-4D97-AF65-F5344CB8AC3E}">
        <p14:creationId xmlns:p14="http://schemas.microsoft.com/office/powerpoint/2010/main" val="8554236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1757A0-443B-45D5-B34C-35C7D8AF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Dependency-ordered follow-up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53DD1E-5E7C-495D-B199-1834BCD9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1. Stabilize policies, identity and toolchain: 028/029/037.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2. Capture, migration authority and artifacts: 020/037/038.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3. Coordination and synchronization: 019/039/042.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4. Admission, drift, recovery, provenance: 021–024/031/045; 052.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5. Validation, pipelines and reproduction: 034/040/041/030/043/017/046/047.</a:t>
            </a:r>
          </a:p>
          <a:p xmlns:a="http://schemas.openxmlformats.org/drawingml/2006/main">
            <a:pPr>
              <a:buNone/>
              <a:defRPr sz="2250" b="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34A"/>
                </a:solidFill>
                <a:latin typeface="Arial"/>
                <a:ea typeface="Arial"/>
                <a:cs typeface="Arial"/>
              </a:rPr>
              <a:t>6. Complex Foundation upgrades: 048–050 in E.5.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AB39BD0-D6B2-40F3-9E34-720623A9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24872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D24736-D89A-4895-9900-924BFDA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A"/>
                </a:solidFill>
                <a:latin typeface="Arial"/>
                <a:ea typeface="Arial"/>
                <a:cs typeface="Arial"/>
              </a:rPr>
              <a:t>Review and decide together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384D0E6-BC68-4390-9688-7FC4EAB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7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6E033C5-A17F-40C6-82A4-4A0CBBF1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Inspect sources and receipts; repeat selected exercises.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Assess SQLcl PROJECT as an optional qualified path.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Assess Working Copies with explicit coordination policy.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Keep useful E.1 controls; avoid duplicate source/migration authority.</a:t>
            </a:r>
          </a:p>
          <a:p xmlns:a="http://schemas.openxmlformats.org/drawingml/2006/main">
            <a:pPr marL="228600" indent="-152400">
              <a:spcAft>
                <a:spcPts val="600"/>
              </a:spcAft>
              <a:buChar char="•"/>
              <a:defRPr sz="2250">
                <a:solidFill>
                  <a:srgbClr val="18334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34A"/>
                </a:solidFill>
                <a:latin typeface="Arial"/>
                <a:ea typeface="Arial"/>
                <a:cs typeface="Arial"/>
              </a:rPr>
              <a:t>Record feedback and the Product Owner handover decision.</a:t>
            </a:r>
          </a:p>
        </p:txBody>
      </p:sp>
    </p:spTree>
    <p:extLst>
      <p:ext uri="{BB962C8B-B14F-4D97-AF65-F5344CB8AC3E}">
        <p14:creationId xmlns:p14="http://schemas.microsoft.com/office/powerpoint/2010/main" val="17543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2026-10-19T18:01:52.7940000Z</dcterms:created>
  <dcterms:modified xsi:type="dcterms:W3CDTF">2026-10-19T18:01:52.7940000Z</dcterms:modified>
</coreProperties>
</file>